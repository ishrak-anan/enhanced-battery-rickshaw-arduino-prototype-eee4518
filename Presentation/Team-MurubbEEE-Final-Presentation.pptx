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Arimo" charset="1" panose="020B0604020202020204"/>
      <p:regular r:id="rId29"/>
    </p:embeddedFont>
    <p:embeddedFont>
      <p:font typeface="Cambria Bold" charset="1" panose="02040803050406030204"/>
      <p:regular r:id="rId30"/>
    </p:embeddedFont>
    <p:embeddedFont>
      <p:font typeface="Times New Roman" charset="1" panose="02030502070405020303"/>
      <p:regular r:id="rId31"/>
    </p:embeddedFont>
    <p:embeddedFont>
      <p:font typeface="Arimo Bold" charset="1" panose="020B0704020202020204"/>
      <p:regular r:id="rId32"/>
    </p:embeddedFont>
    <p:embeddedFont>
      <p:font typeface="Canva Sans" charset="1" panose="020B0503030501040103"/>
      <p:regular r:id="rId33"/>
    </p:embeddedFont>
    <p:embeddedFont>
      <p:font typeface="Poppins" charset="1" panose="00000500000000000000"/>
      <p:regular r:id="rId34"/>
    </p:embeddedFont>
    <p:embeddedFont>
      <p:font typeface="Droid Serif Bold" charset="1" panose="02020800060500020200"/>
      <p:regular r:id="rId35"/>
    </p:embeddedFont>
    <p:embeddedFont>
      <p:font typeface="Open Sans Bold" charset="1" panose="020B0806030504020204"/>
      <p:regular r:id="rId36"/>
    </p:embeddedFont>
    <p:embeddedFont>
      <p:font typeface="Agrandir Tight" charset="1" panose="00000508000000000000"/>
      <p:regular r:id="rId37"/>
    </p:embeddedFont>
    <p:embeddedFont>
      <p:font typeface="Inter Bold" charset="1" panose="020B0802030000000004"/>
      <p:regular r:id="rId38"/>
    </p:embeddedFont>
    <p:embeddedFont>
      <p:font typeface="Roboto Bold" charset="1" panose="02000000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 Id="rId7" Target="../media/image6.jpeg" Type="http://schemas.openxmlformats.org/officeDocument/2006/relationships/image"/><Relationship Id="rId8" Target="../media/image7.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8.jpeg" Type="http://schemas.openxmlformats.org/officeDocument/2006/relationships/image"/><Relationship Id="rId4" Target="../media/VAGgyp_tWiQ.mp4" Type="http://schemas.openxmlformats.org/officeDocument/2006/relationships/video"/><Relationship Id="rId5" Target="../media/VAGgyp_tWiQ.mp4" Type="http://schemas.microsoft.com/office/2007/relationships/media"/></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20.jpeg" Type="http://schemas.openxmlformats.org/officeDocument/2006/relationships/image"/><Relationship Id="rId4" Target="../media/image21.jpeg" Type="http://schemas.openxmlformats.org/officeDocument/2006/relationships/image"/><Relationship Id="rId5" Target="../media/image2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https://youtube.com/shorts/Rr9jDDKW8tM?si=Zxs3Y1whMCS7SmcW" TargetMode="External" Type="http://schemas.openxmlformats.org/officeDocument/2006/relationships/hyperlink"/><Relationship Id="rId2" Target="../media/image8.png" Type="http://schemas.openxmlformats.org/officeDocument/2006/relationships/image"/><Relationship Id="rId3" Target="https://drive.google.com/file/d/10qWkcPVF2pdNtCMIhrEbjjUucbQbvRDR/view?usp=sharing" TargetMode="External" Type="http://schemas.openxmlformats.org/officeDocument/2006/relationships/hyperlink"/><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 Id="rId9"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png" Type="http://schemas.openxmlformats.org/officeDocument/2006/relationships/image"/><Relationship Id="rId7" Target="../media/image33.png" Type="http://schemas.openxmlformats.org/officeDocument/2006/relationships/image"/><Relationship Id="rId8" Target="../media/image3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 Id="rId7" Target="../media/image6.jpeg" Type="http://schemas.openxmlformats.org/officeDocument/2006/relationships/image"/><Relationship Id="rId8" Target="../media/image7.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41.png" Type="http://schemas.openxmlformats.org/officeDocument/2006/relationships/image"/><Relationship Id="rId8" Target="../media/image4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0.png" Type="http://schemas.openxmlformats.org/officeDocument/2006/relationships/image"/><Relationship Id="rId11" Target="../media/image51.png" Type="http://schemas.openxmlformats.org/officeDocument/2006/relationships/image"/><Relationship Id="rId2" Target="../media/image8.pn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 Id="rId5" Target="../media/image45.pn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 Id="rId8" Target="../media/image48.png" Type="http://schemas.openxmlformats.org/officeDocument/2006/relationships/image"/><Relationship Id="rId9" Target="../media/image49.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5929035" y="9438501"/>
            <a:ext cx="8234274" cy="553998"/>
            <a:chOff x="0" y="0"/>
            <a:chExt cx="10979032" cy="738664"/>
          </a:xfrm>
        </p:grpSpPr>
        <p:sp>
          <p:nvSpPr>
            <p:cNvPr name="Freeform 4" id="4"/>
            <p:cNvSpPr/>
            <p:nvPr/>
          </p:nvSpPr>
          <p:spPr>
            <a:xfrm flipH="false" flipV="false" rot="0">
              <a:off x="0" y="0"/>
              <a:ext cx="10979032" cy="738664"/>
            </a:xfrm>
            <a:custGeom>
              <a:avLst/>
              <a:gdLst/>
              <a:ahLst/>
              <a:cxnLst/>
              <a:rect r="r" b="b" t="t" l="l"/>
              <a:pathLst>
                <a:path h="738664" w="10979032">
                  <a:moveTo>
                    <a:pt x="0" y="0"/>
                  </a:moveTo>
                  <a:lnTo>
                    <a:pt x="10979032" y="0"/>
                  </a:lnTo>
                  <a:lnTo>
                    <a:pt x="10979032" y="738664"/>
                  </a:lnTo>
                  <a:lnTo>
                    <a:pt x="0" y="738664"/>
                  </a:lnTo>
                  <a:close/>
                </a:path>
              </a:pathLst>
            </a:custGeom>
            <a:solidFill>
              <a:srgbClr val="000000">
                <a:alpha val="0"/>
              </a:srgbClr>
            </a:solidFill>
          </p:spPr>
        </p:sp>
        <p:sp>
          <p:nvSpPr>
            <p:cNvPr name="TextBox 5" id="5"/>
            <p:cNvSpPr txBox="true"/>
            <p:nvPr/>
          </p:nvSpPr>
          <p:spPr>
            <a:xfrm>
              <a:off x="0" y="-19050"/>
              <a:ext cx="10979032" cy="757714"/>
            </a:xfrm>
            <a:prstGeom prst="rect">
              <a:avLst/>
            </a:prstGeom>
          </p:spPr>
          <p:txBody>
            <a:bodyPr anchor="t" rtlCol="false" tIns="0" lIns="0" bIns="0" rIns="0"/>
            <a:lstStyle/>
            <a:p>
              <a:pPr algn="l">
                <a:lnSpc>
                  <a:spcPts val="3240"/>
                </a:lnSpc>
              </a:pPr>
              <a:r>
                <a:rPr lang="en-US" sz="2700">
                  <a:solidFill>
                    <a:srgbClr val="202124"/>
                  </a:solidFill>
                  <a:latin typeface="Arimo"/>
                  <a:ea typeface="Arimo"/>
                  <a:cs typeface="Arimo"/>
                  <a:sym typeface="Arimo"/>
                </a:rPr>
                <a:t>Creating Global Citizens Rooted with Islamic Values</a:t>
              </a:r>
            </a:p>
          </p:txBody>
        </p:sp>
      </p:grpSp>
      <p:sp>
        <p:nvSpPr>
          <p:cNvPr name="TextBox 6" id="6"/>
          <p:cNvSpPr txBox="true"/>
          <p:nvPr/>
        </p:nvSpPr>
        <p:spPr>
          <a:xfrm rot="0">
            <a:off x="-858266" y="371912"/>
            <a:ext cx="13125035" cy="819150"/>
          </a:xfrm>
          <a:prstGeom prst="rect">
            <a:avLst/>
          </a:prstGeom>
        </p:spPr>
        <p:txBody>
          <a:bodyPr anchor="t" rtlCol="false" tIns="0" lIns="0" bIns="0" rIns="0">
            <a:spAutoFit/>
          </a:bodyPr>
          <a:lstStyle/>
          <a:p>
            <a:pPr algn="ctr">
              <a:lnSpc>
                <a:spcPts val="6375"/>
              </a:lnSpc>
              <a:spcBef>
                <a:spcPct val="0"/>
              </a:spcBef>
            </a:pPr>
            <a:r>
              <a:rPr lang="en-US" b="true" sz="5313">
                <a:solidFill>
                  <a:srgbClr val="00327D"/>
                </a:solidFill>
                <a:latin typeface="Cambria Bold"/>
                <a:ea typeface="Cambria Bold"/>
                <a:cs typeface="Cambria Bold"/>
                <a:sym typeface="Cambria Bold"/>
              </a:rPr>
              <a:t>FINAL PROJECT DEMONESTRATION</a:t>
            </a:r>
          </a:p>
        </p:txBody>
      </p:sp>
      <p:sp>
        <p:nvSpPr>
          <p:cNvPr name="TextBox 7" id="7"/>
          <p:cNvSpPr txBox="true"/>
          <p:nvPr/>
        </p:nvSpPr>
        <p:spPr>
          <a:xfrm rot="0">
            <a:off x="291263" y="1721283"/>
            <a:ext cx="11975506" cy="1428750"/>
          </a:xfrm>
          <a:prstGeom prst="rect">
            <a:avLst/>
          </a:prstGeom>
        </p:spPr>
        <p:txBody>
          <a:bodyPr anchor="t" rtlCol="false" tIns="0" lIns="0" bIns="0" rIns="0">
            <a:spAutoFit/>
          </a:bodyPr>
          <a:lstStyle/>
          <a:p>
            <a:pPr algn="l">
              <a:lnSpc>
                <a:spcPts val="5690"/>
              </a:lnSpc>
              <a:spcBef>
                <a:spcPct val="0"/>
              </a:spcBef>
            </a:pPr>
            <a:r>
              <a:rPr lang="en-US" b="true" sz="4742">
                <a:solidFill>
                  <a:srgbClr val="001C68"/>
                </a:solidFill>
                <a:latin typeface="Cambria Bold"/>
                <a:ea typeface="Cambria Bold"/>
                <a:cs typeface="Cambria Bold"/>
                <a:sym typeface="Cambria Bold"/>
              </a:rPr>
              <a:t>PROJECT TITLE: ENHANCEMENT OF BATTERY-POWERED RICKSHAW</a:t>
            </a:r>
          </a:p>
        </p:txBody>
      </p:sp>
      <p:sp>
        <p:nvSpPr>
          <p:cNvPr name="TextBox 8" id="8"/>
          <p:cNvSpPr txBox="true"/>
          <p:nvPr/>
        </p:nvSpPr>
        <p:spPr>
          <a:xfrm rot="0">
            <a:off x="291263" y="1181537"/>
            <a:ext cx="7511978" cy="371475"/>
          </a:xfrm>
          <a:prstGeom prst="rect">
            <a:avLst/>
          </a:prstGeom>
        </p:spPr>
        <p:txBody>
          <a:bodyPr anchor="t" rtlCol="false" tIns="0" lIns="0" bIns="0" rIns="0">
            <a:spAutoFit/>
          </a:bodyPr>
          <a:lstStyle/>
          <a:p>
            <a:pPr algn="ctr">
              <a:lnSpc>
                <a:spcPts val="2879"/>
              </a:lnSpc>
              <a:spcBef>
                <a:spcPct val="0"/>
              </a:spcBef>
            </a:pPr>
            <a:r>
              <a:rPr lang="en-US" b="true" sz="2400">
                <a:solidFill>
                  <a:srgbClr val="001C68"/>
                </a:solidFill>
                <a:latin typeface="Cambria Bold"/>
                <a:ea typeface="Cambria Bold"/>
                <a:cs typeface="Cambria Bold"/>
                <a:sym typeface="Cambria Bold"/>
              </a:rPr>
              <a:t>EEE 4518: ELECTRICAL AND ELECTRONIC WORKSHOP</a:t>
            </a:r>
          </a:p>
        </p:txBody>
      </p:sp>
      <p:grpSp>
        <p:nvGrpSpPr>
          <p:cNvPr name="Group 9" id="9"/>
          <p:cNvGrpSpPr/>
          <p:nvPr/>
        </p:nvGrpSpPr>
        <p:grpSpPr>
          <a:xfrm rot="0">
            <a:off x="1028700" y="3517233"/>
            <a:ext cx="16301645" cy="2074161"/>
            <a:chOff x="0" y="0"/>
            <a:chExt cx="21735527" cy="2765548"/>
          </a:xfrm>
        </p:grpSpPr>
        <p:grpSp>
          <p:nvGrpSpPr>
            <p:cNvPr name="Group 10" id="10"/>
            <p:cNvGrpSpPr/>
            <p:nvPr/>
          </p:nvGrpSpPr>
          <p:grpSpPr>
            <a:xfrm rot="0">
              <a:off x="0" y="0"/>
              <a:ext cx="2681725" cy="2681725"/>
              <a:chOff x="0" y="0"/>
              <a:chExt cx="3282950" cy="3282950"/>
            </a:xfrm>
          </p:grpSpPr>
          <p:sp>
            <p:nvSpPr>
              <p:cNvPr name="Freeform 11" id="11"/>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3"/>
                <a:stretch>
                  <a:fillRect l="-12404" t="-17000" r="-16827" b="-14199"/>
                </a:stretch>
              </a:blipFill>
            </p:spPr>
          </p:sp>
        </p:grpSp>
        <p:grpSp>
          <p:nvGrpSpPr>
            <p:cNvPr name="Group 12" id="12"/>
            <p:cNvGrpSpPr/>
            <p:nvPr/>
          </p:nvGrpSpPr>
          <p:grpSpPr>
            <a:xfrm rot="0">
              <a:off x="3824725" y="66368"/>
              <a:ext cx="2681725" cy="2681725"/>
              <a:chOff x="0" y="0"/>
              <a:chExt cx="3282950" cy="3282950"/>
            </a:xfrm>
          </p:grpSpPr>
          <p:sp>
            <p:nvSpPr>
              <p:cNvPr name="Freeform 13" id="13"/>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4"/>
                <a:stretch>
                  <a:fillRect l="-26875" t="-93151" r="-35902" b="-31369"/>
                </a:stretch>
              </a:blipFill>
            </p:spPr>
          </p:sp>
        </p:grpSp>
        <p:grpSp>
          <p:nvGrpSpPr>
            <p:cNvPr name="Group 14" id="14"/>
            <p:cNvGrpSpPr/>
            <p:nvPr/>
          </p:nvGrpSpPr>
          <p:grpSpPr>
            <a:xfrm rot="0">
              <a:off x="7649450" y="83823"/>
              <a:ext cx="2646814" cy="2646814"/>
              <a:chOff x="0" y="0"/>
              <a:chExt cx="3282950" cy="3282950"/>
            </a:xfrm>
          </p:grpSpPr>
          <p:sp>
            <p:nvSpPr>
              <p:cNvPr name="Freeform 15" id="15"/>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5"/>
                <a:stretch>
                  <a:fillRect l="-40845" t="-52233" r="-51025" b="-103594"/>
                </a:stretch>
              </a:blipFill>
            </p:spPr>
          </p:sp>
        </p:grpSp>
        <p:grpSp>
          <p:nvGrpSpPr>
            <p:cNvPr name="Group 16" id="16"/>
            <p:cNvGrpSpPr/>
            <p:nvPr/>
          </p:nvGrpSpPr>
          <p:grpSpPr>
            <a:xfrm rot="0">
              <a:off x="11439264" y="83823"/>
              <a:ext cx="2681725" cy="2681725"/>
              <a:chOff x="0" y="0"/>
              <a:chExt cx="3282950" cy="3282950"/>
            </a:xfrm>
          </p:grpSpPr>
          <p:sp>
            <p:nvSpPr>
              <p:cNvPr name="Freeform 17" id="17"/>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6"/>
                <a:stretch>
                  <a:fillRect l="-25440" t="-38723" r="-36241" b="-22756"/>
                </a:stretch>
              </a:blipFill>
            </p:spPr>
          </p:sp>
        </p:grpSp>
        <p:grpSp>
          <p:nvGrpSpPr>
            <p:cNvPr name="Group 18" id="18"/>
            <p:cNvGrpSpPr/>
            <p:nvPr/>
          </p:nvGrpSpPr>
          <p:grpSpPr>
            <a:xfrm rot="0">
              <a:off x="15263989" y="0"/>
              <a:ext cx="2681725" cy="2681725"/>
              <a:chOff x="0" y="0"/>
              <a:chExt cx="3282950" cy="3282950"/>
            </a:xfrm>
          </p:grpSpPr>
          <p:sp>
            <p:nvSpPr>
              <p:cNvPr name="Freeform 19" id="19"/>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7"/>
                <a:stretch>
                  <a:fillRect l="-13219" t="-23774" r="-18606" b="-51700"/>
                </a:stretch>
              </a:blipFill>
            </p:spPr>
          </p:sp>
        </p:grpSp>
        <p:grpSp>
          <p:nvGrpSpPr>
            <p:cNvPr name="Group 20" id="20"/>
            <p:cNvGrpSpPr/>
            <p:nvPr/>
          </p:nvGrpSpPr>
          <p:grpSpPr>
            <a:xfrm rot="0">
              <a:off x="19088714" y="101279"/>
              <a:ext cx="2646814" cy="2646814"/>
              <a:chOff x="0" y="0"/>
              <a:chExt cx="3282950" cy="3282950"/>
            </a:xfrm>
          </p:grpSpPr>
          <p:sp>
            <p:nvSpPr>
              <p:cNvPr name="Freeform 21" id="21"/>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8"/>
                <a:stretch>
                  <a:fillRect l="0" t="-6339" r="0" b="-43660"/>
                </a:stretch>
              </a:blipFill>
            </p:spPr>
          </p:sp>
        </p:grpSp>
      </p:grpSp>
      <p:sp>
        <p:nvSpPr>
          <p:cNvPr name="TextBox 22" id="22"/>
          <p:cNvSpPr txBox="true"/>
          <p:nvPr/>
        </p:nvSpPr>
        <p:spPr>
          <a:xfrm rot="0">
            <a:off x="6279015" y="3136233"/>
            <a:ext cx="4770402" cy="371475"/>
          </a:xfrm>
          <a:prstGeom prst="rect">
            <a:avLst/>
          </a:prstGeom>
        </p:spPr>
        <p:txBody>
          <a:bodyPr anchor="t" rtlCol="false" tIns="0" lIns="0" bIns="0" rIns="0">
            <a:spAutoFit/>
          </a:bodyPr>
          <a:lstStyle/>
          <a:p>
            <a:pPr algn="ctr">
              <a:lnSpc>
                <a:spcPts val="2879"/>
              </a:lnSpc>
              <a:spcBef>
                <a:spcPct val="0"/>
              </a:spcBef>
            </a:pPr>
            <a:r>
              <a:rPr lang="en-US" b="true" sz="2400">
                <a:solidFill>
                  <a:srgbClr val="00327D"/>
                </a:solidFill>
                <a:latin typeface="Cambria Bold"/>
                <a:ea typeface="Cambria Bold"/>
                <a:cs typeface="Cambria Bold"/>
                <a:sym typeface="Cambria Bold"/>
              </a:rPr>
              <a:t>Submitted by – Team Murubb_EEE</a:t>
            </a:r>
          </a:p>
        </p:txBody>
      </p:sp>
      <p:sp>
        <p:nvSpPr>
          <p:cNvPr name="TextBox 23" id="23"/>
          <p:cNvSpPr txBox="true"/>
          <p:nvPr/>
        </p:nvSpPr>
        <p:spPr>
          <a:xfrm rot="0">
            <a:off x="918818" y="5581869"/>
            <a:ext cx="2169871" cy="523875"/>
          </a:xfrm>
          <a:prstGeom prst="rect">
            <a:avLst/>
          </a:prstGeom>
        </p:spPr>
        <p:txBody>
          <a:bodyPr anchor="t" rtlCol="false" tIns="0" lIns="0" bIns="0" rIns="0">
            <a:spAutoFit/>
          </a:bodyPr>
          <a:lstStyle/>
          <a:p>
            <a:pPr algn="ctr">
              <a:lnSpc>
                <a:spcPts val="2040"/>
              </a:lnSpc>
            </a:pPr>
            <a:r>
              <a:rPr lang="en-US" b="true" sz="1700">
                <a:solidFill>
                  <a:srgbClr val="00327D"/>
                </a:solidFill>
                <a:latin typeface="Cambria Bold"/>
                <a:ea typeface="Cambria Bold"/>
                <a:cs typeface="Cambria Bold"/>
                <a:sym typeface="Cambria Bold"/>
              </a:rPr>
              <a:t>AR RAFI ISHRAQ</a:t>
            </a:r>
          </a:p>
          <a:p>
            <a:pPr algn="ctr">
              <a:lnSpc>
                <a:spcPts val="2040"/>
              </a:lnSpc>
              <a:spcBef>
                <a:spcPct val="0"/>
              </a:spcBef>
            </a:pPr>
            <a:r>
              <a:rPr lang="en-US" b="true" sz="1700">
                <a:solidFill>
                  <a:srgbClr val="00327D"/>
                </a:solidFill>
                <a:latin typeface="Cambria Bold"/>
                <a:ea typeface="Cambria Bold"/>
                <a:cs typeface="Cambria Bold"/>
                <a:sym typeface="Cambria Bold"/>
              </a:rPr>
              <a:t>210021330</a:t>
            </a:r>
          </a:p>
        </p:txBody>
      </p:sp>
      <p:sp>
        <p:nvSpPr>
          <p:cNvPr name="TextBox 24" id="24"/>
          <p:cNvSpPr txBox="true"/>
          <p:nvPr/>
        </p:nvSpPr>
        <p:spPr>
          <a:xfrm rot="0">
            <a:off x="3759164" y="5591394"/>
            <a:ext cx="2169871" cy="523875"/>
          </a:xfrm>
          <a:prstGeom prst="rect">
            <a:avLst/>
          </a:prstGeom>
        </p:spPr>
        <p:txBody>
          <a:bodyPr anchor="t" rtlCol="false" tIns="0" lIns="0" bIns="0" rIns="0">
            <a:spAutoFit/>
          </a:bodyPr>
          <a:lstStyle/>
          <a:p>
            <a:pPr algn="ctr">
              <a:lnSpc>
                <a:spcPts val="2040"/>
              </a:lnSpc>
            </a:pPr>
            <a:r>
              <a:rPr lang="en-US" b="true" sz="1700">
                <a:solidFill>
                  <a:srgbClr val="00327D"/>
                </a:solidFill>
                <a:latin typeface="Cambria Bold"/>
                <a:ea typeface="Cambria Bold"/>
                <a:cs typeface="Cambria Bold"/>
                <a:sym typeface="Cambria Bold"/>
              </a:rPr>
              <a:t>ISHRAK ANAN</a:t>
            </a:r>
          </a:p>
          <a:p>
            <a:pPr algn="ctr">
              <a:lnSpc>
                <a:spcPts val="2040"/>
              </a:lnSpc>
              <a:spcBef>
                <a:spcPct val="0"/>
              </a:spcBef>
            </a:pPr>
            <a:r>
              <a:rPr lang="en-US" b="true" sz="1700">
                <a:solidFill>
                  <a:srgbClr val="00327D"/>
                </a:solidFill>
                <a:latin typeface="Cambria Bold"/>
                <a:ea typeface="Cambria Bold"/>
                <a:cs typeface="Cambria Bold"/>
                <a:sym typeface="Cambria Bold"/>
              </a:rPr>
              <a:t>210021212</a:t>
            </a:r>
          </a:p>
        </p:txBody>
      </p:sp>
      <p:sp>
        <p:nvSpPr>
          <p:cNvPr name="TextBox 25" id="25"/>
          <p:cNvSpPr txBox="true"/>
          <p:nvPr/>
        </p:nvSpPr>
        <p:spPr>
          <a:xfrm rot="0">
            <a:off x="6437400" y="5591394"/>
            <a:ext cx="2609161" cy="523875"/>
          </a:xfrm>
          <a:prstGeom prst="rect">
            <a:avLst/>
          </a:prstGeom>
        </p:spPr>
        <p:txBody>
          <a:bodyPr anchor="t" rtlCol="false" tIns="0" lIns="0" bIns="0" rIns="0">
            <a:spAutoFit/>
          </a:bodyPr>
          <a:lstStyle/>
          <a:p>
            <a:pPr algn="ctr">
              <a:lnSpc>
                <a:spcPts val="2040"/>
              </a:lnSpc>
            </a:pPr>
            <a:r>
              <a:rPr lang="en-US" b="true" sz="1700">
                <a:solidFill>
                  <a:srgbClr val="00327D"/>
                </a:solidFill>
                <a:latin typeface="Cambria Bold"/>
                <a:ea typeface="Cambria Bold"/>
                <a:cs typeface="Cambria Bold"/>
                <a:sym typeface="Cambria Bold"/>
              </a:rPr>
              <a:t>TAUFEEQ HASSAN OMIO</a:t>
            </a:r>
          </a:p>
          <a:p>
            <a:pPr algn="ctr">
              <a:lnSpc>
                <a:spcPts val="2040"/>
              </a:lnSpc>
              <a:spcBef>
                <a:spcPct val="0"/>
              </a:spcBef>
            </a:pPr>
            <a:r>
              <a:rPr lang="en-US" b="true" sz="1700">
                <a:solidFill>
                  <a:srgbClr val="00327D"/>
                </a:solidFill>
                <a:latin typeface="Cambria Bold"/>
                <a:ea typeface="Cambria Bold"/>
                <a:cs typeface="Cambria Bold"/>
                <a:sym typeface="Cambria Bold"/>
              </a:rPr>
              <a:t>210021214</a:t>
            </a:r>
          </a:p>
        </p:txBody>
      </p:sp>
      <p:sp>
        <p:nvSpPr>
          <p:cNvPr name="TextBox 26" id="26"/>
          <p:cNvSpPr txBox="true"/>
          <p:nvPr/>
        </p:nvSpPr>
        <p:spPr>
          <a:xfrm rot="0">
            <a:off x="9554926" y="5591394"/>
            <a:ext cx="2169871" cy="523875"/>
          </a:xfrm>
          <a:prstGeom prst="rect">
            <a:avLst/>
          </a:prstGeom>
        </p:spPr>
        <p:txBody>
          <a:bodyPr anchor="t" rtlCol="false" tIns="0" lIns="0" bIns="0" rIns="0">
            <a:spAutoFit/>
          </a:bodyPr>
          <a:lstStyle/>
          <a:p>
            <a:pPr algn="ctr">
              <a:lnSpc>
                <a:spcPts val="2040"/>
              </a:lnSpc>
            </a:pPr>
            <a:r>
              <a:rPr lang="en-US" b="true" sz="1700">
                <a:solidFill>
                  <a:srgbClr val="00327D"/>
                </a:solidFill>
                <a:latin typeface="Cambria Bold"/>
                <a:ea typeface="Cambria Bold"/>
                <a:cs typeface="Cambria Bold"/>
                <a:sym typeface="Cambria Bold"/>
              </a:rPr>
              <a:t>ASHFIQ UL RAHMAN</a:t>
            </a:r>
          </a:p>
          <a:p>
            <a:pPr algn="ctr">
              <a:lnSpc>
                <a:spcPts val="2040"/>
              </a:lnSpc>
              <a:spcBef>
                <a:spcPct val="0"/>
              </a:spcBef>
            </a:pPr>
            <a:r>
              <a:rPr lang="en-US" b="true" sz="1700">
                <a:solidFill>
                  <a:srgbClr val="00327D"/>
                </a:solidFill>
                <a:latin typeface="Cambria Bold"/>
                <a:ea typeface="Cambria Bold"/>
                <a:cs typeface="Cambria Bold"/>
                <a:sym typeface="Cambria Bold"/>
              </a:rPr>
              <a:t>210021342</a:t>
            </a:r>
          </a:p>
        </p:txBody>
      </p:sp>
      <p:sp>
        <p:nvSpPr>
          <p:cNvPr name="TextBox 27" id="27"/>
          <p:cNvSpPr txBox="true"/>
          <p:nvPr/>
        </p:nvSpPr>
        <p:spPr>
          <a:xfrm rot="0">
            <a:off x="12229622" y="5591394"/>
            <a:ext cx="2441677" cy="523875"/>
          </a:xfrm>
          <a:prstGeom prst="rect">
            <a:avLst/>
          </a:prstGeom>
        </p:spPr>
        <p:txBody>
          <a:bodyPr anchor="t" rtlCol="false" tIns="0" lIns="0" bIns="0" rIns="0">
            <a:spAutoFit/>
          </a:bodyPr>
          <a:lstStyle/>
          <a:p>
            <a:pPr algn="ctr">
              <a:lnSpc>
                <a:spcPts val="2040"/>
              </a:lnSpc>
            </a:pPr>
            <a:r>
              <a:rPr lang="en-US" b="true" sz="1700">
                <a:solidFill>
                  <a:srgbClr val="00327D"/>
                </a:solidFill>
                <a:latin typeface="Cambria Bold"/>
                <a:ea typeface="Cambria Bold"/>
                <a:cs typeface="Cambria Bold"/>
                <a:sym typeface="Cambria Bold"/>
              </a:rPr>
              <a:t>TAHSIK ISLAM SAMPAD</a:t>
            </a:r>
          </a:p>
          <a:p>
            <a:pPr algn="ctr">
              <a:lnSpc>
                <a:spcPts val="2040"/>
              </a:lnSpc>
              <a:spcBef>
                <a:spcPct val="0"/>
              </a:spcBef>
            </a:pPr>
            <a:r>
              <a:rPr lang="en-US" b="true" sz="1700">
                <a:solidFill>
                  <a:srgbClr val="00327D"/>
                </a:solidFill>
                <a:latin typeface="Cambria Bold"/>
                <a:ea typeface="Cambria Bold"/>
                <a:cs typeface="Cambria Bold"/>
                <a:sym typeface="Cambria Bold"/>
              </a:rPr>
              <a:t>210021318</a:t>
            </a:r>
          </a:p>
        </p:txBody>
      </p:sp>
      <p:sp>
        <p:nvSpPr>
          <p:cNvPr name="TextBox 28" id="28"/>
          <p:cNvSpPr txBox="true"/>
          <p:nvPr/>
        </p:nvSpPr>
        <p:spPr>
          <a:xfrm rot="0">
            <a:off x="14974675" y="5591394"/>
            <a:ext cx="2917831" cy="523875"/>
          </a:xfrm>
          <a:prstGeom prst="rect">
            <a:avLst/>
          </a:prstGeom>
        </p:spPr>
        <p:txBody>
          <a:bodyPr anchor="t" rtlCol="false" tIns="0" lIns="0" bIns="0" rIns="0">
            <a:spAutoFit/>
          </a:bodyPr>
          <a:lstStyle/>
          <a:p>
            <a:pPr algn="ctr">
              <a:lnSpc>
                <a:spcPts val="2040"/>
              </a:lnSpc>
            </a:pPr>
            <a:r>
              <a:rPr lang="en-US" b="true" sz="1700">
                <a:solidFill>
                  <a:srgbClr val="00327D"/>
                </a:solidFill>
                <a:latin typeface="Cambria Bold"/>
                <a:ea typeface="Cambria Bold"/>
                <a:cs typeface="Cambria Bold"/>
                <a:sym typeface="Cambria Bold"/>
              </a:rPr>
              <a:t>BAYZID MOHAMMED SAKIB</a:t>
            </a:r>
          </a:p>
          <a:p>
            <a:pPr algn="ctr">
              <a:lnSpc>
                <a:spcPts val="2040"/>
              </a:lnSpc>
              <a:spcBef>
                <a:spcPct val="0"/>
              </a:spcBef>
            </a:pPr>
            <a:r>
              <a:rPr lang="en-US" b="true" sz="1700">
                <a:solidFill>
                  <a:srgbClr val="00327D"/>
                </a:solidFill>
                <a:latin typeface="Cambria Bold"/>
                <a:ea typeface="Cambria Bold"/>
                <a:cs typeface="Cambria Bold"/>
                <a:sym typeface="Cambria Bold"/>
              </a:rPr>
              <a:t>210021250</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14957" y="3041007"/>
            <a:ext cx="14995901" cy="4799395"/>
            <a:chOff x="0" y="0"/>
            <a:chExt cx="3949538" cy="1264038"/>
          </a:xfrm>
        </p:grpSpPr>
        <p:sp>
          <p:nvSpPr>
            <p:cNvPr name="Freeform 3" id="3"/>
            <p:cNvSpPr/>
            <p:nvPr/>
          </p:nvSpPr>
          <p:spPr>
            <a:xfrm flipH="false" flipV="false" rot="0">
              <a:off x="0" y="0"/>
              <a:ext cx="3949538" cy="1264038"/>
            </a:xfrm>
            <a:custGeom>
              <a:avLst/>
              <a:gdLst/>
              <a:ahLst/>
              <a:cxnLst/>
              <a:rect r="r" b="b" t="t" l="l"/>
              <a:pathLst>
                <a:path h="1264038" w="3949538">
                  <a:moveTo>
                    <a:pt x="0" y="0"/>
                  </a:moveTo>
                  <a:lnTo>
                    <a:pt x="3949538" y="0"/>
                  </a:lnTo>
                  <a:lnTo>
                    <a:pt x="3949538" y="1264038"/>
                  </a:lnTo>
                  <a:lnTo>
                    <a:pt x="0" y="1264038"/>
                  </a:lnTo>
                  <a:close/>
                </a:path>
              </a:pathLst>
            </a:custGeom>
            <a:solidFill>
              <a:srgbClr val="BDCFFD"/>
            </a:solidFill>
          </p:spPr>
        </p:sp>
        <p:sp>
          <p:nvSpPr>
            <p:cNvPr name="TextBox 4" id="4"/>
            <p:cNvSpPr txBox="true"/>
            <p:nvPr/>
          </p:nvSpPr>
          <p:spPr>
            <a:xfrm>
              <a:off x="0" y="-9525"/>
              <a:ext cx="3949538" cy="1273563"/>
            </a:xfrm>
            <a:prstGeom prst="rect">
              <a:avLst/>
            </a:prstGeom>
          </p:spPr>
          <p:txBody>
            <a:bodyPr anchor="ctr" rtlCol="false" tIns="50800" lIns="50800" bIns="50800" rIns="50800"/>
            <a:lstStyle/>
            <a:p>
              <a:pPr algn="ctr">
                <a:lnSpc>
                  <a:spcPts val="2879"/>
                </a:lnSpc>
              </a:pPr>
            </a:p>
          </p:txBody>
        </p:sp>
      </p:grpSp>
      <p:sp>
        <p:nvSpPr>
          <p:cNvPr name="Freeform 5" id="5"/>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6" id="6"/>
          <p:cNvGrpSpPr/>
          <p:nvPr/>
        </p:nvGrpSpPr>
        <p:grpSpPr>
          <a:xfrm rot="0">
            <a:off x="11560970" y="8824912"/>
            <a:ext cx="866775" cy="547688"/>
            <a:chOff x="0" y="0"/>
            <a:chExt cx="1155700" cy="730250"/>
          </a:xfrm>
        </p:grpSpPr>
        <p:sp>
          <p:nvSpPr>
            <p:cNvPr name="Freeform 7" id="7"/>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8" id="8"/>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041E6B"/>
                  </a:solidFill>
                  <a:latin typeface="Times New Roman"/>
                  <a:ea typeface="Times New Roman"/>
                  <a:cs typeface="Times New Roman"/>
                  <a:sym typeface="Times New Roman"/>
                </a:rPr>
                <a:t>3</a:t>
              </a:r>
            </a:p>
          </p:txBody>
        </p:sp>
      </p:grpSp>
      <p:grpSp>
        <p:nvGrpSpPr>
          <p:cNvPr name="Group 9" id="9"/>
          <p:cNvGrpSpPr/>
          <p:nvPr/>
        </p:nvGrpSpPr>
        <p:grpSpPr>
          <a:xfrm rot="0">
            <a:off x="3672944" y="9799068"/>
            <a:ext cx="7344992" cy="507831"/>
            <a:chOff x="0" y="0"/>
            <a:chExt cx="9793322" cy="677108"/>
          </a:xfrm>
        </p:grpSpPr>
        <p:sp>
          <p:nvSpPr>
            <p:cNvPr name="Freeform 10" id="10"/>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11" id="11"/>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041E6B"/>
                  </a:solidFill>
                  <a:latin typeface="Arimo"/>
                  <a:ea typeface="Arimo"/>
                  <a:cs typeface="Arimo"/>
                  <a:sym typeface="Arimo"/>
                </a:rPr>
                <a:t>Creating Global Citizens Rooted with Islamic Values</a:t>
              </a:r>
            </a:p>
          </p:txBody>
        </p:sp>
      </p:grpSp>
      <p:sp>
        <p:nvSpPr>
          <p:cNvPr name="TextBox 12" id="12"/>
          <p:cNvSpPr txBox="true"/>
          <p:nvPr/>
        </p:nvSpPr>
        <p:spPr>
          <a:xfrm rot="0">
            <a:off x="1914957" y="3297106"/>
            <a:ext cx="14458086" cy="4210050"/>
          </a:xfrm>
          <a:prstGeom prst="rect">
            <a:avLst/>
          </a:prstGeom>
        </p:spPr>
        <p:txBody>
          <a:bodyPr anchor="t" rtlCol="false" tIns="0" lIns="0" bIns="0" rIns="0">
            <a:spAutoFit/>
          </a:bodyPr>
          <a:lstStyle/>
          <a:p>
            <a:pPr algn="l" marL="863591" indent="-431796" lvl="1">
              <a:lnSpc>
                <a:spcPts val="4799"/>
              </a:lnSpc>
              <a:buAutoNum type="arabicPeriod" startAt="1"/>
            </a:pPr>
            <a:r>
              <a:rPr lang="en-US" b="true" sz="3999">
                <a:solidFill>
                  <a:srgbClr val="041E6B"/>
                </a:solidFill>
                <a:latin typeface="Arimo Bold"/>
                <a:ea typeface="Arimo Bold"/>
                <a:cs typeface="Arimo Bold"/>
                <a:sym typeface="Arimo Bold"/>
              </a:rPr>
              <a:t>ABSTRACT</a:t>
            </a:r>
          </a:p>
          <a:p>
            <a:pPr algn="l" marL="863591" indent="-431796" lvl="1">
              <a:lnSpc>
                <a:spcPts val="4799"/>
              </a:lnSpc>
              <a:buAutoNum type="arabicPeriod" startAt="1"/>
            </a:pPr>
            <a:r>
              <a:rPr lang="en-US" b="true" sz="3999">
                <a:solidFill>
                  <a:srgbClr val="041E6B"/>
                </a:solidFill>
                <a:latin typeface="Arimo Bold"/>
                <a:ea typeface="Arimo Bold"/>
                <a:cs typeface="Arimo Bold"/>
                <a:sym typeface="Arimo Bold"/>
              </a:rPr>
              <a:t>PROBLEM STATEMENTS AND PROPOSED SOLUTIONS</a:t>
            </a:r>
          </a:p>
          <a:p>
            <a:pPr algn="l" marL="863591" indent="-431796" lvl="1">
              <a:lnSpc>
                <a:spcPts val="4799"/>
              </a:lnSpc>
              <a:buAutoNum type="arabicPeriod" startAt="1"/>
            </a:pPr>
            <a:r>
              <a:rPr lang="en-US" b="true" sz="3999">
                <a:solidFill>
                  <a:srgbClr val="041E6B"/>
                </a:solidFill>
                <a:latin typeface="Arimo Bold"/>
                <a:ea typeface="Arimo Bold"/>
                <a:cs typeface="Arimo Bold"/>
                <a:sym typeface="Arimo Bold"/>
              </a:rPr>
              <a:t>DESIGN </a:t>
            </a:r>
          </a:p>
          <a:p>
            <a:pPr algn="l" marL="863591" indent="-431796" lvl="1">
              <a:lnSpc>
                <a:spcPts val="4799"/>
              </a:lnSpc>
              <a:buAutoNum type="arabicPeriod" startAt="1"/>
            </a:pPr>
            <a:r>
              <a:rPr lang="en-US" b="true" sz="3999">
                <a:solidFill>
                  <a:srgbClr val="041E6B"/>
                </a:solidFill>
                <a:latin typeface="Arimo Bold"/>
                <a:ea typeface="Arimo Bold"/>
                <a:cs typeface="Arimo Bold"/>
                <a:sym typeface="Arimo Bold"/>
              </a:rPr>
              <a:t>IMPLEMENTATION</a:t>
            </a:r>
          </a:p>
          <a:p>
            <a:pPr algn="l" marL="863591" indent="-431796" lvl="1">
              <a:lnSpc>
                <a:spcPts val="4799"/>
              </a:lnSpc>
              <a:buAutoNum type="arabicPeriod" startAt="1"/>
            </a:pPr>
            <a:r>
              <a:rPr lang="en-US" b="true" sz="3999">
                <a:solidFill>
                  <a:srgbClr val="041E6B"/>
                </a:solidFill>
                <a:latin typeface="Arimo Bold"/>
                <a:ea typeface="Arimo Bold"/>
                <a:cs typeface="Arimo Bold"/>
                <a:sym typeface="Arimo Bold"/>
              </a:rPr>
              <a:t>ANALYSIS AND EVOLUTION</a:t>
            </a:r>
          </a:p>
          <a:p>
            <a:pPr algn="l" marL="863591" indent="-431796" lvl="1">
              <a:lnSpc>
                <a:spcPts val="4799"/>
              </a:lnSpc>
              <a:buAutoNum type="arabicPeriod" startAt="1"/>
            </a:pPr>
            <a:r>
              <a:rPr lang="en-US" b="true" sz="3999">
                <a:solidFill>
                  <a:srgbClr val="041E6B"/>
                </a:solidFill>
                <a:latin typeface="Arimo Bold"/>
                <a:ea typeface="Arimo Bold"/>
                <a:cs typeface="Arimo Bold"/>
                <a:sym typeface="Arimo Bold"/>
              </a:rPr>
              <a:t>REFLECTION OF INDIVIDUAL AND TEAMWORK</a:t>
            </a:r>
          </a:p>
          <a:p>
            <a:pPr algn="l" marL="863591" indent="-431796" lvl="1">
              <a:lnSpc>
                <a:spcPts val="4799"/>
              </a:lnSpc>
              <a:buAutoNum type="arabicPeriod" startAt="1"/>
            </a:pPr>
            <a:r>
              <a:rPr lang="en-US" b="true" sz="3999">
                <a:solidFill>
                  <a:srgbClr val="041E6B"/>
                </a:solidFill>
                <a:latin typeface="Arimo Bold"/>
                <a:ea typeface="Arimo Bold"/>
                <a:cs typeface="Arimo Bold"/>
                <a:sym typeface="Arimo Bold"/>
              </a:rPr>
              <a:t>REFERENCES</a:t>
            </a:r>
          </a:p>
        </p:txBody>
      </p:sp>
      <p:sp>
        <p:nvSpPr>
          <p:cNvPr name="TextBox 13" id="13"/>
          <p:cNvSpPr txBox="true"/>
          <p:nvPr/>
        </p:nvSpPr>
        <p:spPr>
          <a:xfrm rot="0">
            <a:off x="4352511" y="1629499"/>
            <a:ext cx="9582978" cy="990600"/>
          </a:xfrm>
          <a:prstGeom prst="rect">
            <a:avLst/>
          </a:prstGeom>
        </p:spPr>
        <p:txBody>
          <a:bodyPr anchor="t" rtlCol="false" tIns="0" lIns="0" bIns="0" rIns="0">
            <a:spAutoFit/>
          </a:bodyPr>
          <a:lstStyle/>
          <a:p>
            <a:pPr algn="ctr">
              <a:lnSpc>
                <a:spcPts val="7603"/>
              </a:lnSpc>
              <a:spcBef>
                <a:spcPct val="0"/>
              </a:spcBef>
            </a:pPr>
            <a:r>
              <a:rPr lang="en-US" b="true" sz="6336">
                <a:solidFill>
                  <a:srgbClr val="041E6B"/>
                </a:solidFill>
                <a:latin typeface="Arimo Bold"/>
                <a:ea typeface="Arimo Bold"/>
                <a:cs typeface="Arimo Bold"/>
                <a:sym typeface="Arimo Bold"/>
              </a:rPr>
              <a:t>OUTLINE</a:t>
            </a: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041E6B"/>
                  </a:solidFill>
                  <a:latin typeface="Times New Roman"/>
                  <a:ea typeface="Times New Roman"/>
                  <a:cs typeface="Times New Roman"/>
                  <a:sym typeface="Times New Roman"/>
                </a:rPr>
                <a:t>3</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041E6B"/>
                  </a:solidFill>
                  <a:latin typeface="Arimo"/>
                  <a:ea typeface="Arimo"/>
                  <a:cs typeface="Arimo"/>
                  <a:sym typeface="Arimo"/>
                </a:rPr>
                <a:t>Creating Global Citizens Rooted with Islamic Values</a:t>
              </a:r>
            </a:p>
          </p:txBody>
        </p:sp>
      </p:grpSp>
      <p:sp>
        <p:nvSpPr>
          <p:cNvPr name="TextBox 9" id="9"/>
          <p:cNvSpPr txBox="true"/>
          <p:nvPr/>
        </p:nvSpPr>
        <p:spPr>
          <a:xfrm rot="0">
            <a:off x="1434957" y="1000125"/>
            <a:ext cx="5046211" cy="990600"/>
          </a:xfrm>
          <a:prstGeom prst="rect">
            <a:avLst/>
          </a:prstGeom>
        </p:spPr>
        <p:txBody>
          <a:bodyPr anchor="t" rtlCol="false" tIns="0" lIns="0" bIns="0" rIns="0">
            <a:spAutoFit/>
          </a:bodyPr>
          <a:lstStyle/>
          <a:p>
            <a:pPr algn="ctr">
              <a:lnSpc>
                <a:spcPts val="7603"/>
              </a:lnSpc>
              <a:spcBef>
                <a:spcPct val="0"/>
              </a:spcBef>
            </a:pPr>
            <a:r>
              <a:rPr lang="en-US" b="true" sz="6336">
                <a:solidFill>
                  <a:srgbClr val="041E6B"/>
                </a:solidFill>
                <a:latin typeface="Arimo Bold"/>
                <a:ea typeface="Arimo Bold"/>
                <a:cs typeface="Arimo Bold"/>
                <a:sym typeface="Arimo Bold"/>
              </a:rPr>
              <a:t>ABSTRACT</a:t>
            </a:r>
          </a:p>
        </p:txBody>
      </p:sp>
      <p:sp>
        <p:nvSpPr>
          <p:cNvPr name="TextBox 10" id="10"/>
          <p:cNvSpPr txBox="true"/>
          <p:nvPr/>
        </p:nvSpPr>
        <p:spPr>
          <a:xfrm rot="0">
            <a:off x="1434957" y="2569439"/>
            <a:ext cx="15418086" cy="5826849"/>
          </a:xfrm>
          <a:prstGeom prst="rect">
            <a:avLst/>
          </a:prstGeom>
        </p:spPr>
        <p:txBody>
          <a:bodyPr anchor="t" rtlCol="false" tIns="0" lIns="0" bIns="0" rIns="0">
            <a:spAutoFit/>
          </a:bodyPr>
          <a:lstStyle/>
          <a:p>
            <a:pPr algn="l">
              <a:lnSpc>
                <a:spcPts val="3891"/>
              </a:lnSpc>
            </a:pPr>
            <a:r>
              <a:rPr lang="en-US" sz="3243" b="true">
                <a:solidFill>
                  <a:srgbClr val="041E6B"/>
                </a:solidFill>
                <a:latin typeface="Arimo Bold"/>
                <a:ea typeface="Arimo Bold"/>
                <a:cs typeface="Arimo Bold"/>
                <a:sym typeface="Arimo Bold"/>
              </a:rPr>
              <a:t>We, team Murubbeee, aim to work on enhancing battery-run rickshaws in Bangladesh. Battery rickshaws have become a common urban transportation in Bangladesh, especially in busy cities like Dhaka, and Chittagong. According to Dhaka Tribune’s report on May 24, 2024, almost 60 lakh battery rickshaws are operating on the streets of Bangladesh. These rickshaws provide us with the benefits of fast transportation as compared to their counterpart, human-powered rickshaws. However, these benefits come with a price. Battery rickshaws are the major reasons for accidents, excessive electricity usage, and traffic-related issues. To address these issues and also upgrade these battery-run rickshaws for more efficient results, we propose our newly modified battery rickshaws.</a:t>
            </a:r>
          </a:p>
          <a:p>
            <a:pPr algn="l">
              <a:lnSpc>
                <a:spcPts val="3891"/>
              </a:lnSpc>
              <a:spcBef>
                <a:spcPct val="0"/>
              </a:spcBef>
            </a:pP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9899"/>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4</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Freeform 9" id="9"/>
          <p:cNvSpPr/>
          <p:nvPr/>
        </p:nvSpPr>
        <p:spPr>
          <a:xfrm flipH="false" flipV="false" rot="0">
            <a:off x="11560970" y="3623651"/>
            <a:ext cx="5264943" cy="5923986"/>
          </a:xfrm>
          <a:custGeom>
            <a:avLst/>
            <a:gdLst/>
            <a:ahLst/>
            <a:cxnLst/>
            <a:rect r="r" b="b" t="t" l="l"/>
            <a:pathLst>
              <a:path h="5923986" w="5264943">
                <a:moveTo>
                  <a:pt x="0" y="0"/>
                </a:moveTo>
                <a:lnTo>
                  <a:pt x="5264942" y="0"/>
                </a:lnTo>
                <a:lnTo>
                  <a:pt x="5264942" y="5923987"/>
                </a:lnTo>
                <a:lnTo>
                  <a:pt x="0" y="5923987"/>
                </a:lnTo>
                <a:lnTo>
                  <a:pt x="0" y="0"/>
                </a:lnTo>
                <a:close/>
              </a:path>
            </a:pathLst>
          </a:custGeom>
          <a:blipFill>
            <a:blip r:embed="rId3"/>
            <a:stretch>
              <a:fillRect l="0" t="0" r="0" b="0"/>
            </a:stretch>
          </a:blipFill>
        </p:spPr>
      </p:sp>
      <p:sp>
        <p:nvSpPr>
          <p:cNvPr name="Freeform 10" id="10"/>
          <p:cNvSpPr/>
          <p:nvPr/>
        </p:nvSpPr>
        <p:spPr>
          <a:xfrm flipH="false" flipV="false" rot="0">
            <a:off x="2071352" y="4781234"/>
            <a:ext cx="7903930" cy="4317522"/>
          </a:xfrm>
          <a:custGeom>
            <a:avLst/>
            <a:gdLst/>
            <a:ahLst/>
            <a:cxnLst/>
            <a:rect r="r" b="b" t="t" l="l"/>
            <a:pathLst>
              <a:path h="4317522" w="7903930">
                <a:moveTo>
                  <a:pt x="0" y="0"/>
                </a:moveTo>
                <a:lnTo>
                  <a:pt x="7903931" y="0"/>
                </a:lnTo>
                <a:lnTo>
                  <a:pt x="7903931" y="4317522"/>
                </a:lnTo>
                <a:lnTo>
                  <a:pt x="0" y="4317522"/>
                </a:lnTo>
                <a:lnTo>
                  <a:pt x="0" y="0"/>
                </a:lnTo>
                <a:close/>
              </a:path>
            </a:pathLst>
          </a:custGeom>
          <a:blipFill>
            <a:blip r:embed="rId4"/>
            <a:stretch>
              <a:fillRect l="0" t="0" r="0" b="0"/>
            </a:stretch>
          </a:blipFill>
        </p:spPr>
      </p:sp>
      <p:sp>
        <p:nvSpPr>
          <p:cNvPr name="TextBox 11" id="11"/>
          <p:cNvSpPr txBox="true"/>
          <p:nvPr/>
        </p:nvSpPr>
        <p:spPr>
          <a:xfrm rot="0">
            <a:off x="1028700" y="1000125"/>
            <a:ext cx="9989235" cy="990600"/>
          </a:xfrm>
          <a:prstGeom prst="rect">
            <a:avLst/>
          </a:prstGeom>
        </p:spPr>
        <p:txBody>
          <a:bodyPr anchor="t" rtlCol="false" tIns="0" lIns="0" bIns="0" rIns="0">
            <a:spAutoFit/>
          </a:bodyPr>
          <a:lstStyle/>
          <a:p>
            <a:pPr algn="ctr">
              <a:lnSpc>
                <a:spcPts val="7603"/>
              </a:lnSpc>
              <a:spcBef>
                <a:spcPct val="0"/>
              </a:spcBef>
            </a:pPr>
            <a:r>
              <a:rPr lang="en-US" b="true" sz="6336">
                <a:solidFill>
                  <a:srgbClr val="041E6B"/>
                </a:solidFill>
                <a:latin typeface="Arimo Bold"/>
                <a:ea typeface="Arimo Bold"/>
                <a:cs typeface="Arimo Bold"/>
                <a:sym typeface="Arimo Bold"/>
              </a:rPr>
              <a:t>PROBLEM STATEMENTS</a:t>
            </a:r>
          </a:p>
        </p:txBody>
      </p:sp>
      <p:sp>
        <p:nvSpPr>
          <p:cNvPr name="TextBox 12" id="12"/>
          <p:cNvSpPr txBox="true"/>
          <p:nvPr/>
        </p:nvSpPr>
        <p:spPr>
          <a:xfrm rot="0">
            <a:off x="727304" y="2062005"/>
            <a:ext cx="12444412" cy="2638425"/>
          </a:xfrm>
          <a:prstGeom prst="rect">
            <a:avLst/>
          </a:prstGeom>
        </p:spPr>
        <p:txBody>
          <a:bodyPr anchor="t" rtlCol="false" tIns="0" lIns="0" bIns="0" rIns="0">
            <a:spAutoFit/>
          </a:bodyPr>
          <a:lstStyle/>
          <a:p>
            <a:pPr algn="l">
              <a:lnSpc>
                <a:spcPts val="3479"/>
              </a:lnSpc>
            </a:pPr>
            <a:r>
              <a:rPr lang="en-US" sz="2899" b="true">
                <a:solidFill>
                  <a:srgbClr val="041E6B"/>
                </a:solidFill>
                <a:latin typeface="Arimo Bold"/>
                <a:ea typeface="Arimo Bold"/>
                <a:cs typeface="Arimo Bold"/>
                <a:sym typeface="Arimo Bold"/>
              </a:rPr>
              <a:t>1.    Unnecessary speeding of battery rickshaws. </a:t>
            </a:r>
          </a:p>
          <a:p>
            <a:pPr algn="l">
              <a:lnSpc>
                <a:spcPts val="3479"/>
              </a:lnSpc>
            </a:pPr>
            <a:r>
              <a:rPr lang="en-US" sz="2899" b="true">
                <a:solidFill>
                  <a:srgbClr val="041E6B"/>
                </a:solidFill>
                <a:latin typeface="Arimo Bold"/>
                <a:ea typeface="Arimo Bold"/>
                <a:cs typeface="Arimo Bold"/>
                <a:sym typeface="Arimo Bold"/>
              </a:rPr>
              <a:t>2.    Collisions that lead to minor or severe injuries and life threats </a:t>
            </a:r>
          </a:p>
          <a:p>
            <a:pPr algn="l">
              <a:lnSpc>
                <a:spcPts val="3479"/>
              </a:lnSpc>
            </a:pPr>
            <a:r>
              <a:rPr lang="en-US" sz="2899" b="true">
                <a:solidFill>
                  <a:srgbClr val="041E6B"/>
                </a:solidFill>
                <a:latin typeface="Arimo Bold"/>
                <a:ea typeface="Arimo Bold"/>
                <a:cs typeface="Arimo Bold"/>
                <a:sym typeface="Arimo Bold"/>
              </a:rPr>
              <a:t>3.    Excessive use of electricity for charging the battery-run rickshaws </a:t>
            </a:r>
          </a:p>
          <a:p>
            <a:pPr algn="l">
              <a:lnSpc>
                <a:spcPts val="3479"/>
              </a:lnSpc>
            </a:pPr>
            <a:r>
              <a:rPr lang="en-US" sz="2899" b="true">
                <a:solidFill>
                  <a:srgbClr val="041E6B"/>
                </a:solidFill>
                <a:latin typeface="Arimo Bold"/>
                <a:ea typeface="Arimo Bold"/>
                <a:cs typeface="Arimo Bold"/>
                <a:sym typeface="Arimo Bold"/>
              </a:rPr>
              <a:t>4.    Lack of safety measurements in the rickshaws </a:t>
            </a:r>
          </a:p>
          <a:p>
            <a:pPr algn="l">
              <a:lnSpc>
                <a:spcPts val="3479"/>
              </a:lnSpc>
            </a:pPr>
            <a:r>
              <a:rPr lang="en-US" sz="2899" b="true">
                <a:solidFill>
                  <a:srgbClr val="041E6B"/>
                </a:solidFill>
                <a:latin typeface="Arimo Bold"/>
                <a:ea typeface="Arimo Bold"/>
                <a:cs typeface="Arimo Bold"/>
                <a:sym typeface="Arimo Bold"/>
              </a:rPr>
              <a:t>5.    Absence of an information system in the rickshaw.</a:t>
            </a:r>
          </a:p>
          <a:p>
            <a:pPr algn="l">
              <a:lnSpc>
                <a:spcPts val="3479"/>
              </a:lnSpc>
            </a:pP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sp>
        <p:nvSpPr>
          <p:cNvPr name="TextBox 3" id="3"/>
          <p:cNvSpPr txBox="true"/>
          <p:nvPr/>
        </p:nvSpPr>
        <p:spPr>
          <a:xfrm rot="0">
            <a:off x="1028700" y="1000125"/>
            <a:ext cx="10148355" cy="990600"/>
          </a:xfrm>
          <a:prstGeom prst="rect">
            <a:avLst/>
          </a:prstGeom>
        </p:spPr>
        <p:txBody>
          <a:bodyPr anchor="t" rtlCol="false" tIns="0" lIns="0" bIns="0" rIns="0">
            <a:spAutoFit/>
          </a:bodyPr>
          <a:lstStyle/>
          <a:p>
            <a:pPr algn="ctr">
              <a:lnSpc>
                <a:spcPts val="7603"/>
              </a:lnSpc>
              <a:spcBef>
                <a:spcPct val="0"/>
              </a:spcBef>
            </a:pPr>
            <a:r>
              <a:rPr lang="en-US" b="true" sz="6336">
                <a:solidFill>
                  <a:srgbClr val="041E6B"/>
                </a:solidFill>
                <a:latin typeface="Arimo Bold"/>
                <a:ea typeface="Arimo Bold"/>
                <a:cs typeface="Arimo Bold"/>
                <a:sym typeface="Arimo Bold"/>
              </a:rPr>
              <a:t>PROPOSED SOLUTIONS</a:t>
            </a:r>
          </a:p>
        </p:txBody>
      </p:sp>
      <p:sp>
        <p:nvSpPr>
          <p:cNvPr name="TextBox 4" id="4"/>
          <p:cNvSpPr txBox="true"/>
          <p:nvPr/>
        </p:nvSpPr>
        <p:spPr>
          <a:xfrm rot="0">
            <a:off x="1028700" y="2929217"/>
            <a:ext cx="14509099" cy="4399991"/>
          </a:xfrm>
          <a:prstGeom prst="rect">
            <a:avLst/>
          </a:prstGeom>
        </p:spPr>
        <p:txBody>
          <a:bodyPr anchor="t" rtlCol="false" tIns="0" lIns="0" bIns="0" rIns="0">
            <a:spAutoFit/>
          </a:bodyPr>
          <a:lstStyle/>
          <a:p>
            <a:pPr algn="just" marL="777136" indent="-388568" lvl="1">
              <a:lnSpc>
                <a:spcPts val="4319"/>
              </a:lnSpc>
              <a:buAutoNum type="arabicPeriod" startAt="1"/>
            </a:pPr>
            <a:r>
              <a:rPr lang="en-US" b="true" sz="3599">
                <a:solidFill>
                  <a:srgbClr val="041E6B"/>
                </a:solidFill>
                <a:latin typeface="Arimo Bold"/>
                <a:ea typeface="Arimo Bold"/>
                <a:cs typeface="Arimo Bold"/>
                <a:sym typeface="Arimo Bold"/>
              </a:rPr>
              <a:t>Solar panel installation on the top of rickshaw hoods </a:t>
            </a:r>
          </a:p>
          <a:p>
            <a:pPr algn="just" marL="777136" indent="-388568" lvl="1">
              <a:lnSpc>
                <a:spcPts val="4319"/>
              </a:lnSpc>
              <a:buAutoNum type="arabicPeriod" startAt="1"/>
            </a:pPr>
            <a:r>
              <a:rPr lang="en-US" b="true" sz="3599">
                <a:solidFill>
                  <a:srgbClr val="041E6B"/>
                </a:solidFill>
                <a:latin typeface="Arimo Bold"/>
                <a:ea typeface="Arimo Bold"/>
                <a:cs typeface="Arimo Bold"/>
                <a:sym typeface="Arimo Bold"/>
              </a:rPr>
              <a:t>Speed sensors to detect the speed of the rickshaw</a:t>
            </a:r>
          </a:p>
          <a:p>
            <a:pPr algn="just" marL="777136" indent="-388568" lvl="1">
              <a:lnSpc>
                <a:spcPts val="4319"/>
              </a:lnSpc>
              <a:buAutoNum type="arabicPeriod" startAt="1"/>
            </a:pPr>
            <a:r>
              <a:rPr lang="en-US" b="true" sz="3599">
                <a:solidFill>
                  <a:srgbClr val="041E6B"/>
                </a:solidFill>
                <a:latin typeface="Arimo Bold"/>
                <a:ea typeface="Arimo Bold"/>
                <a:cs typeface="Arimo Bold"/>
                <a:sym typeface="Arimo Bold"/>
              </a:rPr>
              <a:t>Obstacle detector to be installed at the front portion </a:t>
            </a:r>
          </a:p>
          <a:p>
            <a:pPr algn="just" marL="777136" indent="-388568" lvl="1">
              <a:lnSpc>
                <a:spcPts val="4319"/>
              </a:lnSpc>
              <a:buAutoNum type="arabicPeriod" startAt="1"/>
            </a:pPr>
            <a:r>
              <a:rPr lang="en-US" b="true" sz="3599">
                <a:solidFill>
                  <a:srgbClr val="041E6B"/>
                </a:solidFill>
                <a:latin typeface="Arimo Bold"/>
                <a:ea typeface="Arimo Bold"/>
                <a:cs typeface="Arimo Bold"/>
                <a:sym typeface="Arimo Bold"/>
              </a:rPr>
              <a:t>A system that can respond to overspeed and reduce chances of collisions by controlling the power supply to motor.</a:t>
            </a:r>
          </a:p>
          <a:p>
            <a:pPr algn="just" marL="777136" indent="-388568" lvl="1">
              <a:lnSpc>
                <a:spcPts val="4319"/>
              </a:lnSpc>
              <a:buAutoNum type="arabicPeriod" startAt="1"/>
            </a:pPr>
            <a:r>
              <a:rPr lang="en-US" b="true" sz="3599">
                <a:solidFill>
                  <a:srgbClr val="041E6B"/>
                </a:solidFill>
                <a:latin typeface="Arimo Bold"/>
                <a:ea typeface="Arimo Bold"/>
                <a:cs typeface="Arimo Bold"/>
                <a:sym typeface="Arimo Bold"/>
              </a:rPr>
              <a:t>Addition of indicator lamps and headlamps </a:t>
            </a:r>
          </a:p>
          <a:p>
            <a:pPr algn="just" marL="777136" indent="-388568" lvl="1">
              <a:lnSpc>
                <a:spcPts val="4319"/>
              </a:lnSpc>
              <a:buAutoNum type="arabicPeriod" startAt="1"/>
            </a:pPr>
            <a:r>
              <a:rPr lang="en-US" b="true" sz="3599">
                <a:solidFill>
                  <a:srgbClr val="041E6B"/>
                </a:solidFill>
                <a:latin typeface="Arimo Bold"/>
                <a:ea typeface="Arimo Bold"/>
                <a:cs typeface="Arimo Bold"/>
                <a:sym typeface="Arimo Bold"/>
              </a:rPr>
              <a:t>Information system (LED display) to show necessary data (speed, charge, etc.) </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TextBox 9" id="9"/>
          <p:cNvSpPr txBox="true"/>
          <p:nvPr/>
        </p:nvSpPr>
        <p:spPr>
          <a:xfrm rot="0">
            <a:off x="448911" y="1000125"/>
            <a:ext cx="10148355" cy="990600"/>
          </a:xfrm>
          <a:prstGeom prst="rect">
            <a:avLst/>
          </a:prstGeom>
        </p:spPr>
        <p:txBody>
          <a:bodyPr anchor="t" rtlCol="false" tIns="0" lIns="0" bIns="0" rIns="0">
            <a:spAutoFit/>
          </a:bodyPr>
          <a:lstStyle/>
          <a:p>
            <a:pPr algn="ctr">
              <a:lnSpc>
                <a:spcPts val="7603"/>
              </a:lnSpc>
              <a:spcBef>
                <a:spcPct val="0"/>
              </a:spcBef>
            </a:pPr>
            <a:r>
              <a:rPr lang="en-US" b="true" sz="6336">
                <a:solidFill>
                  <a:srgbClr val="041E6B"/>
                </a:solidFill>
                <a:latin typeface="Arimo Bold"/>
                <a:ea typeface="Arimo Bold"/>
                <a:cs typeface="Arimo Bold"/>
                <a:sym typeface="Arimo Bold"/>
              </a:rPr>
              <a:t>3.1 DESIGN: METHODS</a:t>
            </a:r>
          </a:p>
        </p:txBody>
      </p:sp>
      <p:grpSp>
        <p:nvGrpSpPr>
          <p:cNvPr name="Group 10" id="10"/>
          <p:cNvGrpSpPr/>
          <p:nvPr/>
        </p:nvGrpSpPr>
        <p:grpSpPr>
          <a:xfrm rot="0">
            <a:off x="8567664" y="1990725"/>
            <a:ext cx="10069813" cy="8008116"/>
            <a:chOff x="0" y="0"/>
            <a:chExt cx="13426418" cy="10677489"/>
          </a:xfrm>
        </p:grpSpPr>
        <p:sp>
          <p:nvSpPr>
            <p:cNvPr name="Freeform 11" id="11"/>
            <p:cNvSpPr/>
            <p:nvPr/>
          </p:nvSpPr>
          <p:spPr>
            <a:xfrm flipH="false" flipV="false" rot="0">
              <a:off x="0" y="718653"/>
              <a:ext cx="3991074" cy="4671371"/>
            </a:xfrm>
            <a:custGeom>
              <a:avLst/>
              <a:gdLst/>
              <a:ahLst/>
              <a:cxnLst/>
              <a:rect r="r" b="b" t="t" l="l"/>
              <a:pathLst>
                <a:path h="4671371" w="3991074">
                  <a:moveTo>
                    <a:pt x="0" y="0"/>
                  </a:moveTo>
                  <a:lnTo>
                    <a:pt x="3991074" y="0"/>
                  </a:lnTo>
                  <a:lnTo>
                    <a:pt x="3991074" y="4671372"/>
                  </a:lnTo>
                  <a:lnTo>
                    <a:pt x="0" y="4671372"/>
                  </a:lnTo>
                  <a:lnTo>
                    <a:pt x="0" y="0"/>
                  </a:lnTo>
                  <a:close/>
                </a:path>
              </a:pathLst>
            </a:custGeom>
            <a:blipFill>
              <a:blip r:embed="rId3"/>
              <a:stretch>
                <a:fillRect l="0" t="0" r="0" b="0"/>
              </a:stretch>
            </a:blipFill>
          </p:spPr>
        </p:sp>
        <p:sp>
          <p:nvSpPr>
            <p:cNvPr name="Freeform 12" id="12"/>
            <p:cNvSpPr/>
            <p:nvPr/>
          </p:nvSpPr>
          <p:spPr>
            <a:xfrm flipH="false" flipV="false" rot="0">
              <a:off x="4270474" y="0"/>
              <a:ext cx="5328963" cy="3622131"/>
            </a:xfrm>
            <a:custGeom>
              <a:avLst/>
              <a:gdLst/>
              <a:ahLst/>
              <a:cxnLst/>
              <a:rect r="r" b="b" t="t" l="l"/>
              <a:pathLst>
                <a:path h="3622131" w="5328963">
                  <a:moveTo>
                    <a:pt x="0" y="0"/>
                  </a:moveTo>
                  <a:lnTo>
                    <a:pt x="5328963" y="0"/>
                  </a:lnTo>
                  <a:lnTo>
                    <a:pt x="5328963" y="3622131"/>
                  </a:lnTo>
                  <a:lnTo>
                    <a:pt x="0" y="3622131"/>
                  </a:lnTo>
                  <a:lnTo>
                    <a:pt x="0" y="0"/>
                  </a:lnTo>
                  <a:close/>
                </a:path>
              </a:pathLst>
            </a:custGeom>
            <a:blipFill>
              <a:blip r:embed="rId4"/>
              <a:stretch>
                <a:fillRect l="0" t="0" r="0" b="0"/>
              </a:stretch>
            </a:blipFill>
          </p:spPr>
        </p:sp>
        <p:sp>
          <p:nvSpPr>
            <p:cNvPr name="Freeform 13" id="13"/>
            <p:cNvSpPr/>
            <p:nvPr/>
          </p:nvSpPr>
          <p:spPr>
            <a:xfrm flipH="false" flipV="false" rot="1850609">
              <a:off x="7710091" y="2372822"/>
              <a:ext cx="4811351" cy="4857503"/>
            </a:xfrm>
            <a:custGeom>
              <a:avLst/>
              <a:gdLst/>
              <a:ahLst/>
              <a:cxnLst/>
              <a:rect r="r" b="b" t="t" l="l"/>
              <a:pathLst>
                <a:path h="4857503" w="4811351">
                  <a:moveTo>
                    <a:pt x="0" y="0"/>
                  </a:moveTo>
                  <a:lnTo>
                    <a:pt x="4811351" y="0"/>
                  </a:lnTo>
                  <a:lnTo>
                    <a:pt x="4811351" y="4857504"/>
                  </a:lnTo>
                  <a:lnTo>
                    <a:pt x="0" y="4857504"/>
                  </a:lnTo>
                  <a:lnTo>
                    <a:pt x="0" y="0"/>
                  </a:lnTo>
                  <a:close/>
                </a:path>
              </a:pathLst>
            </a:custGeom>
            <a:blipFill>
              <a:blip r:embed="rId5"/>
              <a:stretch>
                <a:fillRect l="0" t="0" r="0" b="0"/>
              </a:stretch>
            </a:blipFill>
          </p:spPr>
        </p:sp>
        <p:sp>
          <p:nvSpPr>
            <p:cNvPr name="Freeform 14" id="14"/>
            <p:cNvSpPr/>
            <p:nvPr/>
          </p:nvSpPr>
          <p:spPr>
            <a:xfrm flipH="false" flipV="false" rot="0">
              <a:off x="1995537" y="3622131"/>
              <a:ext cx="6071936" cy="4430107"/>
            </a:xfrm>
            <a:custGeom>
              <a:avLst/>
              <a:gdLst/>
              <a:ahLst/>
              <a:cxnLst/>
              <a:rect r="r" b="b" t="t" l="l"/>
              <a:pathLst>
                <a:path h="4430107" w="6071936">
                  <a:moveTo>
                    <a:pt x="0" y="0"/>
                  </a:moveTo>
                  <a:lnTo>
                    <a:pt x="6071936" y="0"/>
                  </a:lnTo>
                  <a:lnTo>
                    <a:pt x="6071936" y="4430107"/>
                  </a:lnTo>
                  <a:lnTo>
                    <a:pt x="0" y="4430107"/>
                  </a:lnTo>
                  <a:lnTo>
                    <a:pt x="0" y="0"/>
                  </a:lnTo>
                  <a:close/>
                </a:path>
              </a:pathLst>
            </a:custGeom>
            <a:blipFill>
              <a:blip r:embed="rId6"/>
              <a:stretch>
                <a:fillRect l="0" t="0" r="0" b="0"/>
              </a:stretch>
            </a:blipFill>
          </p:spPr>
        </p:sp>
        <p:sp>
          <p:nvSpPr>
            <p:cNvPr name="Freeform 15" id="15"/>
            <p:cNvSpPr/>
            <p:nvPr/>
          </p:nvSpPr>
          <p:spPr>
            <a:xfrm flipH="false" flipV="false" rot="0">
              <a:off x="5870674" y="6718178"/>
              <a:ext cx="5845292" cy="3959311"/>
            </a:xfrm>
            <a:custGeom>
              <a:avLst/>
              <a:gdLst/>
              <a:ahLst/>
              <a:cxnLst/>
              <a:rect r="r" b="b" t="t" l="l"/>
              <a:pathLst>
                <a:path h="3959311" w="5845292">
                  <a:moveTo>
                    <a:pt x="0" y="0"/>
                  </a:moveTo>
                  <a:lnTo>
                    <a:pt x="5845292" y="0"/>
                  </a:lnTo>
                  <a:lnTo>
                    <a:pt x="5845292" y="3959311"/>
                  </a:lnTo>
                  <a:lnTo>
                    <a:pt x="0" y="3959311"/>
                  </a:lnTo>
                  <a:lnTo>
                    <a:pt x="0" y="0"/>
                  </a:lnTo>
                  <a:close/>
                </a:path>
              </a:pathLst>
            </a:custGeom>
            <a:blipFill>
              <a:blip r:embed="rId7"/>
              <a:stretch>
                <a:fillRect l="0" t="0" r="0" b="0"/>
              </a:stretch>
            </a:blipFill>
          </p:spPr>
        </p:sp>
        <p:sp>
          <p:nvSpPr>
            <p:cNvPr name="Freeform 16" id="16"/>
            <p:cNvSpPr/>
            <p:nvPr/>
          </p:nvSpPr>
          <p:spPr>
            <a:xfrm flipH="false" flipV="false" rot="0">
              <a:off x="600320" y="7034387"/>
              <a:ext cx="2105817" cy="2077863"/>
            </a:xfrm>
            <a:custGeom>
              <a:avLst/>
              <a:gdLst/>
              <a:ahLst/>
              <a:cxnLst/>
              <a:rect r="r" b="b" t="t" l="l"/>
              <a:pathLst>
                <a:path h="2077863" w="2105817">
                  <a:moveTo>
                    <a:pt x="0" y="0"/>
                  </a:moveTo>
                  <a:lnTo>
                    <a:pt x="2105816" y="0"/>
                  </a:lnTo>
                  <a:lnTo>
                    <a:pt x="2105816" y="2077863"/>
                  </a:lnTo>
                  <a:lnTo>
                    <a:pt x="0" y="2077863"/>
                  </a:lnTo>
                  <a:lnTo>
                    <a:pt x="0" y="0"/>
                  </a:lnTo>
                  <a:close/>
                </a:path>
              </a:pathLst>
            </a:custGeom>
            <a:blipFill>
              <a:blip r:embed="rId8"/>
              <a:stretch>
                <a:fillRect l="0" t="0" r="0" b="0"/>
              </a:stretch>
            </a:blipFill>
          </p:spPr>
        </p:sp>
      </p:grpSp>
      <p:sp>
        <p:nvSpPr>
          <p:cNvPr name="TextBox 17" id="17"/>
          <p:cNvSpPr txBox="true"/>
          <p:nvPr/>
        </p:nvSpPr>
        <p:spPr>
          <a:xfrm rot="0">
            <a:off x="731481" y="2319246"/>
            <a:ext cx="7626633" cy="4933950"/>
          </a:xfrm>
          <a:prstGeom prst="rect">
            <a:avLst/>
          </a:prstGeom>
        </p:spPr>
        <p:txBody>
          <a:bodyPr anchor="t" rtlCol="false" tIns="0" lIns="0" bIns="0" rIns="0">
            <a:spAutoFit/>
          </a:bodyPr>
          <a:lstStyle/>
          <a:p>
            <a:pPr algn="l">
              <a:lnSpc>
                <a:spcPts val="3599"/>
              </a:lnSpc>
            </a:pPr>
            <a:r>
              <a:rPr lang="en-US" sz="2999" b="true">
                <a:solidFill>
                  <a:srgbClr val="041E6B"/>
                </a:solidFill>
                <a:latin typeface="Arimo Bold"/>
                <a:ea typeface="Arimo Bold"/>
                <a:cs typeface="Arimo Bold"/>
                <a:sym typeface="Arimo Bold"/>
              </a:rPr>
              <a:t>Components Used in the prototype:</a:t>
            </a:r>
          </a:p>
          <a:p>
            <a:pPr algn="l" marL="647697" indent="-323848" lvl="1">
              <a:lnSpc>
                <a:spcPts val="3599"/>
              </a:lnSpc>
              <a:buFont typeface="Arial"/>
              <a:buChar char="•"/>
            </a:pPr>
            <a:r>
              <a:rPr lang="en-US" b="true" sz="2999">
                <a:solidFill>
                  <a:srgbClr val="041E6B"/>
                </a:solidFill>
                <a:latin typeface="Arimo Bold"/>
                <a:ea typeface="Arimo Bold"/>
                <a:cs typeface="Arimo Bold"/>
                <a:sym typeface="Arimo Bold"/>
              </a:rPr>
              <a:t>ARDUINO </a:t>
            </a:r>
          </a:p>
          <a:p>
            <a:pPr algn="l" marL="647697" indent="-323848" lvl="1">
              <a:lnSpc>
                <a:spcPts val="3599"/>
              </a:lnSpc>
              <a:buFont typeface="Arial"/>
              <a:buChar char="•"/>
            </a:pPr>
            <a:r>
              <a:rPr lang="en-US" b="true" sz="2999">
                <a:solidFill>
                  <a:srgbClr val="041E6B"/>
                </a:solidFill>
                <a:latin typeface="Arimo Bold"/>
                <a:ea typeface="Arimo Bold"/>
                <a:cs typeface="Arimo Bold"/>
                <a:sym typeface="Arimo Bold"/>
              </a:rPr>
              <a:t>400 RPM motors </a:t>
            </a:r>
          </a:p>
          <a:p>
            <a:pPr algn="l" marL="647697" indent="-323848" lvl="1">
              <a:lnSpc>
                <a:spcPts val="3599"/>
              </a:lnSpc>
              <a:buFont typeface="Arial"/>
              <a:buChar char="•"/>
            </a:pPr>
            <a:r>
              <a:rPr lang="en-US" b="true" sz="2999">
                <a:solidFill>
                  <a:srgbClr val="041E6B"/>
                </a:solidFill>
                <a:latin typeface="Arimo Bold"/>
                <a:ea typeface="Arimo Bold"/>
                <a:cs typeface="Arimo Bold"/>
                <a:sym typeface="Arimo Bold"/>
              </a:rPr>
              <a:t>Dual Motor Drivers </a:t>
            </a:r>
          </a:p>
          <a:p>
            <a:pPr algn="l" marL="647697" indent="-323848" lvl="1">
              <a:lnSpc>
                <a:spcPts val="3599"/>
              </a:lnSpc>
              <a:buFont typeface="Arial"/>
              <a:buChar char="•"/>
            </a:pPr>
            <a:r>
              <a:rPr lang="en-US" b="true" sz="2999">
                <a:solidFill>
                  <a:srgbClr val="041E6B"/>
                </a:solidFill>
                <a:latin typeface="Arimo Bold"/>
                <a:ea typeface="Arimo Bold"/>
                <a:cs typeface="Arimo Bold"/>
                <a:sym typeface="Arimo Bold"/>
              </a:rPr>
              <a:t>Solar Panel </a:t>
            </a:r>
          </a:p>
          <a:p>
            <a:pPr algn="l" marL="647697" indent="-323848" lvl="1">
              <a:lnSpc>
                <a:spcPts val="3599"/>
              </a:lnSpc>
              <a:buFont typeface="Arial"/>
              <a:buChar char="•"/>
            </a:pPr>
            <a:r>
              <a:rPr lang="en-US" b="true" sz="2999">
                <a:solidFill>
                  <a:srgbClr val="041E6B"/>
                </a:solidFill>
                <a:latin typeface="Arimo Bold"/>
                <a:ea typeface="Arimo Bold"/>
                <a:cs typeface="Arimo Bold"/>
                <a:sym typeface="Arimo Bold"/>
              </a:rPr>
              <a:t>Speed Measuring Module </a:t>
            </a:r>
          </a:p>
          <a:p>
            <a:pPr algn="l" marL="647697" indent="-323848" lvl="1">
              <a:lnSpc>
                <a:spcPts val="3599"/>
              </a:lnSpc>
              <a:buFont typeface="Arial"/>
              <a:buChar char="•"/>
            </a:pPr>
            <a:r>
              <a:rPr lang="en-US" b="true" sz="2999">
                <a:solidFill>
                  <a:srgbClr val="041E6B"/>
                </a:solidFill>
                <a:latin typeface="Arimo Bold"/>
                <a:ea typeface="Arimo Bold"/>
                <a:cs typeface="Arimo Bold"/>
                <a:sym typeface="Arimo Bold"/>
              </a:rPr>
              <a:t>LCD Panels</a:t>
            </a:r>
          </a:p>
          <a:p>
            <a:pPr algn="l" marL="647697" indent="-323848" lvl="1">
              <a:lnSpc>
                <a:spcPts val="3599"/>
              </a:lnSpc>
              <a:buFont typeface="Arial"/>
              <a:buChar char="•"/>
            </a:pPr>
            <a:r>
              <a:rPr lang="en-US" b="true" sz="2999">
                <a:solidFill>
                  <a:srgbClr val="041E6B"/>
                </a:solidFill>
                <a:latin typeface="Arimo Bold"/>
                <a:ea typeface="Arimo Bold"/>
                <a:cs typeface="Arimo Bold"/>
                <a:sym typeface="Arimo Bold"/>
              </a:rPr>
              <a:t>SONAR sensor </a:t>
            </a:r>
          </a:p>
          <a:p>
            <a:pPr algn="l" marL="647697" indent="-323848" lvl="1">
              <a:lnSpc>
                <a:spcPts val="3599"/>
              </a:lnSpc>
              <a:buFont typeface="Arial"/>
              <a:buChar char="•"/>
            </a:pPr>
            <a:r>
              <a:rPr lang="en-US" b="true" sz="2999">
                <a:solidFill>
                  <a:srgbClr val="041E6B"/>
                </a:solidFill>
                <a:latin typeface="Arimo Bold"/>
                <a:ea typeface="Arimo Bold"/>
                <a:cs typeface="Arimo Bold"/>
                <a:sym typeface="Arimo Bold"/>
              </a:rPr>
              <a:t>LED indicators </a:t>
            </a:r>
          </a:p>
          <a:p>
            <a:pPr algn="l">
              <a:lnSpc>
                <a:spcPts val="3599"/>
              </a:lnSpc>
            </a:pPr>
          </a:p>
          <a:p>
            <a:pPr algn="l">
              <a:lnSpc>
                <a:spcPts val="3599"/>
              </a:lnSpc>
              <a:spcBef>
                <a:spcPct val="0"/>
              </a:spcBef>
            </a:pPr>
          </a:p>
        </p:txBody>
      </p:sp>
      <p:sp>
        <p:nvSpPr>
          <p:cNvPr name="TextBox 18" id="18"/>
          <p:cNvSpPr txBox="true"/>
          <p:nvPr/>
        </p:nvSpPr>
        <p:spPr>
          <a:xfrm rot="0">
            <a:off x="761901" y="6795996"/>
            <a:ext cx="7626633" cy="457200"/>
          </a:xfrm>
          <a:prstGeom prst="rect">
            <a:avLst/>
          </a:prstGeom>
        </p:spPr>
        <p:txBody>
          <a:bodyPr anchor="t" rtlCol="false" tIns="0" lIns="0" bIns="0" rIns="0">
            <a:spAutoFit/>
          </a:bodyPr>
          <a:lstStyle/>
          <a:p>
            <a:pPr algn="l">
              <a:lnSpc>
                <a:spcPts val="3599"/>
              </a:lnSpc>
              <a:spcBef>
                <a:spcPct val="0"/>
              </a:spcBef>
            </a:pPr>
            <a:r>
              <a:rPr lang="en-US" b="true" sz="2999">
                <a:solidFill>
                  <a:srgbClr val="041E6B"/>
                </a:solidFill>
                <a:latin typeface="Arimo Bold"/>
                <a:ea typeface="Arimo Bold"/>
                <a:cs typeface="Arimo Bold"/>
                <a:sym typeface="Arimo Bold"/>
              </a:rPr>
              <a:t>Microcontroller Used: ATmega328</a:t>
            </a:r>
          </a:p>
        </p:txBody>
      </p:sp>
      <p:sp>
        <p:nvSpPr>
          <p:cNvPr name="TextBox 19" id="19"/>
          <p:cNvSpPr txBox="true"/>
          <p:nvPr/>
        </p:nvSpPr>
        <p:spPr>
          <a:xfrm rot="0">
            <a:off x="731481" y="7613367"/>
            <a:ext cx="7626633" cy="457200"/>
          </a:xfrm>
          <a:prstGeom prst="rect">
            <a:avLst/>
          </a:prstGeom>
        </p:spPr>
        <p:txBody>
          <a:bodyPr anchor="t" rtlCol="false" tIns="0" lIns="0" bIns="0" rIns="0">
            <a:spAutoFit/>
          </a:bodyPr>
          <a:lstStyle/>
          <a:p>
            <a:pPr algn="l">
              <a:lnSpc>
                <a:spcPts val="3599"/>
              </a:lnSpc>
              <a:spcBef>
                <a:spcPct val="0"/>
              </a:spcBef>
            </a:pPr>
            <a:r>
              <a:rPr lang="en-US" b="true" sz="2999">
                <a:solidFill>
                  <a:srgbClr val="041E6B"/>
                </a:solidFill>
                <a:latin typeface="Arimo Bold"/>
                <a:ea typeface="Arimo Bold"/>
                <a:cs typeface="Arimo Bold"/>
                <a:sym typeface="Arimo Bold"/>
              </a:rPr>
              <a:t>Code implemented by: Arduino IDE</a:t>
            </a:r>
          </a:p>
        </p:txBody>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Freeform 9" id="9"/>
          <p:cNvSpPr/>
          <p:nvPr/>
        </p:nvSpPr>
        <p:spPr>
          <a:xfrm flipH="false" flipV="false" rot="0">
            <a:off x="1924815" y="2424135"/>
            <a:ext cx="14438370" cy="6948465"/>
          </a:xfrm>
          <a:custGeom>
            <a:avLst/>
            <a:gdLst/>
            <a:ahLst/>
            <a:cxnLst/>
            <a:rect r="r" b="b" t="t" l="l"/>
            <a:pathLst>
              <a:path h="6948465" w="14438370">
                <a:moveTo>
                  <a:pt x="0" y="0"/>
                </a:moveTo>
                <a:lnTo>
                  <a:pt x="14438370" y="0"/>
                </a:lnTo>
                <a:lnTo>
                  <a:pt x="14438370" y="6948465"/>
                </a:lnTo>
                <a:lnTo>
                  <a:pt x="0" y="6948465"/>
                </a:lnTo>
                <a:lnTo>
                  <a:pt x="0" y="0"/>
                </a:lnTo>
                <a:close/>
              </a:path>
            </a:pathLst>
          </a:custGeom>
          <a:blipFill>
            <a:blip r:embed="rId3"/>
            <a:stretch>
              <a:fillRect l="0" t="0" r="0" b="0"/>
            </a:stretch>
          </a:blipFill>
        </p:spPr>
      </p:sp>
      <p:sp>
        <p:nvSpPr>
          <p:cNvPr name="TextBox 10" id="10"/>
          <p:cNvSpPr txBox="true"/>
          <p:nvPr/>
        </p:nvSpPr>
        <p:spPr>
          <a:xfrm rot="0">
            <a:off x="0" y="1000125"/>
            <a:ext cx="12699427" cy="885825"/>
          </a:xfrm>
          <a:prstGeom prst="rect">
            <a:avLst/>
          </a:prstGeom>
        </p:spPr>
        <p:txBody>
          <a:bodyPr anchor="t" rtlCol="false" tIns="0" lIns="0" bIns="0" rIns="0">
            <a:spAutoFit/>
          </a:bodyPr>
          <a:lstStyle/>
          <a:p>
            <a:pPr algn="ctr">
              <a:lnSpc>
                <a:spcPts val="6763"/>
              </a:lnSpc>
              <a:spcBef>
                <a:spcPct val="0"/>
              </a:spcBef>
            </a:pPr>
            <a:r>
              <a:rPr lang="en-US" b="true" sz="5636">
                <a:solidFill>
                  <a:srgbClr val="041E6B"/>
                </a:solidFill>
                <a:latin typeface="Arimo Bold"/>
                <a:ea typeface="Arimo Bold"/>
                <a:cs typeface="Arimo Bold"/>
                <a:sym typeface="Arimo Bold"/>
              </a:rPr>
              <a:t>3.2 DESIGN: CIRCUIT DIAGRAM</a:t>
            </a: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pic>
        <p:nvPicPr>
          <p:cNvPr name="Picture 9" id="9">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2889" t="5060" r="2171" b="0"/>
          <a:stretch>
            <a:fillRect/>
          </a:stretch>
        </p:blipFill>
        <p:spPr>
          <a:xfrm flipH="false" flipV="false" rot="0">
            <a:off x="2410356" y="2103803"/>
            <a:ext cx="13467289" cy="7154497"/>
          </a:xfrm>
          <a:prstGeom prst="rect">
            <a:avLst/>
          </a:prstGeom>
        </p:spPr>
      </p:pic>
      <p:sp>
        <p:nvSpPr>
          <p:cNvPr name="TextBox 10" id="10"/>
          <p:cNvSpPr txBox="true"/>
          <p:nvPr/>
        </p:nvSpPr>
        <p:spPr>
          <a:xfrm rot="0">
            <a:off x="400396" y="675053"/>
            <a:ext cx="9865858" cy="885825"/>
          </a:xfrm>
          <a:prstGeom prst="rect">
            <a:avLst/>
          </a:prstGeom>
        </p:spPr>
        <p:txBody>
          <a:bodyPr anchor="t" rtlCol="false" tIns="0" lIns="0" bIns="0" rIns="0">
            <a:spAutoFit/>
          </a:bodyPr>
          <a:lstStyle/>
          <a:p>
            <a:pPr algn="ctr">
              <a:lnSpc>
                <a:spcPts val="6763"/>
              </a:lnSpc>
              <a:spcBef>
                <a:spcPct val="0"/>
              </a:spcBef>
            </a:pPr>
            <a:r>
              <a:rPr lang="en-US" b="true" sz="5636">
                <a:solidFill>
                  <a:srgbClr val="041E6B"/>
                </a:solidFill>
                <a:latin typeface="Arimo Bold"/>
                <a:ea typeface="Arimo Bold"/>
                <a:cs typeface="Arimo Bold"/>
                <a:sym typeface="Arimo Bold"/>
              </a:rPr>
              <a:t>3.3 DESIGN: SIMULATION</a:t>
            </a: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8</a:t>
            </a:r>
          </a:p>
        </p:txBody>
      </p:sp>
    </p:spTree>
  </p:cSld>
  <p:clrMapOvr>
    <a:masterClrMapping/>
  </p:clrMapOvr>
  <p:timing>
    <p:tnLst>
      <p:par>
        <p:cTn dur="indefinite" restart="never" nodeType="tmRoot">
          <p:childTnLst>
            <p:video>
              <p:cMediaNode vol="100000">
                <p:cTn fill="hold" display="false">
                  <p:stCondLst>
                    <p:cond delay="indefinite"/>
                  </p:stCondLst>
                </p:cTn>
                <p:tgtEl>
                  <p:spTgt spid="9"/>
                </p:tgtEl>
              </p:cMediaNode>
            </p:video>
          </p:childTnLst>
        </p:cTn>
      </p:par>
    </p:tnLst>
  </p:timing>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DD1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001C68"/>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1121C6"/>
                  </a:solidFill>
                  <a:latin typeface="Arimo"/>
                  <a:ea typeface="Arimo"/>
                  <a:cs typeface="Arimo"/>
                  <a:sym typeface="Arimo"/>
                </a:rPr>
                <a:t>Creating Global Citizens Rooted with Islamic Values</a:t>
              </a:r>
            </a:p>
          </p:txBody>
        </p:sp>
      </p:grpSp>
      <p:grpSp>
        <p:nvGrpSpPr>
          <p:cNvPr name="Group 9" id="9"/>
          <p:cNvGrpSpPr>
            <a:grpSpLocks noChangeAspect="true"/>
          </p:cNvGrpSpPr>
          <p:nvPr/>
        </p:nvGrpSpPr>
        <p:grpSpPr>
          <a:xfrm rot="-5400000">
            <a:off x="5384662" y="-1398767"/>
            <a:ext cx="7518676" cy="14876993"/>
            <a:chOff x="0" y="0"/>
            <a:chExt cx="2620010" cy="5184140"/>
          </a:xfrm>
        </p:grpSpPr>
        <p:sp>
          <p:nvSpPr>
            <p:cNvPr name="Freeform 10" id="10"/>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1" id="11"/>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0947" t="0" r="-10947" b="0"/>
              </a:stretch>
            </a:blipFill>
          </p:spPr>
        </p:sp>
        <p:sp>
          <p:nvSpPr>
            <p:cNvPr name="Freeform 12" id="12"/>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B5B5B"/>
            </a:solidFill>
          </p:spPr>
        </p:sp>
        <p:sp>
          <p:nvSpPr>
            <p:cNvPr name="Freeform 13" id="13"/>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B5B5B"/>
            </a:solidFill>
          </p:spPr>
        </p:sp>
        <p:sp>
          <p:nvSpPr>
            <p:cNvPr name="Freeform 14" id="14"/>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EBCEB5"/>
            </a:solidFill>
          </p:spPr>
        </p:sp>
        <p:sp>
          <p:nvSpPr>
            <p:cNvPr name="Freeform 15" id="15"/>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EBCEB5"/>
            </a:solidFill>
          </p:spPr>
        </p:sp>
        <p:sp>
          <p:nvSpPr>
            <p:cNvPr name="Freeform 16" id="16"/>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EBCEB5"/>
            </a:solidFill>
          </p:spPr>
        </p:sp>
        <p:sp>
          <p:nvSpPr>
            <p:cNvPr name="Freeform 17" id="17"/>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EBCEB5"/>
            </a:solidFill>
          </p:spPr>
        </p:sp>
        <p:sp>
          <p:nvSpPr>
            <p:cNvPr name="Freeform 18" id="18"/>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FCE9D8"/>
            </a:solidFill>
          </p:spPr>
        </p:sp>
      </p:grpSp>
      <p:sp>
        <p:nvSpPr>
          <p:cNvPr name="TextBox 19" id="19"/>
          <p:cNvSpPr txBox="true"/>
          <p:nvPr/>
        </p:nvSpPr>
        <p:spPr>
          <a:xfrm rot="0">
            <a:off x="0" y="596013"/>
            <a:ext cx="9916439" cy="1743075"/>
          </a:xfrm>
          <a:prstGeom prst="rect">
            <a:avLst/>
          </a:prstGeom>
        </p:spPr>
        <p:txBody>
          <a:bodyPr anchor="t" rtlCol="false" tIns="0" lIns="0" bIns="0" rIns="0">
            <a:spAutoFit/>
          </a:bodyPr>
          <a:lstStyle/>
          <a:p>
            <a:pPr algn="ctr">
              <a:lnSpc>
                <a:spcPts val="6763"/>
              </a:lnSpc>
            </a:pPr>
            <a:r>
              <a:rPr lang="en-US" b="true" sz="5636">
                <a:solidFill>
                  <a:srgbClr val="001C68"/>
                </a:solidFill>
                <a:latin typeface="Arimo Bold"/>
                <a:ea typeface="Arimo Bold"/>
                <a:cs typeface="Arimo Bold"/>
                <a:sym typeface="Arimo Bold"/>
              </a:rPr>
              <a:t>4. IMPLEMENTATION: </a:t>
            </a:r>
          </a:p>
          <a:p>
            <a:pPr algn="ctr">
              <a:lnSpc>
                <a:spcPts val="6763"/>
              </a:lnSpc>
              <a:spcBef>
                <a:spcPct val="0"/>
              </a:spcBef>
            </a:pPr>
            <a:r>
              <a:rPr lang="en-US" b="true" sz="5636">
                <a:solidFill>
                  <a:srgbClr val="001C68"/>
                </a:solidFill>
                <a:latin typeface="Arimo Bold"/>
                <a:ea typeface="Arimo Bold"/>
                <a:cs typeface="Arimo Bold"/>
                <a:sym typeface="Arimo Bold"/>
              </a:rPr>
              <a:t>DEMONSTRATION</a:t>
            </a:r>
          </a:p>
        </p:txBody>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1C68"/>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Freeform 9" id="9"/>
          <p:cNvSpPr/>
          <p:nvPr/>
        </p:nvSpPr>
        <p:spPr>
          <a:xfrm flipH="false" flipV="false" rot="0">
            <a:off x="1593994" y="3162408"/>
            <a:ext cx="7915131" cy="5936348"/>
          </a:xfrm>
          <a:custGeom>
            <a:avLst/>
            <a:gdLst/>
            <a:ahLst/>
            <a:cxnLst/>
            <a:rect r="r" b="b" t="t" l="l"/>
            <a:pathLst>
              <a:path h="5936348" w="7915131">
                <a:moveTo>
                  <a:pt x="0" y="0"/>
                </a:moveTo>
                <a:lnTo>
                  <a:pt x="7915131" y="0"/>
                </a:lnTo>
                <a:lnTo>
                  <a:pt x="7915131" y="5936348"/>
                </a:lnTo>
                <a:lnTo>
                  <a:pt x="0" y="5936348"/>
                </a:lnTo>
                <a:lnTo>
                  <a:pt x="0" y="0"/>
                </a:lnTo>
                <a:close/>
              </a:path>
            </a:pathLst>
          </a:custGeom>
          <a:blipFill>
            <a:blip r:embed="rId3"/>
            <a:stretch>
              <a:fillRect l="0" t="0" r="0" b="0"/>
            </a:stretch>
          </a:blipFill>
        </p:spPr>
      </p:sp>
      <p:sp>
        <p:nvSpPr>
          <p:cNvPr name="Freeform 10" id="10"/>
          <p:cNvSpPr/>
          <p:nvPr/>
        </p:nvSpPr>
        <p:spPr>
          <a:xfrm flipH="false" flipV="false" rot="0">
            <a:off x="10096218" y="2285418"/>
            <a:ext cx="5126885" cy="3845164"/>
          </a:xfrm>
          <a:custGeom>
            <a:avLst/>
            <a:gdLst/>
            <a:ahLst/>
            <a:cxnLst/>
            <a:rect r="r" b="b" t="t" l="l"/>
            <a:pathLst>
              <a:path h="3845164" w="5126885">
                <a:moveTo>
                  <a:pt x="0" y="0"/>
                </a:moveTo>
                <a:lnTo>
                  <a:pt x="5126885" y="0"/>
                </a:lnTo>
                <a:lnTo>
                  <a:pt x="5126885" y="3845164"/>
                </a:lnTo>
                <a:lnTo>
                  <a:pt x="0" y="3845164"/>
                </a:lnTo>
                <a:lnTo>
                  <a:pt x="0" y="0"/>
                </a:lnTo>
                <a:close/>
              </a:path>
            </a:pathLst>
          </a:custGeom>
          <a:blipFill>
            <a:blip r:embed="rId4"/>
            <a:stretch>
              <a:fillRect l="0" t="0" r="0" b="0"/>
            </a:stretch>
          </a:blipFill>
        </p:spPr>
      </p:sp>
      <p:sp>
        <p:nvSpPr>
          <p:cNvPr name="Freeform 11" id="11"/>
          <p:cNvSpPr/>
          <p:nvPr/>
        </p:nvSpPr>
        <p:spPr>
          <a:xfrm flipH="false" flipV="false" rot="5400000">
            <a:off x="12967257" y="5798938"/>
            <a:ext cx="3237075" cy="4316100"/>
          </a:xfrm>
          <a:custGeom>
            <a:avLst/>
            <a:gdLst/>
            <a:ahLst/>
            <a:cxnLst/>
            <a:rect r="r" b="b" t="t" l="l"/>
            <a:pathLst>
              <a:path h="4316100" w="3237075">
                <a:moveTo>
                  <a:pt x="0" y="0"/>
                </a:moveTo>
                <a:lnTo>
                  <a:pt x="3237075" y="0"/>
                </a:lnTo>
                <a:lnTo>
                  <a:pt x="3237075" y="4316101"/>
                </a:lnTo>
                <a:lnTo>
                  <a:pt x="0" y="4316101"/>
                </a:lnTo>
                <a:lnTo>
                  <a:pt x="0" y="0"/>
                </a:lnTo>
                <a:close/>
              </a:path>
            </a:pathLst>
          </a:custGeom>
          <a:blipFill>
            <a:blip r:embed="rId5"/>
            <a:stretch>
              <a:fillRect l="0" t="0" r="0" b="0"/>
            </a:stretch>
          </a:blipFill>
        </p:spPr>
      </p:sp>
      <p:sp>
        <p:nvSpPr>
          <p:cNvPr name="TextBox 12" id="12"/>
          <p:cNvSpPr txBox="true"/>
          <p:nvPr/>
        </p:nvSpPr>
        <p:spPr>
          <a:xfrm rot="0">
            <a:off x="0" y="1000125"/>
            <a:ext cx="9144000" cy="1743075"/>
          </a:xfrm>
          <a:prstGeom prst="rect">
            <a:avLst/>
          </a:prstGeom>
        </p:spPr>
        <p:txBody>
          <a:bodyPr anchor="t" rtlCol="false" tIns="0" lIns="0" bIns="0" rIns="0">
            <a:spAutoFit/>
          </a:bodyPr>
          <a:lstStyle/>
          <a:p>
            <a:pPr algn="ctr">
              <a:lnSpc>
                <a:spcPts val="6763"/>
              </a:lnSpc>
              <a:spcBef>
                <a:spcPct val="0"/>
              </a:spcBef>
            </a:pPr>
            <a:r>
              <a:rPr lang="en-US" b="true" sz="5636">
                <a:solidFill>
                  <a:srgbClr val="041E6B"/>
                </a:solidFill>
                <a:latin typeface="Arimo Bold"/>
                <a:ea typeface="Arimo Bold"/>
                <a:cs typeface="Arimo Bold"/>
                <a:sym typeface="Arimo Bold"/>
              </a:rPr>
              <a:t>4.1 IMPLEMENTATION: PHOTO GALLERY</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a:hlinkClick r:id="rId3" tooltip="https://drive.google.com/file/d/10qWkcPVF2pdNtCMIhrEbjjUucbQbvRDR/view?usp=sharing"/>
          </p:cNvPr>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Freeform 9" id="9"/>
          <p:cNvSpPr/>
          <p:nvPr/>
        </p:nvSpPr>
        <p:spPr>
          <a:xfrm flipH="false" flipV="false" rot="0">
            <a:off x="1231626" y="3076361"/>
            <a:ext cx="1898455" cy="1898455"/>
          </a:xfrm>
          <a:custGeom>
            <a:avLst/>
            <a:gdLst/>
            <a:ahLst/>
            <a:cxnLst/>
            <a:rect r="r" b="b" t="t" l="l"/>
            <a:pathLst>
              <a:path h="1898455" w="1898455">
                <a:moveTo>
                  <a:pt x="0" y="0"/>
                </a:moveTo>
                <a:lnTo>
                  <a:pt x="1898456" y="0"/>
                </a:lnTo>
                <a:lnTo>
                  <a:pt x="1898456" y="1898455"/>
                </a:lnTo>
                <a:lnTo>
                  <a:pt x="0" y="1898455"/>
                </a:lnTo>
                <a:lnTo>
                  <a:pt x="0" y="0"/>
                </a:lnTo>
                <a:close/>
              </a:path>
            </a:pathLst>
          </a:custGeom>
          <a:blipFill>
            <a:blip r:embed="rId4"/>
            <a:stretch>
              <a:fillRect l="0" t="0" r="0" b="0"/>
            </a:stretch>
          </a:blipFill>
        </p:spPr>
      </p:sp>
      <p:sp>
        <p:nvSpPr>
          <p:cNvPr name="Freeform 10" id="10"/>
          <p:cNvSpPr/>
          <p:nvPr/>
        </p:nvSpPr>
        <p:spPr>
          <a:xfrm flipH="false" flipV="false" rot="0">
            <a:off x="15978926" y="3148390"/>
            <a:ext cx="1846735" cy="1754398"/>
          </a:xfrm>
          <a:custGeom>
            <a:avLst/>
            <a:gdLst/>
            <a:ahLst/>
            <a:cxnLst/>
            <a:rect r="r" b="b" t="t" l="l"/>
            <a:pathLst>
              <a:path h="1754398" w="1846735">
                <a:moveTo>
                  <a:pt x="0" y="0"/>
                </a:moveTo>
                <a:lnTo>
                  <a:pt x="1846735" y="0"/>
                </a:lnTo>
                <a:lnTo>
                  <a:pt x="1846735" y="1754398"/>
                </a:lnTo>
                <a:lnTo>
                  <a:pt x="0" y="1754398"/>
                </a:lnTo>
                <a:lnTo>
                  <a:pt x="0" y="0"/>
                </a:lnTo>
                <a:close/>
              </a:path>
            </a:pathLst>
          </a:custGeom>
          <a:blipFill>
            <a:blip r:embed="rId5"/>
            <a:stretch>
              <a:fillRect l="0" t="0" r="0" b="0"/>
            </a:stretch>
          </a:blipFill>
        </p:spPr>
      </p:sp>
      <p:sp>
        <p:nvSpPr>
          <p:cNvPr name="Freeform 11" id="11"/>
          <p:cNvSpPr/>
          <p:nvPr/>
        </p:nvSpPr>
        <p:spPr>
          <a:xfrm flipH="false" flipV="false" rot="0">
            <a:off x="1321914" y="5492760"/>
            <a:ext cx="1717879" cy="1717879"/>
          </a:xfrm>
          <a:custGeom>
            <a:avLst/>
            <a:gdLst/>
            <a:ahLst/>
            <a:cxnLst/>
            <a:rect r="r" b="b" t="t" l="l"/>
            <a:pathLst>
              <a:path h="1717879" w="1717879">
                <a:moveTo>
                  <a:pt x="0" y="0"/>
                </a:moveTo>
                <a:lnTo>
                  <a:pt x="1717879" y="0"/>
                </a:lnTo>
                <a:lnTo>
                  <a:pt x="1717879" y="1717879"/>
                </a:lnTo>
                <a:lnTo>
                  <a:pt x="0" y="1717879"/>
                </a:lnTo>
                <a:lnTo>
                  <a:pt x="0" y="0"/>
                </a:lnTo>
                <a:close/>
              </a:path>
            </a:pathLst>
          </a:custGeom>
          <a:blipFill>
            <a:blip r:embed="rId6"/>
            <a:stretch>
              <a:fillRect l="0" t="0" r="0" b="0"/>
            </a:stretch>
          </a:blipFill>
        </p:spPr>
      </p:sp>
      <p:sp>
        <p:nvSpPr>
          <p:cNvPr name="Freeform 12" id="12"/>
          <p:cNvSpPr/>
          <p:nvPr/>
        </p:nvSpPr>
        <p:spPr>
          <a:xfrm flipH="false" flipV="false" rot="0">
            <a:off x="16135319" y="5492760"/>
            <a:ext cx="1533949" cy="1533949"/>
          </a:xfrm>
          <a:custGeom>
            <a:avLst/>
            <a:gdLst/>
            <a:ahLst/>
            <a:cxnLst/>
            <a:rect r="r" b="b" t="t" l="l"/>
            <a:pathLst>
              <a:path h="1533949" w="1533949">
                <a:moveTo>
                  <a:pt x="0" y="0"/>
                </a:moveTo>
                <a:lnTo>
                  <a:pt x="1533949" y="0"/>
                </a:lnTo>
                <a:lnTo>
                  <a:pt x="1533949" y="1533949"/>
                </a:lnTo>
                <a:lnTo>
                  <a:pt x="0" y="1533949"/>
                </a:lnTo>
                <a:lnTo>
                  <a:pt x="0" y="0"/>
                </a:lnTo>
                <a:close/>
              </a:path>
            </a:pathLst>
          </a:custGeom>
          <a:blipFill>
            <a:blip r:embed="rId7"/>
            <a:stretch>
              <a:fillRect l="0" t="0" r="0" b="0"/>
            </a:stretch>
          </a:blipFill>
        </p:spPr>
      </p:sp>
      <p:sp>
        <p:nvSpPr>
          <p:cNvPr name="Freeform 13" id="13"/>
          <p:cNvSpPr/>
          <p:nvPr/>
        </p:nvSpPr>
        <p:spPr>
          <a:xfrm flipH="false" flipV="false" rot="0">
            <a:off x="16135319" y="7622677"/>
            <a:ext cx="1476080" cy="1476080"/>
          </a:xfrm>
          <a:custGeom>
            <a:avLst/>
            <a:gdLst/>
            <a:ahLst/>
            <a:cxnLst/>
            <a:rect r="r" b="b" t="t" l="l"/>
            <a:pathLst>
              <a:path h="1476080" w="1476080">
                <a:moveTo>
                  <a:pt x="0" y="0"/>
                </a:moveTo>
                <a:lnTo>
                  <a:pt x="1476080" y="0"/>
                </a:lnTo>
                <a:lnTo>
                  <a:pt x="1476080" y="1476079"/>
                </a:lnTo>
                <a:lnTo>
                  <a:pt x="0" y="1476079"/>
                </a:lnTo>
                <a:lnTo>
                  <a:pt x="0" y="0"/>
                </a:lnTo>
                <a:close/>
              </a:path>
            </a:pathLst>
          </a:custGeom>
          <a:blipFill>
            <a:blip r:embed="rId8"/>
            <a:stretch>
              <a:fillRect l="0" t="0" r="0" b="0"/>
            </a:stretch>
          </a:blipFill>
        </p:spPr>
      </p:sp>
      <p:sp>
        <p:nvSpPr>
          <p:cNvPr name="Freeform 14" id="14"/>
          <p:cNvSpPr/>
          <p:nvPr/>
        </p:nvSpPr>
        <p:spPr>
          <a:xfrm flipH="false" flipV="false" rot="0">
            <a:off x="418315" y="7502103"/>
            <a:ext cx="3525078" cy="1907009"/>
          </a:xfrm>
          <a:custGeom>
            <a:avLst/>
            <a:gdLst/>
            <a:ahLst/>
            <a:cxnLst/>
            <a:rect r="r" b="b" t="t" l="l"/>
            <a:pathLst>
              <a:path h="1907009" w="3525078">
                <a:moveTo>
                  <a:pt x="0" y="0"/>
                </a:moveTo>
                <a:lnTo>
                  <a:pt x="3525078" y="0"/>
                </a:lnTo>
                <a:lnTo>
                  <a:pt x="3525078" y="1907009"/>
                </a:lnTo>
                <a:lnTo>
                  <a:pt x="0" y="1907009"/>
                </a:lnTo>
                <a:lnTo>
                  <a:pt x="0" y="0"/>
                </a:lnTo>
                <a:close/>
              </a:path>
            </a:pathLst>
          </a:custGeom>
          <a:blipFill>
            <a:blip r:embed="rId9"/>
            <a:stretch>
              <a:fillRect l="0" t="0" r="0" b="0"/>
            </a:stretch>
          </a:blipFill>
        </p:spPr>
      </p:sp>
      <p:sp>
        <p:nvSpPr>
          <p:cNvPr name="TextBox 15" id="15"/>
          <p:cNvSpPr txBox="true"/>
          <p:nvPr/>
        </p:nvSpPr>
        <p:spPr>
          <a:xfrm rot="0">
            <a:off x="0" y="1000125"/>
            <a:ext cx="9916439" cy="1743075"/>
          </a:xfrm>
          <a:prstGeom prst="rect">
            <a:avLst/>
          </a:prstGeom>
        </p:spPr>
        <p:txBody>
          <a:bodyPr anchor="t" rtlCol="false" tIns="0" lIns="0" bIns="0" rIns="0">
            <a:spAutoFit/>
          </a:bodyPr>
          <a:lstStyle/>
          <a:p>
            <a:pPr algn="ctr">
              <a:lnSpc>
                <a:spcPts val="6763"/>
              </a:lnSpc>
            </a:pPr>
            <a:r>
              <a:rPr lang="en-US" b="true" sz="5636">
                <a:solidFill>
                  <a:srgbClr val="041E6B"/>
                </a:solidFill>
                <a:latin typeface="Arimo Bold"/>
                <a:ea typeface="Arimo Bold"/>
                <a:cs typeface="Arimo Bold"/>
                <a:sym typeface="Arimo Bold"/>
              </a:rPr>
              <a:t>4.2 IMPLEMENTATION: </a:t>
            </a:r>
          </a:p>
          <a:p>
            <a:pPr algn="ctr">
              <a:lnSpc>
                <a:spcPts val="6763"/>
              </a:lnSpc>
              <a:spcBef>
                <a:spcPct val="0"/>
              </a:spcBef>
            </a:pPr>
            <a:r>
              <a:rPr lang="en-US" b="true" sz="5636">
                <a:solidFill>
                  <a:srgbClr val="041E6B"/>
                </a:solidFill>
                <a:latin typeface="Arimo Bold"/>
                <a:ea typeface="Arimo Bold"/>
                <a:cs typeface="Arimo Bold"/>
                <a:sym typeface="Arimo Bold"/>
              </a:rPr>
              <a:t>EXTERNAL LINKS </a:t>
            </a:r>
          </a:p>
        </p:txBody>
      </p:sp>
      <p:sp>
        <p:nvSpPr>
          <p:cNvPr name="TextBox 16" id="16"/>
          <p:cNvSpPr txBox="true"/>
          <p:nvPr/>
        </p:nvSpPr>
        <p:spPr>
          <a:xfrm rot="0">
            <a:off x="3411568" y="3783684"/>
            <a:ext cx="13009742" cy="533399"/>
          </a:xfrm>
          <a:prstGeom prst="rect">
            <a:avLst/>
          </a:prstGeom>
        </p:spPr>
        <p:txBody>
          <a:bodyPr anchor="t" rtlCol="false" tIns="0" lIns="0" bIns="0" rIns="0">
            <a:spAutoFit/>
          </a:bodyPr>
          <a:lstStyle/>
          <a:p>
            <a:pPr algn="l">
              <a:lnSpc>
                <a:spcPts val="4200"/>
              </a:lnSpc>
            </a:pPr>
            <a:r>
              <a:rPr lang="en-US" b="true" sz="3000" u="sng">
                <a:solidFill>
                  <a:srgbClr val="041E6B"/>
                </a:solidFill>
                <a:latin typeface="Arimo Bold"/>
                <a:ea typeface="Arimo Bold"/>
                <a:cs typeface="Arimo Bold"/>
                <a:sym typeface="Arimo Bold"/>
                <a:hlinkClick r:id="rId10" tooltip="https://youtube.com/shorts/Rr9jDDKW8tM?si=Zxs3Y1whMCS7SmcW"/>
              </a:rPr>
              <a:t>https://youtube.com/shorts/Rr9jDDKW8tM?si=Zxs3Y1whMCS7SmcW</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11</a:t>
            </a:r>
          </a:p>
        </p:txBody>
      </p:sp>
      <p:sp>
        <p:nvSpPr>
          <p:cNvPr name="TextBox 18" id="18"/>
          <p:cNvSpPr txBox="true"/>
          <p:nvPr/>
        </p:nvSpPr>
        <p:spPr>
          <a:xfrm rot="0">
            <a:off x="2505390" y="5933316"/>
            <a:ext cx="14161299" cy="391795"/>
          </a:xfrm>
          <a:prstGeom prst="rect">
            <a:avLst/>
          </a:prstGeom>
        </p:spPr>
        <p:txBody>
          <a:bodyPr anchor="t" rtlCol="false" tIns="0" lIns="0" bIns="0" rIns="0">
            <a:spAutoFit/>
          </a:bodyPr>
          <a:lstStyle/>
          <a:p>
            <a:pPr algn="ctr">
              <a:lnSpc>
                <a:spcPts val="3079"/>
              </a:lnSpc>
              <a:spcBef>
                <a:spcPct val="0"/>
              </a:spcBef>
            </a:pPr>
            <a:r>
              <a:rPr lang="en-US" b="true" sz="2199">
                <a:solidFill>
                  <a:srgbClr val="041E6B"/>
                </a:solidFill>
                <a:latin typeface="Arimo Bold"/>
                <a:ea typeface="Arimo Bold"/>
                <a:cs typeface="Arimo Bold"/>
                <a:sym typeface="Arimo Bold"/>
              </a:rPr>
              <a:t>https://drive.google.com/file/d/10qWkcPVF2pdNtCMIhrEbjjUucbQbvRDR/view?usp=drive_link</a:t>
            </a:r>
          </a:p>
        </p:txBody>
      </p:sp>
      <p:sp>
        <p:nvSpPr>
          <p:cNvPr name="TextBox 19" id="19"/>
          <p:cNvSpPr txBox="true"/>
          <p:nvPr/>
        </p:nvSpPr>
        <p:spPr>
          <a:xfrm rot="0">
            <a:off x="3130082" y="8070204"/>
            <a:ext cx="6619289" cy="514350"/>
          </a:xfrm>
          <a:prstGeom prst="rect">
            <a:avLst/>
          </a:prstGeom>
        </p:spPr>
        <p:txBody>
          <a:bodyPr anchor="t" rtlCol="false" tIns="0" lIns="0" bIns="0" rIns="0">
            <a:spAutoFit/>
          </a:bodyPr>
          <a:lstStyle/>
          <a:p>
            <a:pPr algn="ctr">
              <a:lnSpc>
                <a:spcPts val="4199"/>
              </a:lnSpc>
              <a:spcBef>
                <a:spcPct val="0"/>
              </a:spcBef>
            </a:pPr>
            <a:r>
              <a:rPr lang="en-US" b="true" sz="2999">
                <a:solidFill>
                  <a:srgbClr val="041E6B"/>
                </a:solidFill>
                <a:latin typeface="Arimo Bold"/>
                <a:ea typeface="Arimo Bold"/>
                <a:cs typeface="Arimo Bold"/>
                <a:sym typeface="Arimo Bold"/>
              </a:rPr>
              <a:t>https://youtu.be/czvA3kF8Too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TextBox 9" id="9"/>
          <p:cNvSpPr txBox="true"/>
          <p:nvPr/>
        </p:nvSpPr>
        <p:spPr>
          <a:xfrm rot="0">
            <a:off x="543035" y="1207421"/>
            <a:ext cx="11017935" cy="885825"/>
          </a:xfrm>
          <a:prstGeom prst="rect">
            <a:avLst/>
          </a:prstGeom>
        </p:spPr>
        <p:txBody>
          <a:bodyPr anchor="t" rtlCol="false" tIns="0" lIns="0" bIns="0" rIns="0">
            <a:spAutoFit/>
          </a:bodyPr>
          <a:lstStyle/>
          <a:p>
            <a:pPr algn="ctr">
              <a:lnSpc>
                <a:spcPts val="6763"/>
              </a:lnSpc>
              <a:spcBef>
                <a:spcPct val="0"/>
              </a:spcBef>
            </a:pPr>
            <a:r>
              <a:rPr lang="en-US" b="true" sz="5636">
                <a:solidFill>
                  <a:srgbClr val="041E6B"/>
                </a:solidFill>
                <a:latin typeface="Arimo Bold"/>
                <a:ea typeface="Arimo Bold"/>
                <a:cs typeface="Arimo Bold"/>
                <a:sym typeface="Arimo Bold"/>
              </a:rPr>
              <a:t>5. ANALYSIS AND EVALUATION</a:t>
            </a:r>
          </a:p>
        </p:txBody>
      </p:sp>
      <p:sp>
        <p:nvSpPr>
          <p:cNvPr name="TextBox 10" id="10"/>
          <p:cNvSpPr txBox="true"/>
          <p:nvPr/>
        </p:nvSpPr>
        <p:spPr>
          <a:xfrm rot="0">
            <a:off x="2676525" y="2914650"/>
            <a:ext cx="12934950" cy="4429125"/>
          </a:xfrm>
          <a:prstGeom prst="rect">
            <a:avLst/>
          </a:prstGeom>
        </p:spPr>
        <p:txBody>
          <a:bodyPr anchor="t" rtlCol="false" tIns="0" lIns="0" bIns="0" rIns="0">
            <a:spAutoFit/>
          </a:bodyPr>
          <a:lstStyle/>
          <a:p>
            <a:pPr algn="l">
              <a:lnSpc>
                <a:spcPts val="5818"/>
              </a:lnSpc>
            </a:pPr>
            <a:r>
              <a:rPr lang="en-US" sz="4848" b="true">
                <a:solidFill>
                  <a:srgbClr val="041E6B"/>
                </a:solidFill>
                <a:latin typeface="Arimo Bold"/>
                <a:ea typeface="Arimo Bold"/>
                <a:cs typeface="Arimo Bold"/>
                <a:sym typeface="Arimo Bold"/>
              </a:rPr>
              <a:t>5.1 Novelty</a:t>
            </a:r>
          </a:p>
          <a:p>
            <a:pPr algn="l">
              <a:lnSpc>
                <a:spcPts val="5818"/>
              </a:lnSpc>
            </a:pPr>
            <a:r>
              <a:rPr lang="en-US" sz="4848" b="true">
                <a:solidFill>
                  <a:srgbClr val="041E6B"/>
                </a:solidFill>
                <a:latin typeface="Arimo Bold"/>
                <a:ea typeface="Arimo Bold"/>
                <a:cs typeface="Arimo Bold"/>
                <a:sym typeface="Arimo Bold"/>
              </a:rPr>
              <a:t>5.2 Project Management and Cost Analysis</a:t>
            </a:r>
          </a:p>
          <a:p>
            <a:pPr algn="l">
              <a:lnSpc>
                <a:spcPts val="5818"/>
              </a:lnSpc>
            </a:pPr>
            <a:r>
              <a:rPr lang="en-US" sz="4848" b="true">
                <a:solidFill>
                  <a:srgbClr val="041E6B"/>
                </a:solidFill>
                <a:latin typeface="Arimo Bold"/>
                <a:ea typeface="Arimo Bold"/>
                <a:cs typeface="Arimo Bold"/>
                <a:sym typeface="Arimo Bold"/>
              </a:rPr>
              <a:t>5.3 Practical Considerations of the Design</a:t>
            </a:r>
          </a:p>
          <a:p>
            <a:pPr algn="l">
              <a:lnSpc>
                <a:spcPts val="5818"/>
              </a:lnSpc>
            </a:pPr>
            <a:r>
              <a:rPr lang="en-US" sz="4848" b="true">
                <a:solidFill>
                  <a:srgbClr val="041E6B"/>
                </a:solidFill>
                <a:latin typeface="Arimo Bold"/>
                <a:ea typeface="Arimo Bold"/>
                <a:cs typeface="Arimo Bold"/>
                <a:sym typeface="Arimo Bold"/>
              </a:rPr>
              <a:t>5.4 Assessment of the Impact of the Project </a:t>
            </a:r>
          </a:p>
          <a:p>
            <a:pPr algn="l">
              <a:lnSpc>
                <a:spcPts val="5818"/>
              </a:lnSpc>
            </a:pPr>
            <a:r>
              <a:rPr lang="en-US" sz="4848" b="true">
                <a:solidFill>
                  <a:srgbClr val="041E6B"/>
                </a:solidFill>
                <a:latin typeface="Arimo Bold"/>
                <a:ea typeface="Arimo Bold"/>
                <a:cs typeface="Arimo Bold"/>
                <a:sym typeface="Arimo Bold"/>
              </a:rPr>
              <a:t>5.5 Evaluation of the Sustainability </a:t>
            </a:r>
          </a:p>
          <a:p>
            <a:pPr algn="l">
              <a:lnSpc>
                <a:spcPts val="5818"/>
              </a:lnSpc>
              <a:spcBef>
                <a:spcPct val="0"/>
              </a:spcBef>
            </a:pP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TextBox 9" id="9"/>
          <p:cNvSpPr txBox="true"/>
          <p:nvPr/>
        </p:nvSpPr>
        <p:spPr>
          <a:xfrm rot="0">
            <a:off x="1028700" y="2002739"/>
            <a:ext cx="15280318" cy="904875"/>
          </a:xfrm>
          <a:prstGeom prst="rect">
            <a:avLst/>
          </a:prstGeom>
        </p:spPr>
        <p:txBody>
          <a:bodyPr anchor="t" rtlCol="false" tIns="0" lIns="0" bIns="0" rIns="0">
            <a:spAutoFit/>
          </a:bodyPr>
          <a:lstStyle/>
          <a:p>
            <a:pPr algn="l">
              <a:lnSpc>
                <a:spcPts val="3599"/>
              </a:lnSpc>
              <a:spcBef>
                <a:spcPct val="0"/>
              </a:spcBef>
            </a:pPr>
            <a:r>
              <a:rPr lang="en-US" b="true" sz="2999">
                <a:solidFill>
                  <a:srgbClr val="041E6B"/>
                </a:solidFill>
                <a:latin typeface="Arimo Bold"/>
                <a:ea typeface="Arimo Bold"/>
                <a:cs typeface="Arimo Bold"/>
                <a:sym typeface="Arimo Bold"/>
              </a:rPr>
              <a:t>Our project introduces several innovative enhancements to existing battery-run rickshaws, aiming to improve safety, efficiency, and sustainability.</a:t>
            </a:r>
          </a:p>
        </p:txBody>
      </p:sp>
      <p:grpSp>
        <p:nvGrpSpPr>
          <p:cNvPr name="Group 10" id="10"/>
          <p:cNvGrpSpPr/>
          <p:nvPr/>
        </p:nvGrpSpPr>
        <p:grpSpPr>
          <a:xfrm rot="0">
            <a:off x="5372938" y="4912585"/>
            <a:ext cx="2893193" cy="289319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00000"/>
              </a:solid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1960"/>
                </a:lnSpc>
              </a:pPr>
            </a:p>
          </p:txBody>
        </p:sp>
      </p:grpSp>
      <p:grpSp>
        <p:nvGrpSpPr>
          <p:cNvPr name="Group 13" id="13"/>
          <p:cNvGrpSpPr/>
          <p:nvPr/>
        </p:nvGrpSpPr>
        <p:grpSpPr>
          <a:xfrm rot="0">
            <a:off x="4935170" y="4437544"/>
            <a:ext cx="3843276" cy="384327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00000"/>
              </a:solid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1960"/>
                </a:lnSpc>
              </a:pPr>
            </a:p>
          </p:txBody>
        </p:sp>
      </p:grpSp>
      <p:grpSp>
        <p:nvGrpSpPr>
          <p:cNvPr name="Group 16" id="16"/>
          <p:cNvGrpSpPr/>
          <p:nvPr/>
        </p:nvGrpSpPr>
        <p:grpSpPr>
          <a:xfrm rot="0">
            <a:off x="4793818" y="4156223"/>
            <a:ext cx="2941320" cy="4285365"/>
            <a:chOff x="0" y="0"/>
            <a:chExt cx="1089378" cy="1587172"/>
          </a:xfrm>
        </p:grpSpPr>
        <p:sp>
          <p:nvSpPr>
            <p:cNvPr name="Freeform 17" id="17"/>
            <p:cNvSpPr/>
            <p:nvPr/>
          </p:nvSpPr>
          <p:spPr>
            <a:xfrm flipH="false" flipV="false" rot="0">
              <a:off x="0" y="0"/>
              <a:ext cx="1089378" cy="1587172"/>
            </a:xfrm>
            <a:custGeom>
              <a:avLst/>
              <a:gdLst/>
              <a:ahLst/>
              <a:cxnLst/>
              <a:rect r="r" b="b" t="t" l="l"/>
              <a:pathLst>
                <a:path h="1587172" w="1089378">
                  <a:moveTo>
                    <a:pt x="0" y="0"/>
                  </a:moveTo>
                  <a:lnTo>
                    <a:pt x="1089378" y="0"/>
                  </a:lnTo>
                  <a:lnTo>
                    <a:pt x="1089378" y="1587172"/>
                  </a:lnTo>
                  <a:lnTo>
                    <a:pt x="0" y="1587172"/>
                  </a:lnTo>
                  <a:close/>
                </a:path>
              </a:pathLst>
            </a:custGeom>
            <a:solidFill>
              <a:srgbClr val="BDCFFD"/>
            </a:solidFill>
          </p:spPr>
        </p:sp>
        <p:sp>
          <p:nvSpPr>
            <p:cNvPr name="TextBox 18" id="18"/>
            <p:cNvSpPr txBox="true"/>
            <p:nvPr/>
          </p:nvSpPr>
          <p:spPr>
            <a:xfrm>
              <a:off x="0" y="-47625"/>
              <a:ext cx="1089378" cy="1634797"/>
            </a:xfrm>
            <a:prstGeom prst="rect">
              <a:avLst/>
            </a:prstGeom>
          </p:spPr>
          <p:txBody>
            <a:bodyPr anchor="ctr" rtlCol="false" tIns="50800" lIns="50800" bIns="50800" rIns="50800"/>
            <a:lstStyle/>
            <a:p>
              <a:pPr algn="ctr">
                <a:lnSpc>
                  <a:spcPts val="1960"/>
                </a:lnSpc>
              </a:pPr>
            </a:p>
          </p:txBody>
        </p:sp>
      </p:grpSp>
      <p:grpSp>
        <p:nvGrpSpPr>
          <p:cNvPr name="Group 19" id="19"/>
          <p:cNvGrpSpPr/>
          <p:nvPr/>
        </p:nvGrpSpPr>
        <p:grpSpPr>
          <a:xfrm rot="0">
            <a:off x="5372938" y="4912585"/>
            <a:ext cx="2893193" cy="289319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1960"/>
                </a:lnSpc>
              </a:pPr>
            </a:p>
          </p:txBody>
        </p:sp>
      </p:grpSp>
      <p:grpSp>
        <p:nvGrpSpPr>
          <p:cNvPr name="Group 22" id="22"/>
          <p:cNvGrpSpPr/>
          <p:nvPr/>
        </p:nvGrpSpPr>
        <p:grpSpPr>
          <a:xfrm rot="0">
            <a:off x="8171362" y="3345764"/>
            <a:ext cx="3400338" cy="931012"/>
            <a:chOff x="0" y="0"/>
            <a:chExt cx="1259384" cy="344819"/>
          </a:xfrm>
        </p:grpSpPr>
        <p:sp>
          <p:nvSpPr>
            <p:cNvPr name="Freeform 23" id="23"/>
            <p:cNvSpPr/>
            <p:nvPr/>
          </p:nvSpPr>
          <p:spPr>
            <a:xfrm flipH="false" flipV="false" rot="0">
              <a:off x="0" y="0"/>
              <a:ext cx="1259384" cy="344819"/>
            </a:xfrm>
            <a:custGeom>
              <a:avLst/>
              <a:gdLst/>
              <a:ahLst/>
              <a:cxnLst/>
              <a:rect r="r" b="b" t="t" l="l"/>
              <a:pathLst>
                <a:path h="344819" w="1259384">
                  <a:moveTo>
                    <a:pt x="52367" y="0"/>
                  </a:moveTo>
                  <a:lnTo>
                    <a:pt x="1207018" y="0"/>
                  </a:lnTo>
                  <a:cubicBezTo>
                    <a:pt x="1235939" y="0"/>
                    <a:pt x="1259384" y="23445"/>
                    <a:pt x="1259384" y="52367"/>
                  </a:cubicBezTo>
                  <a:lnTo>
                    <a:pt x="1259384" y="292453"/>
                  </a:lnTo>
                  <a:cubicBezTo>
                    <a:pt x="1259384" y="321374"/>
                    <a:pt x="1235939" y="344819"/>
                    <a:pt x="1207018" y="344819"/>
                  </a:cubicBezTo>
                  <a:lnTo>
                    <a:pt x="52367" y="344819"/>
                  </a:lnTo>
                  <a:cubicBezTo>
                    <a:pt x="23445" y="344819"/>
                    <a:pt x="0" y="321374"/>
                    <a:pt x="0" y="292453"/>
                  </a:cubicBezTo>
                  <a:lnTo>
                    <a:pt x="0" y="52367"/>
                  </a:lnTo>
                  <a:cubicBezTo>
                    <a:pt x="0" y="23445"/>
                    <a:pt x="23445" y="0"/>
                    <a:pt x="52367" y="0"/>
                  </a:cubicBezTo>
                  <a:close/>
                </a:path>
              </a:pathLst>
            </a:custGeom>
            <a:solidFill>
              <a:srgbClr val="041E6B"/>
            </a:solidFill>
            <a:ln w="19050" cap="rnd">
              <a:solidFill>
                <a:srgbClr val="000000"/>
              </a:solidFill>
              <a:prstDash val="solid"/>
              <a:round/>
            </a:ln>
          </p:spPr>
        </p:sp>
        <p:sp>
          <p:nvSpPr>
            <p:cNvPr name="TextBox 24" id="24"/>
            <p:cNvSpPr txBox="true"/>
            <p:nvPr/>
          </p:nvSpPr>
          <p:spPr>
            <a:xfrm>
              <a:off x="0" y="-47625"/>
              <a:ext cx="1259384" cy="392444"/>
            </a:xfrm>
            <a:prstGeom prst="rect">
              <a:avLst/>
            </a:prstGeom>
          </p:spPr>
          <p:txBody>
            <a:bodyPr anchor="ctr" rtlCol="false" tIns="50800" lIns="50800" bIns="50800" rIns="50800"/>
            <a:lstStyle/>
            <a:p>
              <a:pPr algn="ctr">
                <a:lnSpc>
                  <a:spcPts val="1960"/>
                </a:lnSpc>
              </a:pPr>
            </a:p>
          </p:txBody>
        </p:sp>
      </p:grpSp>
      <p:grpSp>
        <p:nvGrpSpPr>
          <p:cNvPr name="Group 25" id="25"/>
          <p:cNvGrpSpPr/>
          <p:nvPr/>
        </p:nvGrpSpPr>
        <p:grpSpPr>
          <a:xfrm rot="0">
            <a:off x="8171362" y="8441588"/>
            <a:ext cx="3400338" cy="931012"/>
            <a:chOff x="0" y="0"/>
            <a:chExt cx="1259384" cy="344819"/>
          </a:xfrm>
        </p:grpSpPr>
        <p:sp>
          <p:nvSpPr>
            <p:cNvPr name="Freeform 26" id="26"/>
            <p:cNvSpPr/>
            <p:nvPr/>
          </p:nvSpPr>
          <p:spPr>
            <a:xfrm flipH="false" flipV="false" rot="0">
              <a:off x="0" y="0"/>
              <a:ext cx="1259384" cy="344819"/>
            </a:xfrm>
            <a:custGeom>
              <a:avLst/>
              <a:gdLst/>
              <a:ahLst/>
              <a:cxnLst/>
              <a:rect r="r" b="b" t="t" l="l"/>
              <a:pathLst>
                <a:path h="344819" w="1259384">
                  <a:moveTo>
                    <a:pt x="52367" y="0"/>
                  </a:moveTo>
                  <a:lnTo>
                    <a:pt x="1207018" y="0"/>
                  </a:lnTo>
                  <a:cubicBezTo>
                    <a:pt x="1235939" y="0"/>
                    <a:pt x="1259384" y="23445"/>
                    <a:pt x="1259384" y="52367"/>
                  </a:cubicBezTo>
                  <a:lnTo>
                    <a:pt x="1259384" y="292453"/>
                  </a:lnTo>
                  <a:cubicBezTo>
                    <a:pt x="1259384" y="321374"/>
                    <a:pt x="1235939" y="344819"/>
                    <a:pt x="1207018" y="344819"/>
                  </a:cubicBezTo>
                  <a:lnTo>
                    <a:pt x="52367" y="344819"/>
                  </a:lnTo>
                  <a:cubicBezTo>
                    <a:pt x="23445" y="344819"/>
                    <a:pt x="0" y="321374"/>
                    <a:pt x="0" y="292453"/>
                  </a:cubicBezTo>
                  <a:lnTo>
                    <a:pt x="0" y="52367"/>
                  </a:lnTo>
                  <a:cubicBezTo>
                    <a:pt x="0" y="23445"/>
                    <a:pt x="23445" y="0"/>
                    <a:pt x="52367" y="0"/>
                  </a:cubicBezTo>
                  <a:close/>
                </a:path>
              </a:pathLst>
            </a:custGeom>
            <a:solidFill>
              <a:srgbClr val="041E6B"/>
            </a:solidFill>
            <a:ln w="19050" cap="rnd">
              <a:solidFill>
                <a:srgbClr val="000000"/>
              </a:solidFill>
              <a:prstDash val="solid"/>
              <a:round/>
            </a:ln>
          </p:spPr>
        </p:sp>
        <p:sp>
          <p:nvSpPr>
            <p:cNvPr name="TextBox 27" id="27"/>
            <p:cNvSpPr txBox="true"/>
            <p:nvPr/>
          </p:nvSpPr>
          <p:spPr>
            <a:xfrm>
              <a:off x="0" y="-47625"/>
              <a:ext cx="1259384" cy="392444"/>
            </a:xfrm>
            <a:prstGeom prst="rect">
              <a:avLst/>
            </a:prstGeom>
          </p:spPr>
          <p:txBody>
            <a:bodyPr anchor="ctr" rtlCol="false" tIns="50800" lIns="50800" bIns="50800" rIns="50800"/>
            <a:lstStyle/>
            <a:p>
              <a:pPr algn="ctr">
                <a:lnSpc>
                  <a:spcPts val="1960"/>
                </a:lnSpc>
              </a:pPr>
            </a:p>
          </p:txBody>
        </p:sp>
      </p:grpSp>
      <p:grpSp>
        <p:nvGrpSpPr>
          <p:cNvPr name="Group 28" id="28"/>
          <p:cNvGrpSpPr/>
          <p:nvPr/>
        </p:nvGrpSpPr>
        <p:grpSpPr>
          <a:xfrm rot="0">
            <a:off x="9207943" y="4527866"/>
            <a:ext cx="3400338" cy="931012"/>
            <a:chOff x="0" y="0"/>
            <a:chExt cx="1259384" cy="344819"/>
          </a:xfrm>
        </p:grpSpPr>
        <p:sp>
          <p:nvSpPr>
            <p:cNvPr name="Freeform 29" id="29"/>
            <p:cNvSpPr/>
            <p:nvPr/>
          </p:nvSpPr>
          <p:spPr>
            <a:xfrm flipH="false" flipV="false" rot="0">
              <a:off x="0" y="0"/>
              <a:ext cx="1259384" cy="344819"/>
            </a:xfrm>
            <a:custGeom>
              <a:avLst/>
              <a:gdLst/>
              <a:ahLst/>
              <a:cxnLst/>
              <a:rect r="r" b="b" t="t" l="l"/>
              <a:pathLst>
                <a:path h="344819" w="1259384">
                  <a:moveTo>
                    <a:pt x="52367" y="0"/>
                  </a:moveTo>
                  <a:lnTo>
                    <a:pt x="1207018" y="0"/>
                  </a:lnTo>
                  <a:cubicBezTo>
                    <a:pt x="1235939" y="0"/>
                    <a:pt x="1259384" y="23445"/>
                    <a:pt x="1259384" y="52367"/>
                  </a:cubicBezTo>
                  <a:lnTo>
                    <a:pt x="1259384" y="292453"/>
                  </a:lnTo>
                  <a:cubicBezTo>
                    <a:pt x="1259384" y="321374"/>
                    <a:pt x="1235939" y="344819"/>
                    <a:pt x="1207018" y="344819"/>
                  </a:cubicBezTo>
                  <a:lnTo>
                    <a:pt x="52367" y="344819"/>
                  </a:lnTo>
                  <a:cubicBezTo>
                    <a:pt x="23445" y="344819"/>
                    <a:pt x="0" y="321374"/>
                    <a:pt x="0" y="292453"/>
                  </a:cubicBezTo>
                  <a:lnTo>
                    <a:pt x="0" y="52367"/>
                  </a:lnTo>
                  <a:cubicBezTo>
                    <a:pt x="0" y="23445"/>
                    <a:pt x="23445" y="0"/>
                    <a:pt x="52367" y="0"/>
                  </a:cubicBezTo>
                  <a:close/>
                </a:path>
              </a:pathLst>
            </a:custGeom>
            <a:solidFill>
              <a:srgbClr val="FFFFFF"/>
            </a:solidFill>
            <a:ln w="19050" cap="rnd">
              <a:solidFill>
                <a:srgbClr val="000000"/>
              </a:solidFill>
              <a:prstDash val="solid"/>
              <a:round/>
            </a:ln>
          </p:spPr>
        </p:sp>
        <p:sp>
          <p:nvSpPr>
            <p:cNvPr name="TextBox 30" id="30"/>
            <p:cNvSpPr txBox="true"/>
            <p:nvPr/>
          </p:nvSpPr>
          <p:spPr>
            <a:xfrm>
              <a:off x="0" y="-47625"/>
              <a:ext cx="1259384" cy="392444"/>
            </a:xfrm>
            <a:prstGeom prst="rect">
              <a:avLst/>
            </a:prstGeom>
          </p:spPr>
          <p:txBody>
            <a:bodyPr anchor="ctr" rtlCol="false" tIns="50800" lIns="50800" bIns="50800" rIns="50800"/>
            <a:lstStyle/>
            <a:p>
              <a:pPr algn="ctr">
                <a:lnSpc>
                  <a:spcPts val="1960"/>
                </a:lnSpc>
              </a:pPr>
            </a:p>
          </p:txBody>
        </p:sp>
      </p:grpSp>
      <p:grpSp>
        <p:nvGrpSpPr>
          <p:cNvPr name="Group 31" id="31"/>
          <p:cNvGrpSpPr/>
          <p:nvPr/>
        </p:nvGrpSpPr>
        <p:grpSpPr>
          <a:xfrm rot="0">
            <a:off x="9207943" y="7262926"/>
            <a:ext cx="3400338" cy="931012"/>
            <a:chOff x="0" y="0"/>
            <a:chExt cx="1259384" cy="344819"/>
          </a:xfrm>
        </p:grpSpPr>
        <p:sp>
          <p:nvSpPr>
            <p:cNvPr name="Freeform 32" id="32"/>
            <p:cNvSpPr/>
            <p:nvPr/>
          </p:nvSpPr>
          <p:spPr>
            <a:xfrm flipH="false" flipV="false" rot="0">
              <a:off x="0" y="0"/>
              <a:ext cx="1259384" cy="344819"/>
            </a:xfrm>
            <a:custGeom>
              <a:avLst/>
              <a:gdLst/>
              <a:ahLst/>
              <a:cxnLst/>
              <a:rect r="r" b="b" t="t" l="l"/>
              <a:pathLst>
                <a:path h="344819" w="1259384">
                  <a:moveTo>
                    <a:pt x="52367" y="0"/>
                  </a:moveTo>
                  <a:lnTo>
                    <a:pt x="1207018" y="0"/>
                  </a:lnTo>
                  <a:cubicBezTo>
                    <a:pt x="1235939" y="0"/>
                    <a:pt x="1259384" y="23445"/>
                    <a:pt x="1259384" y="52367"/>
                  </a:cubicBezTo>
                  <a:lnTo>
                    <a:pt x="1259384" y="292453"/>
                  </a:lnTo>
                  <a:cubicBezTo>
                    <a:pt x="1259384" y="321374"/>
                    <a:pt x="1235939" y="344819"/>
                    <a:pt x="1207018" y="344819"/>
                  </a:cubicBezTo>
                  <a:lnTo>
                    <a:pt x="52367" y="344819"/>
                  </a:lnTo>
                  <a:cubicBezTo>
                    <a:pt x="23445" y="344819"/>
                    <a:pt x="0" y="321374"/>
                    <a:pt x="0" y="292453"/>
                  </a:cubicBezTo>
                  <a:lnTo>
                    <a:pt x="0" y="52367"/>
                  </a:lnTo>
                  <a:cubicBezTo>
                    <a:pt x="0" y="23445"/>
                    <a:pt x="23445" y="0"/>
                    <a:pt x="52367" y="0"/>
                  </a:cubicBezTo>
                  <a:close/>
                </a:path>
              </a:pathLst>
            </a:custGeom>
            <a:solidFill>
              <a:srgbClr val="FFFFFF"/>
            </a:solidFill>
            <a:ln w="19050" cap="rnd">
              <a:solidFill>
                <a:srgbClr val="000000"/>
              </a:solidFill>
              <a:prstDash val="solid"/>
              <a:round/>
            </a:ln>
          </p:spPr>
        </p:sp>
        <p:sp>
          <p:nvSpPr>
            <p:cNvPr name="TextBox 33" id="33"/>
            <p:cNvSpPr txBox="true"/>
            <p:nvPr/>
          </p:nvSpPr>
          <p:spPr>
            <a:xfrm>
              <a:off x="0" y="-47625"/>
              <a:ext cx="1259384" cy="392444"/>
            </a:xfrm>
            <a:prstGeom prst="rect">
              <a:avLst/>
            </a:prstGeom>
          </p:spPr>
          <p:txBody>
            <a:bodyPr anchor="ctr" rtlCol="false" tIns="50800" lIns="50800" bIns="50800" rIns="50800"/>
            <a:lstStyle/>
            <a:p>
              <a:pPr algn="ctr">
                <a:lnSpc>
                  <a:spcPts val="1960"/>
                </a:lnSpc>
              </a:pPr>
            </a:p>
          </p:txBody>
        </p:sp>
      </p:grpSp>
      <p:grpSp>
        <p:nvGrpSpPr>
          <p:cNvPr name="Group 34" id="34"/>
          <p:cNvGrpSpPr/>
          <p:nvPr/>
        </p:nvGrpSpPr>
        <p:grpSpPr>
          <a:xfrm rot="0">
            <a:off x="9556162" y="5893764"/>
            <a:ext cx="3400338" cy="931012"/>
            <a:chOff x="0" y="0"/>
            <a:chExt cx="1259384" cy="344819"/>
          </a:xfrm>
        </p:grpSpPr>
        <p:sp>
          <p:nvSpPr>
            <p:cNvPr name="Freeform 35" id="35"/>
            <p:cNvSpPr/>
            <p:nvPr/>
          </p:nvSpPr>
          <p:spPr>
            <a:xfrm flipH="false" flipV="false" rot="0">
              <a:off x="0" y="0"/>
              <a:ext cx="1259384" cy="344819"/>
            </a:xfrm>
            <a:custGeom>
              <a:avLst/>
              <a:gdLst/>
              <a:ahLst/>
              <a:cxnLst/>
              <a:rect r="r" b="b" t="t" l="l"/>
              <a:pathLst>
                <a:path h="344819" w="1259384">
                  <a:moveTo>
                    <a:pt x="52367" y="0"/>
                  </a:moveTo>
                  <a:lnTo>
                    <a:pt x="1207018" y="0"/>
                  </a:lnTo>
                  <a:cubicBezTo>
                    <a:pt x="1235939" y="0"/>
                    <a:pt x="1259384" y="23445"/>
                    <a:pt x="1259384" y="52367"/>
                  </a:cubicBezTo>
                  <a:lnTo>
                    <a:pt x="1259384" y="292453"/>
                  </a:lnTo>
                  <a:cubicBezTo>
                    <a:pt x="1259384" y="321374"/>
                    <a:pt x="1235939" y="344819"/>
                    <a:pt x="1207018" y="344819"/>
                  </a:cubicBezTo>
                  <a:lnTo>
                    <a:pt x="52367" y="344819"/>
                  </a:lnTo>
                  <a:cubicBezTo>
                    <a:pt x="23445" y="344819"/>
                    <a:pt x="0" y="321374"/>
                    <a:pt x="0" y="292453"/>
                  </a:cubicBezTo>
                  <a:lnTo>
                    <a:pt x="0" y="52367"/>
                  </a:lnTo>
                  <a:cubicBezTo>
                    <a:pt x="0" y="23445"/>
                    <a:pt x="23445" y="0"/>
                    <a:pt x="52367" y="0"/>
                  </a:cubicBezTo>
                  <a:close/>
                </a:path>
              </a:pathLst>
            </a:custGeom>
            <a:solidFill>
              <a:srgbClr val="041E6B"/>
            </a:solidFill>
            <a:ln w="19050" cap="rnd">
              <a:solidFill>
                <a:srgbClr val="000000"/>
              </a:solidFill>
              <a:prstDash val="solid"/>
              <a:round/>
            </a:ln>
          </p:spPr>
        </p:sp>
        <p:sp>
          <p:nvSpPr>
            <p:cNvPr name="TextBox 36" id="36"/>
            <p:cNvSpPr txBox="true"/>
            <p:nvPr/>
          </p:nvSpPr>
          <p:spPr>
            <a:xfrm>
              <a:off x="0" y="-47625"/>
              <a:ext cx="1259384" cy="392444"/>
            </a:xfrm>
            <a:prstGeom prst="rect">
              <a:avLst/>
            </a:prstGeom>
          </p:spPr>
          <p:txBody>
            <a:bodyPr anchor="ctr" rtlCol="false" tIns="50800" lIns="50800" bIns="50800" rIns="50800"/>
            <a:lstStyle/>
            <a:p>
              <a:pPr algn="ctr">
                <a:lnSpc>
                  <a:spcPts val="1960"/>
                </a:lnSpc>
              </a:pPr>
            </a:p>
          </p:txBody>
        </p:sp>
      </p:grpSp>
      <p:sp>
        <p:nvSpPr>
          <p:cNvPr name="AutoShape 37" id="37"/>
          <p:cNvSpPr/>
          <p:nvPr/>
        </p:nvSpPr>
        <p:spPr>
          <a:xfrm flipV="true">
            <a:off x="7780018" y="4016232"/>
            <a:ext cx="404761" cy="701067"/>
          </a:xfrm>
          <a:prstGeom prst="line">
            <a:avLst/>
          </a:prstGeom>
          <a:ln cap="flat" w="47625">
            <a:solidFill>
              <a:srgbClr val="000000"/>
            </a:solidFill>
            <a:prstDash val="solid"/>
            <a:headEnd type="none" len="sm" w="sm"/>
            <a:tailEnd type="none" len="sm" w="sm"/>
          </a:ln>
        </p:spPr>
      </p:sp>
      <p:sp>
        <p:nvSpPr>
          <p:cNvPr name="AutoShape 38" id="38"/>
          <p:cNvSpPr/>
          <p:nvPr/>
        </p:nvSpPr>
        <p:spPr>
          <a:xfrm>
            <a:off x="7800640" y="8043215"/>
            <a:ext cx="404761" cy="701067"/>
          </a:xfrm>
          <a:prstGeom prst="line">
            <a:avLst/>
          </a:prstGeom>
          <a:ln cap="flat" w="47625">
            <a:solidFill>
              <a:srgbClr val="000000"/>
            </a:solidFill>
            <a:prstDash val="solid"/>
            <a:headEnd type="none" len="sm" w="sm"/>
            <a:tailEnd type="none" len="sm" w="sm"/>
          </a:ln>
        </p:spPr>
      </p:sp>
      <p:sp>
        <p:nvSpPr>
          <p:cNvPr name="AutoShape 39" id="39"/>
          <p:cNvSpPr/>
          <p:nvPr/>
        </p:nvSpPr>
        <p:spPr>
          <a:xfrm flipV="true">
            <a:off x="8549395" y="4961051"/>
            <a:ext cx="699610" cy="407275"/>
          </a:xfrm>
          <a:prstGeom prst="line">
            <a:avLst/>
          </a:prstGeom>
          <a:ln cap="flat" w="47625">
            <a:solidFill>
              <a:srgbClr val="000000"/>
            </a:solidFill>
            <a:prstDash val="solid"/>
            <a:headEnd type="none" len="sm" w="sm"/>
            <a:tailEnd type="none" len="sm" w="sm"/>
          </a:ln>
        </p:spPr>
      </p:sp>
      <p:sp>
        <p:nvSpPr>
          <p:cNvPr name="AutoShape 40" id="40"/>
          <p:cNvSpPr/>
          <p:nvPr/>
        </p:nvSpPr>
        <p:spPr>
          <a:xfrm>
            <a:off x="8602995" y="7377992"/>
            <a:ext cx="699650" cy="407206"/>
          </a:xfrm>
          <a:prstGeom prst="line">
            <a:avLst/>
          </a:prstGeom>
          <a:ln cap="flat" w="47625">
            <a:solidFill>
              <a:srgbClr val="000000"/>
            </a:solidFill>
            <a:prstDash val="solid"/>
            <a:headEnd type="none" len="sm" w="sm"/>
            <a:tailEnd type="none" len="sm" w="sm"/>
          </a:ln>
        </p:spPr>
      </p:sp>
      <p:sp>
        <p:nvSpPr>
          <p:cNvPr name="AutoShape 41" id="41"/>
          <p:cNvSpPr/>
          <p:nvPr/>
        </p:nvSpPr>
        <p:spPr>
          <a:xfrm>
            <a:off x="8778446" y="6359182"/>
            <a:ext cx="809523" cy="0"/>
          </a:xfrm>
          <a:prstGeom prst="line">
            <a:avLst/>
          </a:prstGeom>
          <a:ln cap="flat" w="47625">
            <a:solidFill>
              <a:srgbClr val="000000"/>
            </a:solidFill>
            <a:prstDash val="solid"/>
            <a:headEnd type="none" len="sm" w="sm"/>
            <a:tailEnd type="none" len="sm" w="sm"/>
          </a:ln>
        </p:spPr>
      </p:sp>
      <p:grpSp>
        <p:nvGrpSpPr>
          <p:cNvPr name="Group 42" id="42"/>
          <p:cNvGrpSpPr/>
          <p:nvPr/>
        </p:nvGrpSpPr>
        <p:grpSpPr>
          <a:xfrm rot="0">
            <a:off x="7968188" y="3345764"/>
            <a:ext cx="931012" cy="931012"/>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sp>
        <p:sp>
          <p:nvSpPr>
            <p:cNvPr name="TextBox 44" id="44"/>
            <p:cNvSpPr txBox="true"/>
            <p:nvPr/>
          </p:nvSpPr>
          <p:spPr>
            <a:xfrm>
              <a:off x="76200" y="28575"/>
              <a:ext cx="660400" cy="708025"/>
            </a:xfrm>
            <a:prstGeom prst="rect">
              <a:avLst/>
            </a:prstGeom>
          </p:spPr>
          <p:txBody>
            <a:bodyPr anchor="ctr" rtlCol="false" tIns="50800" lIns="50800" bIns="50800" rIns="50800"/>
            <a:lstStyle/>
            <a:p>
              <a:pPr algn="ctr">
                <a:lnSpc>
                  <a:spcPts val="1960"/>
                </a:lnSpc>
              </a:pPr>
            </a:p>
          </p:txBody>
        </p:sp>
      </p:grpSp>
      <p:grpSp>
        <p:nvGrpSpPr>
          <p:cNvPr name="Group 45" id="45"/>
          <p:cNvGrpSpPr/>
          <p:nvPr/>
        </p:nvGrpSpPr>
        <p:grpSpPr>
          <a:xfrm rot="0">
            <a:off x="7673339" y="4564061"/>
            <a:ext cx="241510" cy="241510"/>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41E6B"/>
            </a:solidFill>
            <a:ln cap="sq">
              <a:noFill/>
              <a:prstDash val="solid"/>
              <a:miter/>
            </a:ln>
          </p:spPr>
        </p:sp>
        <p:sp>
          <p:nvSpPr>
            <p:cNvPr name="TextBox 47" id="47"/>
            <p:cNvSpPr txBox="true"/>
            <p:nvPr/>
          </p:nvSpPr>
          <p:spPr>
            <a:xfrm>
              <a:off x="76200" y="28575"/>
              <a:ext cx="660400" cy="708025"/>
            </a:xfrm>
            <a:prstGeom prst="rect">
              <a:avLst/>
            </a:prstGeom>
          </p:spPr>
          <p:txBody>
            <a:bodyPr anchor="ctr" rtlCol="false" tIns="50800" lIns="50800" bIns="50800" rIns="50800"/>
            <a:lstStyle/>
            <a:p>
              <a:pPr algn="ctr">
                <a:lnSpc>
                  <a:spcPts val="1960"/>
                </a:lnSpc>
              </a:pPr>
            </a:p>
          </p:txBody>
        </p:sp>
      </p:grpSp>
      <p:grpSp>
        <p:nvGrpSpPr>
          <p:cNvPr name="Group 48" id="48"/>
          <p:cNvGrpSpPr/>
          <p:nvPr/>
        </p:nvGrpSpPr>
        <p:grpSpPr>
          <a:xfrm rot="0">
            <a:off x="7673339" y="7910553"/>
            <a:ext cx="241510" cy="241510"/>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41E6B"/>
            </a:solidFill>
            <a:ln cap="sq">
              <a:noFill/>
              <a:prstDash val="solid"/>
              <a:miter/>
            </a:ln>
          </p:spPr>
        </p:sp>
        <p:sp>
          <p:nvSpPr>
            <p:cNvPr name="TextBox 50" id="50"/>
            <p:cNvSpPr txBox="true"/>
            <p:nvPr/>
          </p:nvSpPr>
          <p:spPr>
            <a:xfrm>
              <a:off x="76200" y="28575"/>
              <a:ext cx="660400" cy="708025"/>
            </a:xfrm>
            <a:prstGeom prst="rect">
              <a:avLst/>
            </a:prstGeom>
          </p:spPr>
          <p:txBody>
            <a:bodyPr anchor="ctr" rtlCol="false" tIns="50800" lIns="50800" bIns="50800" rIns="50800"/>
            <a:lstStyle/>
            <a:p>
              <a:pPr algn="ctr">
                <a:lnSpc>
                  <a:spcPts val="1960"/>
                </a:lnSpc>
              </a:pPr>
            </a:p>
          </p:txBody>
        </p:sp>
      </p:grpSp>
      <p:grpSp>
        <p:nvGrpSpPr>
          <p:cNvPr name="Group 51" id="51"/>
          <p:cNvGrpSpPr/>
          <p:nvPr/>
        </p:nvGrpSpPr>
        <p:grpSpPr>
          <a:xfrm rot="0">
            <a:off x="8379281" y="5268151"/>
            <a:ext cx="241510" cy="241510"/>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name="TextBox 53" id="53"/>
            <p:cNvSpPr txBox="true"/>
            <p:nvPr/>
          </p:nvSpPr>
          <p:spPr>
            <a:xfrm>
              <a:off x="76200" y="28575"/>
              <a:ext cx="660400" cy="708025"/>
            </a:xfrm>
            <a:prstGeom prst="rect">
              <a:avLst/>
            </a:prstGeom>
          </p:spPr>
          <p:txBody>
            <a:bodyPr anchor="ctr" rtlCol="false" tIns="50800" lIns="50800" bIns="50800" rIns="50800"/>
            <a:lstStyle/>
            <a:p>
              <a:pPr algn="ctr">
                <a:lnSpc>
                  <a:spcPts val="1960"/>
                </a:lnSpc>
              </a:pPr>
            </a:p>
          </p:txBody>
        </p:sp>
      </p:grpSp>
      <p:grpSp>
        <p:nvGrpSpPr>
          <p:cNvPr name="Group 54" id="54"/>
          <p:cNvGrpSpPr/>
          <p:nvPr/>
        </p:nvGrpSpPr>
        <p:grpSpPr>
          <a:xfrm rot="0">
            <a:off x="8379281" y="7212782"/>
            <a:ext cx="241510" cy="241510"/>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name="TextBox 56" id="56"/>
            <p:cNvSpPr txBox="true"/>
            <p:nvPr/>
          </p:nvSpPr>
          <p:spPr>
            <a:xfrm>
              <a:off x="76200" y="28575"/>
              <a:ext cx="660400" cy="708025"/>
            </a:xfrm>
            <a:prstGeom prst="rect">
              <a:avLst/>
            </a:prstGeom>
          </p:spPr>
          <p:txBody>
            <a:bodyPr anchor="ctr" rtlCol="false" tIns="50800" lIns="50800" bIns="50800" rIns="50800"/>
            <a:lstStyle/>
            <a:p>
              <a:pPr algn="ctr">
                <a:lnSpc>
                  <a:spcPts val="1960"/>
                </a:lnSpc>
              </a:pPr>
            </a:p>
          </p:txBody>
        </p:sp>
      </p:grpSp>
      <p:grpSp>
        <p:nvGrpSpPr>
          <p:cNvPr name="Group 57" id="57"/>
          <p:cNvGrpSpPr/>
          <p:nvPr/>
        </p:nvGrpSpPr>
        <p:grpSpPr>
          <a:xfrm rot="0">
            <a:off x="8638641" y="6238427"/>
            <a:ext cx="241510" cy="241510"/>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41E6B"/>
            </a:solidFill>
            <a:ln cap="sq">
              <a:noFill/>
              <a:prstDash val="solid"/>
              <a:miter/>
            </a:ln>
          </p:spPr>
        </p:sp>
        <p:sp>
          <p:nvSpPr>
            <p:cNvPr name="TextBox 59" id="59"/>
            <p:cNvSpPr txBox="true"/>
            <p:nvPr/>
          </p:nvSpPr>
          <p:spPr>
            <a:xfrm>
              <a:off x="76200" y="28575"/>
              <a:ext cx="660400" cy="708025"/>
            </a:xfrm>
            <a:prstGeom prst="rect">
              <a:avLst/>
            </a:prstGeom>
          </p:spPr>
          <p:txBody>
            <a:bodyPr anchor="ctr" rtlCol="false" tIns="50800" lIns="50800" bIns="50800" rIns="50800"/>
            <a:lstStyle/>
            <a:p>
              <a:pPr algn="ctr">
                <a:lnSpc>
                  <a:spcPts val="1960"/>
                </a:lnSpc>
              </a:pPr>
            </a:p>
          </p:txBody>
        </p:sp>
      </p:grpSp>
      <p:grpSp>
        <p:nvGrpSpPr>
          <p:cNvPr name="Group 60" id="60"/>
          <p:cNvGrpSpPr/>
          <p:nvPr/>
        </p:nvGrpSpPr>
        <p:grpSpPr>
          <a:xfrm rot="0">
            <a:off x="7968188" y="8441588"/>
            <a:ext cx="931012" cy="931012"/>
            <a:chOff x="0" y="0"/>
            <a:chExt cx="812800" cy="812800"/>
          </a:xfrm>
        </p:grpSpPr>
        <p:sp>
          <p:nvSpPr>
            <p:cNvPr name="Freeform 61" id="6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sp>
        <p:sp>
          <p:nvSpPr>
            <p:cNvPr name="TextBox 62" id="62"/>
            <p:cNvSpPr txBox="true"/>
            <p:nvPr/>
          </p:nvSpPr>
          <p:spPr>
            <a:xfrm>
              <a:off x="76200" y="28575"/>
              <a:ext cx="660400" cy="708025"/>
            </a:xfrm>
            <a:prstGeom prst="rect">
              <a:avLst/>
            </a:prstGeom>
          </p:spPr>
          <p:txBody>
            <a:bodyPr anchor="ctr" rtlCol="false" tIns="50800" lIns="50800" bIns="50800" rIns="50800"/>
            <a:lstStyle/>
            <a:p>
              <a:pPr algn="ctr">
                <a:lnSpc>
                  <a:spcPts val="1960"/>
                </a:lnSpc>
              </a:pPr>
            </a:p>
          </p:txBody>
        </p:sp>
      </p:grpSp>
      <p:grpSp>
        <p:nvGrpSpPr>
          <p:cNvPr name="Group 63" id="63"/>
          <p:cNvGrpSpPr/>
          <p:nvPr/>
        </p:nvGrpSpPr>
        <p:grpSpPr>
          <a:xfrm rot="0">
            <a:off x="9004770" y="4527866"/>
            <a:ext cx="931012" cy="931012"/>
            <a:chOff x="0" y="0"/>
            <a:chExt cx="812800" cy="812800"/>
          </a:xfrm>
        </p:grpSpPr>
        <p:sp>
          <p:nvSpPr>
            <p:cNvPr name="Freeform 64" id="6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CFFD"/>
            </a:solidFill>
            <a:ln w="19050" cap="sq">
              <a:solidFill>
                <a:srgbClr val="000000"/>
              </a:solidFill>
              <a:prstDash val="solid"/>
              <a:miter/>
            </a:ln>
          </p:spPr>
        </p:sp>
        <p:sp>
          <p:nvSpPr>
            <p:cNvPr name="TextBox 65" id="65"/>
            <p:cNvSpPr txBox="true"/>
            <p:nvPr/>
          </p:nvSpPr>
          <p:spPr>
            <a:xfrm>
              <a:off x="76200" y="28575"/>
              <a:ext cx="660400" cy="708025"/>
            </a:xfrm>
            <a:prstGeom prst="rect">
              <a:avLst/>
            </a:prstGeom>
          </p:spPr>
          <p:txBody>
            <a:bodyPr anchor="ctr" rtlCol="false" tIns="50800" lIns="50800" bIns="50800" rIns="50800"/>
            <a:lstStyle/>
            <a:p>
              <a:pPr algn="ctr">
                <a:lnSpc>
                  <a:spcPts val="1960"/>
                </a:lnSpc>
              </a:pPr>
            </a:p>
          </p:txBody>
        </p:sp>
      </p:grpSp>
      <p:grpSp>
        <p:nvGrpSpPr>
          <p:cNvPr name="Group 66" id="66"/>
          <p:cNvGrpSpPr/>
          <p:nvPr/>
        </p:nvGrpSpPr>
        <p:grpSpPr>
          <a:xfrm rot="0">
            <a:off x="9004770" y="7262926"/>
            <a:ext cx="931012" cy="931012"/>
            <a:chOff x="0" y="0"/>
            <a:chExt cx="812800" cy="812800"/>
          </a:xfrm>
        </p:grpSpPr>
        <p:sp>
          <p:nvSpPr>
            <p:cNvPr name="Freeform 67" id="6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CFFD"/>
            </a:solidFill>
            <a:ln w="19050" cap="sq">
              <a:solidFill>
                <a:srgbClr val="000000"/>
              </a:solidFill>
              <a:prstDash val="solid"/>
              <a:miter/>
            </a:ln>
          </p:spPr>
        </p:sp>
        <p:sp>
          <p:nvSpPr>
            <p:cNvPr name="TextBox 68" id="68"/>
            <p:cNvSpPr txBox="true"/>
            <p:nvPr/>
          </p:nvSpPr>
          <p:spPr>
            <a:xfrm>
              <a:off x="76200" y="28575"/>
              <a:ext cx="660400" cy="708025"/>
            </a:xfrm>
            <a:prstGeom prst="rect">
              <a:avLst/>
            </a:prstGeom>
          </p:spPr>
          <p:txBody>
            <a:bodyPr anchor="ctr" rtlCol="false" tIns="50800" lIns="50800" bIns="50800" rIns="50800"/>
            <a:lstStyle/>
            <a:p>
              <a:pPr algn="ctr">
                <a:lnSpc>
                  <a:spcPts val="1960"/>
                </a:lnSpc>
              </a:pPr>
            </a:p>
          </p:txBody>
        </p:sp>
      </p:grpSp>
      <p:grpSp>
        <p:nvGrpSpPr>
          <p:cNvPr name="Group 69" id="69"/>
          <p:cNvGrpSpPr/>
          <p:nvPr/>
        </p:nvGrpSpPr>
        <p:grpSpPr>
          <a:xfrm rot="0">
            <a:off x="9352989" y="5893764"/>
            <a:ext cx="931012" cy="931012"/>
            <a:chOff x="0" y="0"/>
            <a:chExt cx="812800" cy="812800"/>
          </a:xfrm>
        </p:grpSpPr>
        <p:sp>
          <p:nvSpPr>
            <p:cNvPr name="Freeform 70" id="7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sp>
        <p:sp>
          <p:nvSpPr>
            <p:cNvPr name="TextBox 71" id="71"/>
            <p:cNvSpPr txBox="true"/>
            <p:nvPr/>
          </p:nvSpPr>
          <p:spPr>
            <a:xfrm>
              <a:off x="76200" y="28575"/>
              <a:ext cx="660400" cy="708025"/>
            </a:xfrm>
            <a:prstGeom prst="rect">
              <a:avLst/>
            </a:prstGeom>
          </p:spPr>
          <p:txBody>
            <a:bodyPr anchor="ctr" rtlCol="false" tIns="50800" lIns="50800" bIns="50800" rIns="50800"/>
            <a:lstStyle/>
            <a:p>
              <a:pPr algn="ctr">
                <a:lnSpc>
                  <a:spcPts val="1960"/>
                </a:lnSpc>
              </a:pPr>
            </a:p>
          </p:txBody>
        </p:sp>
      </p:grpSp>
      <p:sp>
        <p:nvSpPr>
          <p:cNvPr name="Freeform 72" id="72"/>
          <p:cNvSpPr/>
          <p:nvPr/>
        </p:nvSpPr>
        <p:spPr>
          <a:xfrm flipH="false" flipV="false" rot="0">
            <a:off x="8108197" y="3476567"/>
            <a:ext cx="650996" cy="669404"/>
          </a:xfrm>
          <a:custGeom>
            <a:avLst/>
            <a:gdLst/>
            <a:ahLst/>
            <a:cxnLst/>
            <a:rect r="r" b="b" t="t" l="l"/>
            <a:pathLst>
              <a:path h="669404" w="650996">
                <a:moveTo>
                  <a:pt x="0" y="0"/>
                </a:moveTo>
                <a:lnTo>
                  <a:pt x="650995" y="0"/>
                </a:lnTo>
                <a:lnTo>
                  <a:pt x="650995" y="669405"/>
                </a:lnTo>
                <a:lnTo>
                  <a:pt x="0" y="6694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3" id="73"/>
          <p:cNvSpPr/>
          <p:nvPr/>
        </p:nvSpPr>
        <p:spPr>
          <a:xfrm flipH="false" flipV="false" rot="0">
            <a:off x="9167468" y="4652187"/>
            <a:ext cx="651027" cy="651027"/>
          </a:xfrm>
          <a:custGeom>
            <a:avLst/>
            <a:gdLst/>
            <a:ahLst/>
            <a:cxnLst/>
            <a:rect r="r" b="b" t="t" l="l"/>
            <a:pathLst>
              <a:path h="651027" w="651027">
                <a:moveTo>
                  <a:pt x="0" y="0"/>
                </a:moveTo>
                <a:lnTo>
                  <a:pt x="651027" y="0"/>
                </a:lnTo>
                <a:lnTo>
                  <a:pt x="651027" y="651027"/>
                </a:lnTo>
                <a:lnTo>
                  <a:pt x="0" y="651027"/>
                </a:lnTo>
                <a:lnTo>
                  <a:pt x="0" y="0"/>
                </a:lnTo>
                <a:close/>
              </a:path>
            </a:pathLst>
          </a:custGeom>
          <a:blipFill>
            <a:blip r:embed="rId5"/>
            <a:stretch>
              <a:fillRect l="0" t="0" r="0" b="0"/>
            </a:stretch>
          </a:blipFill>
        </p:spPr>
      </p:sp>
      <p:sp>
        <p:nvSpPr>
          <p:cNvPr name="Freeform 74" id="74"/>
          <p:cNvSpPr/>
          <p:nvPr/>
        </p:nvSpPr>
        <p:spPr>
          <a:xfrm flipH="false" flipV="false" rot="0">
            <a:off x="9470276" y="6046347"/>
            <a:ext cx="687823" cy="687823"/>
          </a:xfrm>
          <a:custGeom>
            <a:avLst/>
            <a:gdLst/>
            <a:ahLst/>
            <a:cxnLst/>
            <a:rect r="r" b="b" t="t" l="l"/>
            <a:pathLst>
              <a:path h="687823" w="687823">
                <a:moveTo>
                  <a:pt x="0" y="0"/>
                </a:moveTo>
                <a:lnTo>
                  <a:pt x="687822" y="0"/>
                </a:lnTo>
                <a:lnTo>
                  <a:pt x="687822" y="687823"/>
                </a:lnTo>
                <a:lnTo>
                  <a:pt x="0" y="687823"/>
                </a:lnTo>
                <a:lnTo>
                  <a:pt x="0" y="0"/>
                </a:lnTo>
                <a:close/>
              </a:path>
            </a:pathLst>
          </a:custGeom>
          <a:blipFill>
            <a:blip r:embed="rId6"/>
            <a:stretch>
              <a:fillRect l="0" t="0" r="0" b="0"/>
            </a:stretch>
          </a:blipFill>
        </p:spPr>
      </p:sp>
      <p:sp>
        <p:nvSpPr>
          <p:cNvPr name="Freeform 75" id="75"/>
          <p:cNvSpPr/>
          <p:nvPr/>
        </p:nvSpPr>
        <p:spPr>
          <a:xfrm flipH="false" flipV="false" rot="0">
            <a:off x="9144000" y="7415326"/>
            <a:ext cx="608788" cy="635809"/>
          </a:xfrm>
          <a:custGeom>
            <a:avLst/>
            <a:gdLst/>
            <a:ahLst/>
            <a:cxnLst/>
            <a:rect r="r" b="b" t="t" l="l"/>
            <a:pathLst>
              <a:path h="635809" w="608788">
                <a:moveTo>
                  <a:pt x="0" y="0"/>
                </a:moveTo>
                <a:lnTo>
                  <a:pt x="608788" y="0"/>
                </a:lnTo>
                <a:lnTo>
                  <a:pt x="608788" y="635809"/>
                </a:lnTo>
                <a:lnTo>
                  <a:pt x="0" y="635809"/>
                </a:lnTo>
                <a:lnTo>
                  <a:pt x="0" y="0"/>
                </a:lnTo>
                <a:close/>
              </a:path>
            </a:pathLst>
          </a:custGeom>
          <a:blipFill>
            <a:blip r:embed="rId7"/>
            <a:stretch>
              <a:fillRect l="0" t="0" r="0" b="0"/>
            </a:stretch>
          </a:blipFill>
        </p:spPr>
      </p:sp>
      <p:sp>
        <p:nvSpPr>
          <p:cNvPr name="Freeform 76" id="76"/>
          <p:cNvSpPr/>
          <p:nvPr/>
        </p:nvSpPr>
        <p:spPr>
          <a:xfrm flipH="false" flipV="false" rot="0">
            <a:off x="8129826" y="8582784"/>
            <a:ext cx="648620" cy="648620"/>
          </a:xfrm>
          <a:custGeom>
            <a:avLst/>
            <a:gdLst/>
            <a:ahLst/>
            <a:cxnLst/>
            <a:rect r="r" b="b" t="t" l="l"/>
            <a:pathLst>
              <a:path h="648620" w="648620">
                <a:moveTo>
                  <a:pt x="0" y="0"/>
                </a:moveTo>
                <a:lnTo>
                  <a:pt x="648620" y="0"/>
                </a:lnTo>
                <a:lnTo>
                  <a:pt x="648620" y="648620"/>
                </a:lnTo>
                <a:lnTo>
                  <a:pt x="0" y="648620"/>
                </a:lnTo>
                <a:lnTo>
                  <a:pt x="0" y="0"/>
                </a:lnTo>
                <a:close/>
              </a:path>
            </a:pathLst>
          </a:custGeom>
          <a:blipFill>
            <a:blip r:embed="rId8"/>
            <a:stretch>
              <a:fillRect l="0" t="0" r="0" b="0"/>
            </a:stretch>
          </a:blipFill>
        </p:spPr>
      </p:sp>
      <p:sp>
        <p:nvSpPr>
          <p:cNvPr name="TextBox 77" id="77"/>
          <p:cNvSpPr txBox="true"/>
          <p:nvPr/>
        </p:nvSpPr>
        <p:spPr>
          <a:xfrm rot="0">
            <a:off x="796892" y="571500"/>
            <a:ext cx="5058189" cy="885825"/>
          </a:xfrm>
          <a:prstGeom prst="rect">
            <a:avLst/>
          </a:prstGeom>
        </p:spPr>
        <p:txBody>
          <a:bodyPr anchor="t" rtlCol="false" tIns="0" lIns="0" bIns="0" rIns="0">
            <a:spAutoFit/>
          </a:bodyPr>
          <a:lstStyle/>
          <a:p>
            <a:pPr algn="ctr">
              <a:lnSpc>
                <a:spcPts val="6763"/>
              </a:lnSpc>
              <a:spcBef>
                <a:spcPct val="0"/>
              </a:spcBef>
            </a:pPr>
            <a:r>
              <a:rPr lang="en-US" b="true" sz="5636">
                <a:solidFill>
                  <a:srgbClr val="041E6B"/>
                </a:solidFill>
                <a:latin typeface="Arimo Bold"/>
                <a:ea typeface="Arimo Bold"/>
                <a:cs typeface="Arimo Bold"/>
                <a:sym typeface="Arimo Bold"/>
              </a:rPr>
              <a:t>5.1 NOVELTY</a:t>
            </a:r>
          </a:p>
        </p:txBody>
      </p:sp>
      <p:sp>
        <p:nvSpPr>
          <p:cNvPr name="TextBox 78" id="78"/>
          <p:cNvSpPr txBox="true"/>
          <p:nvPr/>
        </p:nvSpPr>
        <p:spPr>
          <a:xfrm rot="0">
            <a:off x="9059250" y="3561239"/>
            <a:ext cx="2215089" cy="509586"/>
          </a:xfrm>
          <a:prstGeom prst="rect">
            <a:avLst/>
          </a:prstGeom>
        </p:spPr>
        <p:txBody>
          <a:bodyPr anchor="t" rtlCol="false" tIns="0" lIns="0" bIns="0" rIns="0">
            <a:spAutoFit/>
          </a:bodyPr>
          <a:lstStyle/>
          <a:p>
            <a:pPr algn="ctr">
              <a:lnSpc>
                <a:spcPts val="1912"/>
              </a:lnSpc>
            </a:pPr>
            <a:r>
              <a:rPr lang="en-US" sz="1874">
                <a:solidFill>
                  <a:srgbClr val="FFFFFF"/>
                </a:solidFill>
                <a:latin typeface="Poppins"/>
                <a:ea typeface="Poppins"/>
                <a:cs typeface="Poppins"/>
                <a:sym typeface="Poppins"/>
              </a:rPr>
              <a:t>INTELLIGENT SPEED CONTROL SYSTEM</a:t>
            </a:r>
          </a:p>
        </p:txBody>
      </p:sp>
      <p:sp>
        <p:nvSpPr>
          <p:cNvPr name="TextBox 79" id="79"/>
          <p:cNvSpPr txBox="true"/>
          <p:nvPr/>
        </p:nvSpPr>
        <p:spPr>
          <a:xfrm rot="0">
            <a:off x="9927567" y="4862404"/>
            <a:ext cx="2657529" cy="271461"/>
          </a:xfrm>
          <a:prstGeom prst="rect">
            <a:avLst/>
          </a:prstGeom>
        </p:spPr>
        <p:txBody>
          <a:bodyPr anchor="t" rtlCol="false" tIns="0" lIns="0" bIns="0" rIns="0">
            <a:spAutoFit/>
          </a:bodyPr>
          <a:lstStyle/>
          <a:p>
            <a:pPr algn="ctr">
              <a:lnSpc>
                <a:spcPts val="1912"/>
              </a:lnSpc>
            </a:pPr>
            <a:r>
              <a:rPr lang="en-US" sz="1874">
                <a:solidFill>
                  <a:srgbClr val="000000"/>
                </a:solidFill>
                <a:latin typeface="Poppins"/>
                <a:ea typeface="Poppins"/>
                <a:cs typeface="Poppins"/>
                <a:sym typeface="Poppins"/>
              </a:rPr>
              <a:t>OBSTACLE DETECTION</a:t>
            </a:r>
          </a:p>
        </p:txBody>
      </p:sp>
      <p:sp>
        <p:nvSpPr>
          <p:cNvPr name="TextBox 80" id="80"/>
          <p:cNvSpPr txBox="true"/>
          <p:nvPr/>
        </p:nvSpPr>
        <p:spPr>
          <a:xfrm rot="0">
            <a:off x="9905775" y="7510576"/>
            <a:ext cx="2679320" cy="509586"/>
          </a:xfrm>
          <a:prstGeom prst="rect">
            <a:avLst/>
          </a:prstGeom>
        </p:spPr>
        <p:txBody>
          <a:bodyPr anchor="t" rtlCol="false" tIns="0" lIns="0" bIns="0" rIns="0">
            <a:spAutoFit/>
          </a:bodyPr>
          <a:lstStyle/>
          <a:p>
            <a:pPr algn="ctr">
              <a:lnSpc>
                <a:spcPts val="1912"/>
              </a:lnSpc>
            </a:pPr>
            <a:r>
              <a:rPr lang="en-US" sz="1874">
                <a:solidFill>
                  <a:srgbClr val="000000"/>
                </a:solidFill>
                <a:latin typeface="Poppins"/>
                <a:ea typeface="Poppins"/>
                <a:cs typeface="Poppins"/>
                <a:sym typeface="Poppins"/>
              </a:rPr>
              <a:t>ENERGY SAVING FEATURES</a:t>
            </a:r>
          </a:p>
        </p:txBody>
      </p:sp>
      <p:sp>
        <p:nvSpPr>
          <p:cNvPr name="TextBox 81" id="81"/>
          <p:cNvSpPr txBox="true"/>
          <p:nvPr/>
        </p:nvSpPr>
        <p:spPr>
          <a:xfrm rot="0">
            <a:off x="9144000" y="8538001"/>
            <a:ext cx="2145895" cy="747711"/>
          </a:xfrm>
          <a:prstGeom prst="rect">
            <a:avLst/>
          </a:prstGeom>
        </p:spPr>
        <p:txBody>
          <a:bodyPr anchor="t" rtlCol="false" tIns="0" lIns="0" bIns="0" rIns="0">
            <a:spAutoFit/>
          </a:bodyPr>
          <a:lstStyle/>
          <a:p>
            <a:pPr algn="ctr">
              <a:lnSpc>
                <a:spcPts val="1912"/>
              </a:lnSpc>
            </a:pPr>
            <a:r>
              <a:rPr lang="en-US" sz="1874">
                <a:solidFill>
                  <a:srgbClr val="FFFFFF"/>
                </a:solidFill>
                <a:latin typeface="Poppins"/>
                <a:ea typeface="Poppins"/>
                <a:cs typeface="Poppins"/>
                <a:sym typeface="Poppins"/>
              </a:rPr>
              <a:t>DATA-DRIVEN MONITORING SYSTEM </a:t>
            </a:r>
          </a:p>
        </p:txBody>
      </p:sp>
      <p:sp>
        <p:nvSpPr>
          <p:cNvPr name="TextBox 82" id="82"/>
          <p:cNvSpPr txBox="true"/>
          <p:nvPr/>
        </p:nvSpPr>
        <p:spPr>
          <a:xfrm rot="0">
            <a:off x="10216948" y="6140228"/>
            <a:ext cx="2732400" cy="509586"/>
          </a:xfrm>
          <a:prstGeom prst="rect">
            <a:avLst/>
          </a:prstGeom>
        </p:spPr>
        <p:txBody>
          <a:bodyPr anchor="t" rtlCol="false" tIns="0" lIns="0" bIns="0" rIns="0">
            <a:spAutoFit/>
          </a:bodyPr>
          <a:lstStyle/>
          <a:p>
            <a:pPr algn="ctr">
              <a:lnSpc>
                <a:spcPts val="1912"/>
              </a:lnSpc>
            </a:pPr>
            <a:r>
              <a:rPr lang="en-US" sz="1874">
                <a:solidFill>
                  <a:srgbClr val="FFFFFF"/>
                </a:solidFill>
                <a:latin typeface="Poppins"/>
                <a:ea typeface="Poppins"/>
                <a:cs typeface="Poppins"/>
                <a:sym typeface="Poppins"/>
              </a:rPr>
              <a:t>ENHANCED SAFETY FEATURES</a:t>
            </a:r>
          </a:p>
        </p:txBody>
      </p:sp>
      <p:sp>
        <p:nvSpPr>
          <p:cNvPr name="TextBox 83" id="83"/>
          <p:cNvSpPr txBox="true"/>
          <p:nvPr/>
        </p:nvSpPr>
        <p:spPr>
          <a:xfrm rot="0">
            <a:off x="5855080" y="6216607"/>
            <a:ext cx="1924937" cy="261726"/>
          </a:xfrm>
          <a:prstGeom prst="rect">
            <a:avLst/>
          </a:prstGeom>
        </p:spPr>
        <p:txBody>
          <a:bodyPr anchor="t" rtlCol="false" tIns="0" lIns="0" bIns="0" rIns="0">
            <a:spAutoFit/>
          </a:bodyPr>
          <a:lstStyle/>
          <a:p>
            <a:pPr algn="ctr">
              <a:lnSpc>
                <a:spcPts val="1842"/>
              </a:lnSpc>
            </a:pPr>
            <a:r>
              <a:rPr lang="en-US" b="true" sz="2002">
                <a:solidFill>
                  <a:srgbClr val="000000"/>
                </a:solidFill>
                <a:latin typeface="Droid Serif Bold"/>
                <a:ea typeface="Droid Serif Bold"/>
                <a:cs typeface="Droid Serif Bold"/>
                <a:sym typeface="Droid Serif Bold"/>
              </a:rPr>
              <a:t>UNIQUENESS</a:t>
            </a:r>
          </a:p>
        </p:txBody>
      </p:sp>
      <p:sp>
        <p:nvSpPr>
          <p:cNvPr name="TextBox 84" id="8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8102"/>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TextBox 9" id="9"/>
          <p:cNvSpPr txBox="true"/>
          <p:nvPr/>
        </p:nvSpPr>
        <p:spPr>
          <a:xfrm rot="0">
            <a:off x="980858" y="843280"/>
            <a:ext cx="10634659" cy="1743075"/>
          </a:xfrm>
          <a:prstGeom prst="rect">
            <a:avLst/>
          </a:prstGeom>
        </p:spPr>
        <p:txBody>
          <a:bodyPr anchor="t" rtlCol="false" tIns="0" lIns="0" bIns="0" rIns="0">
            <a:spAutoFit/>
          </a:bodyPr>
          <a:lstStyle/>
          <a:p>
            <a:pPr algn="ctr">
              <a:lnSpc>
                <a:spcPts val="6763"/>
              </a:lnSpc>
              <a:spcBef>
                <a:spcPct val="0"/>
              </a:spcBef>
            </a:pPr>
            <a:r>
              <a:rPr lang="en-US" b="true" sz="5636">
                <a:solidFill>
                  <a:srgbClr val="041E6B"/>
                </a:solidFill>
                <a:latin typeface="Arimo Bold"/>
                <a:ea typeface="Arimo Bold"/>
                <a:cs typeface="Arimo Bold"/>
                <a:sym typeface="Arimo Bold"/>
              </a:rPr>
              <a:t>5.2 PROJECT MANAGEMENT &amp; COST ANALYSIS</a:t>
            </a:r>
          </a:p>
        </p:txBody>
      </p:sp>
      <p:sp>
        <p:nvSpPr>
          <p:cNvPr name="Freeform 10" id="10"/>
          <p:cNvSpPr/>
          <p:nvPr/>
        </p:nvSpPr>
        <p:spPr>
          <a:xfrm flipH="false" flipV="false" rot="0">
            <a:off x="1028700" y="2662555"/>
            <a:ext cx="7837915" cy="5310188"/>
          </a:xfrm>
          <a:custGeom>
            <a:avLst/>
            <a:gdLst/>
            <a:ahLst/>
            <a:cxnLst/>
            <a:rect r="r" b="b" t="t" l="l"/>
            <a:pathLst>
              <a:path h="5310188" w="7837915">
                <a:moveTo>
                  <a:pt x="0" y="0"/>
                </a:moveTo>
                <a:lnTo>
                  <a:pt x="7837915" y="0"/>
                </a:lnTo>
                <a:lnTo>
                  <a:pt x="7837915" y="5310188"/>
                </a:lnTo>
                <a:lnTo>
                  <a:pt x="0" y="53101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4616604" y="2962782"/>
            <a:ext cx="108510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Quantity</a:t>
            </a:r>
          </a:p>
        </p:txBody>
      </p:sp>
      <p:sp>
        <p:nvSpPr>
          <p:cNvPr name="TextBox 12" id="12"/>
          <p:cNvSpPr txBox="true"/>
          <p:nvPr/>
        </p:nvSpPr>
        <p:spPr>
          <a:xfrm rot="0">
            <a:off x="1626646" y="2942621"/>
            <a:ext cx="1709165"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Component Name</a:t>
            </a:r>
          </a:p>
        </p:txBody>
      </p:sp>
      <p:sp>
        <p:nvSpPr>
          <p:cNvPr name="TextBox 13" id="13"/>
          <p:cNvSpPr txBox="true"/>
          <p:nvPr/>
        </p:nvSpPr>
        <p:spPr>
          <a:xfrm rot="0">
            <a:off x="7254280" y="2962782"/>
            <a:ext cx="617302"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Price</a:t>
            </a:r>
          </a:p>
        </p:txBody>
      </p:sp>
      <p:sp>
        <p:nvSpPr>
          <p:cNvPr name="TextBox 14" id="14"/>
          <p:cNvSpPr txBox="true"/>
          <p:nvPr/>
        </p:nvSpPr>
        <p:spPr>
          <a:xfrm rot="0">
            <a:off x="1764710" y="3622175"/>
            <a:ext cx="1452324"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Arduino UNO (R3)</a:t>
            </a:r>
          </a:p>
        </p:txBody>
      </p:sp>
      <p:sp>
        <p:nvSpPr>
          <p:cNvPr name="TextBox 15" id="15"/>
          <p:cNvSpPr txBox="true"/>
          <p:nvPr/>
        </p:nvSpPr>
        <p:spPr>
          <a:xfrm rot="0">
            <a:off x="4875762" y="3657140"/>
            <a:ext cx="9894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a:t>
            </a:r>
          </a:p>
        </p:txBody>
      </p:sp>
      <p:sp>
        <p:nvSpPr>
          <p:cNvPr name="TextBox 16" id="16"/>
          <p:cNvSpPr txBox="true"/>
          <p:nvPr/>
        </p:nvSpPr>
        <p:spPr>
          <a:xfrm rot="0">
            <a:off x="7254161" y="3657140"/>
            <a:ext cx="405289"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995/-</a:t>
            </a:r>
          </a:p>
        </p:txBody>
      </p:sp>
      <p:sp>
        <p:nvSpPr>
          <p:cNvPr name="TextBox 17" id="17"/>
          <p:cNvSpPr txBox="true"/>
          <p:nvPr/>
        </p:nvSpPr>
        <p:spPr>
          <a:xfrm rot="0">
            <a:off x="1676128" y="4302544"/>
            <a:ext cx="1610201" cy="507365"/>
          </a:xfrm>
          <a:prstGeom prst="rect">
            <a:avLst/>
          </a:prstGeom>
        </p:spPr>
        <p:txBody>
          <a:bodyPr anchor="t" rtlCol="false" tIns="0" lIns="0" bIns="0" rIns="0">
            <a:spAutoFit/>
          </a:bodyPr>
          <a:lstStyle/>
          <a:p>
            <a:pPr algn="ctr">
              <a:lnSpc>
                <a:spcPts val="1960"/>
              </a:lnSpc>
            </a:pPr>
            <a:r>
              <a:rPr lang="en-US" sz="1400" b="true">
                <a:solidFill>
                  <a:srgbClr val="041E6B"/>
                </a:solidFill>
                <a:latin typeface="Arimo Bold"/>
                <a:ea typeface="Arimo Bold"/>
                <a:cs typeface="Arimo Bold"/>
                <a:sym typeface="Arimo Bold"/>
              </a:rPr>
              <a:t>Motor Driver </a:t>
            </a:r>
          </a:p>
          <a:p>
            <a:pPr algn="ctr">
              <a:lnSpc>
                <a:spcPts val="1960"/>
              </a:lnSpc>
              <a:spcBef>
                <a:spcPct val="0"/>
              </a:spcBef>
            </a:pPr>
            <a:r>
              <a:rPr lang="en-US" b="true" sz="1400">
                <a:solidFill>
                  <a:srgbClr val="041E6B"/>
                </a:solidFill>
                <a:latin typeface="Arimo Bold"/>
                <a:ea typeface="Arimo Bold"/>
                <a:cs typeface="Arimo Bold"/>
                <a:sym typeface="Arimo Bold"/>
              </a:rPr>
              <a:t>(L298N)</a:t>
            </a:r>
          </a:p>
        </p:txBody>
      </p:sp>
      <p:sp>
        <p:nvSpPr>
          <p:cNvPr name="TextBox 18" id="18"/>
          <p:cNvSpPr txBox="true"/>
          <p:nvPr/>
        </p:nvSpPr>
        <p:spPr>
          <a:xfrm rot="0">
            <a:off x="4898187" y="4426369"/>
            <a:ext cx="9894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a:t>
            </a:r>
          </a:p>
        </p:txBody>
      </p:sp>
      <p:sp>
        <p:nvSpPr>
          <p:cNvPr name="TextBox 19" id="19"/>
          <p:cNvSpPr txBox="true"/>
          <p:nvPr/>
        </p:nvSpPr>
        <p:spPr>
          <a:xfrm rot="0">
            <a:off x="7202225" y="4426369"/>
            <a:ext cx="405289"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120/-</a:t>
            </a:r>
          </a:p>
        </p:txBody>
      </p:sp>
      <p:sp>
        <p:nvSpPr>
          <p:cNvPr name="TextBox 20" id="20"/>
          <p:cNvSpPr txBox="true"/>
          <p:nvPr/>
        </p:nvSpPr>
        <p:spPr>
          <a:xfrm rot="0">
            <a:off x="1695416" y="5163979"/>
            <a:ext cx="1590913"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Potentiometer (10K)</a:t>
            </a:r>
          </a:p>
        </p:txBody>
      </p:sp>
      <p:sp>
        <p:nvSpPr>
          <p:cNvPr name="TextBox 21" id="21"/>
          <p:cNvSpPr txBox="true"/>
          <p:nvPr/>
        </p:nvSpPr>
        <p:spPr>
          <a:xfrm rot="0">
            <a:off x="4875762" y="5163979"/>
            <a:ext cx="9894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2</a:t>
            </a:r>
          </a:p>
        </p:txBody>
      </p:sp>
      <p:sp>
        <p:nvSpPr>
          <p:cNvPr name="TextBox 22" id="22"/>
          <p:cNvSpPr txBox="true"/>
          <p:nvPr/>
        </p:nvSpPr>
        <p:spPr>
          <a:xfrm rot="0">
            <a:off x="7303632" y="5124234"/>
            <a:ext cx="306348"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30/-</a:t>
            </a:r>
          </a:p>
        </p:txBody>
      </p:sp>
      <p:sp>
        <p:nvSpPr>
          <p:cNvPr name="TextBox 23" id="23"/>
          <p:cNvSpPr txBox="true"/>
          <p:nvPr/>
        </p:nvSpPr>
        <p:spPr>
          <a:xfrm rot="0">
            <a:off x="1394307" y="5899944"/>
            <a:ext cx="2193131"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SONAR sensor (HC SR-04)</a:t>
            </a:r>
          </a:p>
        </p:txBody>
      </p:sp>
      <p:sp>
        <p:nvSpPr>
          <p:cNvPr name="TextBox 24" id="24"/>
          <p:cNvSpPr txBox="true"/>
          <p:nvPr/>
        </p:nvSpPr>
        <p:spPr>
          <a:xfrm rot="0">
            <a:off x="1823825" y="6635909"/>
            <a:ext cx="1334095"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LiPo Battery 11V</a:t>
            </a:r>
          </a:p>
        </p:txBody>
      </p:sp>
      <p:sp>
        <p:nvSpPr>
          <p:cNvPr name="TextBox 25" id="25"/>
          <p:cNvSpPr txBox="true"/>
          <p:nvPr/>
        </p:nvSpPr>
        <p:spPr>
          <a:xfrm rot="0">
            <a:off x="1576830" y="7295674"/>
            <a:ext cx="1901808" cy="507365"/>
          </a:xfrm>
          <a:prstGeom prst="rect">
            <a:avLst/>
          </a:prstGeom>
        </p:spPr>
        <p:txBody>
          <a:bodyPr anchor="t" rtlCol="false" tIns="0" lIns="0" bIns="0" rIns="0">
            <a:spAutoFit/>
          </a:bodyPr>
          <a:lstStyle/>
          <a:p>
            <a:pPr algn="ctr">
              <a:lnSpc>
                <a:spcPts val="1960"/>
              </a:lnSpc>
            </a:pPr>
            <a:r>
              <a:rPr lang="en-US" sz="1400" b="true">
                <a:solidFill>
                  <a:srgbClr val="041E6B"/>
                </a:solidFill>
                <a:latin typeface="Arimo Bold"/>
                <a:ea typeface="Arimo Bold"/>
                <a:cs typeface="Arimo Bold"/>
                <a:sym typeface="Arimo Bold"/>
              </a:rPr>
              <a:t>Motor</a:t>
            </a:r>
          </a:p>
          <a:p>
            <a:pPr algn="ctr">
              <a:lnSpc>
                <a:spcPts val="1960"/>
              </a:lnSpc>
              <a:spcBef>
                <a:spcPct val="0"/>
              </a:spcBef>
            </a:pPr>
            <a:r>
              <a:rPr lang="en-US" b="true" sz="1400">
                <a:solidFill>
                  <a:srgbClr val="041E6B"/>
                </a:solidFill>
                <a:latin typeface="Arimo Bold"/>
                <a:ea typeface="Arimo Bold"/>
                <a:cs typeface="Arimo Bold"/>
                <a:sym typeface="Arimo Bold"/>
              </a:rPr>
              <a:t>(25GA 370 400 RPM)</a:t>
            </a:r>
          </a:p>
        </p:txBody>
      </p:sp>
      <p:sp>
        <p:nvSpPr>
          <p:cNvPr name="TextBox 26" id="26"/>
          <p:cNvSpPr txBox="true"/>
          <p:nvPr/>
        </p:nvSpPr>
        <p:spPr>
          <a:xfrm rot="0">
            <a:off x="4875762" y="5899944"/>
            <a:ext cx="9894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a:t>
            </a:r>
          </a:p>
        </p:txBody>
      </p:sp>
      <p:sp>
        <p:nvSpPr>
          <p:cNvPr name="TextBox 27" id="27"/>
          <p:cNvSpPr txBox="true"/>
          <p:nvPr/>
        </p:nvSpPr>
        <p:spPr>
          <a:xfrm rot="0">
            <a:off x="7303632" y="5917724"/>
            <a:ext cx="306348"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60/-</a:t>
            </a:r>
          </a:p>
        </p:txBody>
      </p:sp>
      <p:sp>
        <p:nvSpPr>
          <p:cNvPr name="TextBox 28" id="28"/>
          <p:cNvSpPr txBox="true"/>
          <p:nvPr/>
        </p:nvSpPr>
        <p:spPr>
          <a:xfrm rot="0">
            <a:off x="4898187" y="6635909"/>
            <a:ext cx="9894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a:t>
            </a:r>
          </a:p>
        </p:txBody>
      </p:sp>
      <p:sp>
        <p:nvSpPr>
          <p:cNvPr name="TextBox 29" id="29"/>
          <p:cNvSpPr txBox="true"/>
          <p:nvPr/>
        </p:nvSpPr>
        <p:spPr>
          <a:xfrm rot="0">
            <a:off x="7152814" y="6635909"/>
            <a:ext cx="50411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1600/-</a:t>
            </a:r>
          </a:p>
        </p:txBody>
      </p:sp>
      <p:sp>
        <p:nvSpPr>
          <p:cNvPr name="TextBox 30" id="30"/>
          <p:cNvSpPr txBox="true"/>
          <p:nvPr/>
        </p:nvSpPr>
        <p:spPr>
          <a:xfrm rot="0">
            <a:off x="4898187" y="7371874"/>
            <a:ext cx="9894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2</a:t>
            </a:r>
          </a:p>
        </p:txBody>
      </p:sp>
      <p:sp>
        <p:nvSpPr>
          <p:cNvPr name="TextBox 31" id="31"/>
          <p:cNvSpPr txBox="true"/>
          <p:nvPr/>
        </p:nvSpPr>
        <p:spPr>
          <a:xfrm rot="0">
            <a:off x="7042029" y="7381399"/>
            <a:ext cx="829554"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800/-</a:t>
            </a:r>
          </a:p>
        </p:txBody>
      </p:sp>
      <p:sp>
        <p:nvSpPr>
          <p:cNvPr name="TextBox 32" id="32"/>
          <p:cNvSpPr txBox="true"/>
          <p:nvPr/>
        </p:nvSpPr>
        <p:spPr>
          <a:xfrm rot="0">
            <a:off x="10098661" y="2836576"/>
            <a:ext cx="1442799"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Component Name</a:t>
            </a:r>
          </a:p>
        </p:txBody>
      </p:sp>
      <p:sp>
        <p:nvSpPr>
          <p:cNvPr name="TextBox 33" id="33"/>
          <p:cNvSpPr txBox="true"/>
          <p:nvPr/>
        </p:nvSpPr>
        <p:spPr>
          <a:xfrm rot="0">
            <a:off x="10093898" y="3495968"/>
            <a:ext cx="1452324" cy="507365"/>
          </a:xfrm>
          <a:prstGeom prst="rect">
            <a:avLst/>
          </a:prstGeom>
        </p:spPr>
        <p:txBody>
          <a:bodyPr anchor="t" rtlCol="false" tIns="0" lIns="0" bIns="0" rIns="0">
            <a:spAutoFit/>
          </a:bodyPr>
          <a:lstStyle/>
          <a:p>
            <a:pPr algn="ctr">
              <a:lnSpc>
                <a:spcPts val="1960"/>
              </a:lnSpc>
            </a:pPr>
            <a:r>
              <a:rPr lang="en-US" sz="1400" b="true">
                <a:solidFill>
                  <a:srgbClr val="041E6B"/>
                </a:solidFill>
                <a:latin typeface="Arimo Bold"/>
                <a:ea typeface="Arimo Bold"/>
                <a:cs typeface="Arimo Bold"/>
                <a:sym typeface="Arimo Bold"/>
              </a:rPr>
              <a:t>Solar Panel</a:t>
            </a:r>
          </a:p>
          <a:p>
            <a:pPr algn="ctr">
              <a:lnSpc>
                <a:spcPts val="1960"/>
              </a:lnSpc>
              <a:spcBef>
                <a:spcPct val="0"/>
              </a:spcBef>
            </a:pPr>
            <a:r>
              <a:rPr lang="en-US" b="true" sz="1400">
                <a:solidFill>
                  <a:srgbClr val="041E6B"/>
                </a:solidFill>
                <a:latin typeface="Arimo Bold"/>
                <a:ea typeface="Arimo Bold"/>
                <a:cs typeface="Arimo Bold"/>
                <a:sym typeface="Arimo Bold"/>
              </a:rPr>
              <a:t>(RYO 474)</a:t>
            </a:r>
          </a:p>
        </p:txBody>
      </p:sp>
      <p:sp>
        <p:nvSpPr>
          <p:cNvPr name="TextBox 34" id="34"/>
          <p:cNvSpPr txBox="true"/>
          <p:nvPr/>
        </p:nvSpPr>
        <p:spPr>
          <a:xfrm rot="0">
            <a:off x="10306425" y="4176338"/>
            <a:ext cx="1027271"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LED Indicators</a:t>
            </a:r>
          </a:p>
        </p:txBody>
      </p:sp>
      <p:sp>
        <p:nvSpPr>
          <p:cNvPr name="TextBox 35" id="35"/>
          <p:cNvSpPr txBox="true"/>
          <p:nvPr/>
        </p:nvSpPr>
        <p:spPr>
          <a:xfrm rot="0">
            <a:off x="10024604" y="5037773"/>
            <a:ext cx="1590913"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Display</a:t>
            </a:r>
          </a:p>
        </p:txBody>
      </p:sp>
      <p:sp>
        <p:nvSpPr>
          <p:cNvPr name="TextBox 36" id="36"/>
          <p:cNvSpPr txBox="true"/>
          <p:nvPr/>
        </p:nvSpPr>
        <p:spPr>
          <a:xfrm rot="0">
            <a:off x="9723495" y="5773738"/>
            <a:ext cx="219313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Adapter Module</a:t>
            </a:r>
          </a:p>
        </p:txBody>
      </p:sp>
      <p:sp>
        <p:nvSpPr>
          <p:cNvPr name="TextBox 37" id="37"/>
          <p:cNvSpPr txBox="true"/>
          <p:nvPr/>
        </p:nvSpPr>
        <p:spPr>
          <a:xfrm rot="0">
            <a:off x="10153013" y="6433503"/>
            <a:ext cx="1334095"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Jumper wire + Hexa connector</a:t>
            </a:r>
          </a:p>
        </p:txBody>
      </p:sp>
      <p:sp>
        <p:nvSpPr>
          <p:cNvPr name="TextBox 38" id="38"/>
          <p:cNvSpPr txBox="true"/>
          <p:nvPr/>
        </p:nvSpPr>
        <p:spPr>
          <a:xfrm rot="0">
            <a:off x="9906018" y="7300674"/>
            <a:ext cx="1709499"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Soldering Kit</a:t>
            </a:r>
          </a:p>
        </p:txBody>
      </p:sp>
      <p:sp>
        <p:nvSpPr>
          <p:cNvPr name="Freeform 39" id="39"/>
          <p:cNvSpPr/>
          <p:nvPr/>
        </p:nvSpPr>
        <p:spPr>
          <a:xfrm flipH="false" flipV="false" rot="0">
            <a:off x="9421385" y="2642394"/>
            <a:ext cx="7837915" cy="5310187"/>
          </a:xfrm>
          <a:custGeom>
            <a:avLst/>
            <a:gdLst/>
            <a:ahLst/>
            <a:cxnLst/>
            <a:rect r="r" b="b" t="t" l="l"/>
            <a:pathLst>
              <a:path h="5310187" w="7837915">
                <a:moveTo>
                  <a:pt x="0" y="0"/>
                </a:moveTo>
                <a:lnTo>
                  <a:pt x="7837915" y="0"/>
                </a:lnTo>
                <a:lnTo>
                  <a:pt x="7837915" y="5310187"/>
                </a:lnTo>
                <a:lnTo>
                  <a:pt x="0" y="53101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0" id="40"/>
          <p:cNvSpPr txBox="true"/>
          <p:nvPr/>
        </p:nvSpPr>
        <p:spPr>
          <a:xfrm rot="0">
            <a:off x="12945792" y="2836576"/>
            <a:ext cx="895234"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Quantity</a:t>
            </a:r>
          </a:p>
        </p:txBody>
      </p:sp>
      <p:sp>
        <p:nvSpPr>
          <p:cNvPr name="TextBox 41" id="41"/>
          <p:cNvSpPr txBox="true"/>
          <p:nvPr/>
        </p:nvSpPr>
        <p:spPr>
          <a:xfrm rot="0">
            <a:off x="15583468" y="2836576"/>
            <a:ext cx="719737"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Price</a:t>
            </a:r>
          </a:p>
        </p:txBody>
      </p:sp>
      <p:sp>
        <p:nvSpPr>
          <p:cNvPr name="TextBox 42" id="42"/>
          <p:cNvSpPr txBox="true"/>
          <p:nvPr/>
        </p:nvSpPr>
        <p:spPr>
          <a:xfrm rot="0">
            <a:off x="13204950" y="3530933"/>
            <a:ext cx="9894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a:t>
            </a:r>
          </a:p>
        </p:txBody>
      </p:sp>
      <p:sp>
        <p:nvSpPr>
          <p:cNvPr name="TextBox 43" id="43"/>
          <p:cNvSpPr txBox="true"/>
          <p:nvPr/>
        </p:nvSpPr>
        <p:spPr>
          <a:xfrm rot="0">
            <a:off x="15583349" y="3530933"/>
            <a:ext cx="405289"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160/-</a:t>
            </a:r>
          </a:p>
        </p:txBody>
      </p:sp>
      <p:sp>
        <p:nvSpPr>
          <p:cNvPr name="TextBox 44" id="44"/>
          <p:cNvSpPr txBox="true"/>
          <p:nvPr/>
        </p:nvSpPr>
        <p:spPr>
          <a:xfrm rot="0">
            <a:off x="13227375" y="4300163"/>
            <a:ext cx="9894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a:t>
            </a:r>
          </a:p>
        </p:txBody>
      </p:sp>
      <p:sp>
        <p:nvSpPr>
          <p:cNvPr name="TextBox 45" id="45"/>
          <p:cNvSpPr txBox="true"/>
          <p:nvPr/>
        </p:nvSpPr>
        <p:spPr>
          <a:xfrm rot="0">
            <a:off x="15612936" y="4320324"/>
            <a:ext cx="405289"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10/-</a:t>
            </a:r>
          </a:p>
        </p:txBody>
      </p:sp>
      <p:sp>
        <p:nvSpPr>
          <p:cNvPr name="TextBox 46" id="46"/>
          <p:cNvSpPr txBox="true"/>
          <p:nvPr/>
        </p:nvSpPr>
        <p:spPr>
          <a:xfrm rot="0">
            <a:off x="13204950" y="5037773"/>
            <a:ext cx="9894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a:t>
            </a:r>
          </a:p>
        </p:txBody>
      </p:sp>
      <p:sp>
        <p:nvSpPr>
          <p:cNvPr name="TextBox 47" id="47"/>
          <p:cNvSpPr txBox="true"/>
          <p:nvPr/>
        </p:nvSpPr>
        <p:spPr>
          <a:xfrm rot="0">
            <a:off x="15632820" y="4998028"/>
            <a:ext cx="306348"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90/-</a:t>
            </a:r>
          </a:p>
        </p:txBody>
      </p:sp>
      <p:sp>
        <p:nvSpPr>
          <p:cNvPr name="TextBox 48" id="48"/>
          <p:cNvSpPr txBox="true"/>
          <p:nvPr/>
        </p:nvSpPr>
        <p:spPr>
          <a:xfrm rot="0">
            <a:off x="13204950" y="5773738"/>
            <a:ext cx="9894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a:t>
            </a:r>
          </a:p>
        </p:txBody>
      </p:sp>
      <p:sp>
        <p:nvSpPr>
          <p:cNvPr name="TextBox 49" id="49"/>
          <p:cNvSpPr txBox="true"/>
          <p:nvPr/>
        </p:nvSpPr>
        <p:spPr>
          <a:xfrm rot="0">
            <a:off x="15630354" y="5762568"/>
            <a:ext cx="306348"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90/-</a:t>
            </a:r>
          </a:p>
        </p:txBody>
      </p:sp>
      <p:sp>
        <p:nvSpPr>
          <p:cNvPr name="TextBox 50" id="50"/>
          <p:cNvSpPr txBox="true"/>
          <p:nvPr/>
        </p:nvSpPr>
        <p:spPr>
          <a:xfrm rot="0">
            <a:off x="12839658" y="6557328"/>
            <a:ext cx="1001368"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 set</a:t>
            </a:r>
          </a:p>
        </p:txBody>
      </p:sp>
      <p:sp>
        <p:nvSpPr>
          <p:cNvPr name="TextBox 51" id="51"/>
          <p:cNvSpPr txBox="true"/>
          <p:nvPr/>
        </p:nvSpPr>
        <p:spPr>
          <a:xfrm rot="0">
            <a:off x="15563525" y="6508880"/>
            <a:ext cx="504111"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260/-</a:t>
            </a:r>
          </a:p>
        </p:txBody>
      </p:sp>
      <p:sp>
        <p:nvSpPr>
          <p:cNvPr name="TextBox 52" id="52"/>
          <p:cNvSpPr txBox="true"/>
          <p:nvPr/>
        </p:nvSpPr>
        <p:spPr>
          <a:xfrm rot="0">
            <a:off x="12945792" y="7207567"/>
            <a:ext cx="757864"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1 Set</a:t>
            </a:r>
          </a:p>
        </p:txBody>
      </p:sp>
      <p:sp>
        <p:nvSpPr>
          <p:cNvPr name="TextBox 53" id="53"/>
          <p:cNvSpPr txBox="true"/>
          <p:nvPr/>
        </p:nvSpPr>
        <p:spPr>
          <a:xfrm rot="0">
            <a:off x="15563525" y="7255192"/>
            <a:ext cx="444937"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041E6B"/>
                </a:solidFill>
                <a:latin typeface="Arimo Bold"/>
                <a:ea typeface="Arimo Bold"/>
                <a:cs typeface="Arimo Bold"/>
                <a:sym typeface="Arimo Bold"/>
              </a:rPr>
              <a:t>400/-</a:t>
            </a:r>
          </a:p>
        </p:txBody>
      </p:sp>
      <p:sp>
        <p:nvSpPr>
          <p:cNvPr name="TextBox 54" id="54"/>
          <p:cNvSpPr txBox="true"/>
          <p:nvPr/>
        </p:nvSpPr>
        <p:spPr>
          <a:xfrm rot="0">
            <a:off x="17259300" y="93249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9925" y="19899"/>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TextBox 9" id="9"/>
          <p:cNvSpPr txBox="true"/>
          <p:nvPr/>
        </p:nvSpPr>
        <p:spPr>
          <a:xfrm rot="0">
            <a:off x="388869" y="179390"/>
            <a:ext cx="7713850" cy="1666875"/>
          </a:xfrm>
          <a:prstGeom prst="rect">
            <a:avLst/>
          </a:prstGeom>
        </p:spPr>
        <p:txBody>
          <a:bodyPr anchor="t" rtlCol="false" tIns="0" lIns="0" bIns="0" rIns="0">
            <a:spAutoFit/>
          </a:bodyPr>
          <a:lstStyle/>
          <a:p>
            <a:pPr algn="l">
              <a:lnSpc>
                <a:spcPts val="6487"/>
              </a:lnSpc>
              <a:spcBef>
                <a:spcPct val="0"/>
              </a:spcBef>
            </a:pPr>
            <a:r>
              <a:rPr lang="en-US" b="true" sz="5406">
                <a:solidFill>
                  <a:srgbClr val="041E6B"/>
                </a:solidFill>
                <a:latin typeface="Arimo Bold"/>
                <a:ea typeface="Arimo Bold"/>
                <a:cs typeface="Arimo Bold"/>
                <a:sym typeface="Arimo Bold"/>
              </a:rPr>
              <a:t>5.3 PRACTICAL CONSIDERATIONS</a:t>
            </a:r>
          </a:p>
        </p:txBody>
      </p:sp>
      <p:sp>
        <p:nvSpPr>
          <p:cNvPr name="AutoShape 10" id="10"/>
          <p:cNvSpPr/>
          <p:nvPr/>
        </p:nvSpPr>
        <p:spPr>
          <a:xfrm>
            <a:off x="4982625" y="2890496"/>
            <a:ext cx="8200555" cy="0"/>
          </a:xfrm>
          <a:prstGeom prst="line">
            <a:avLst/>
          </a:prstGeom>
          <a:ln cap="rnd" w="66675">
            <a:solidFill>
              <a:srgbClr val="000000"/>
            </a:solidFill>
            <a:prstDash val="solid"/>
            <a:headEnd type="none" len="sm" w="sm"/>
            <a:tailEnd type="none" len="sm" w="sm"/>
          </a:ln>
        </p:spPr>
      </p:sp>
      <p:grpSp>
        <p:nvGrpSpPr>
          <p:cNvPr name="Group 11" id="11"/>
          <p:cNvGrpSpPr/>
          <p:nvPr/>
        </p:nvGrpSpPr>
        <p:grpSpPr>
          <a:xfrm rot="0">
            <a:off x="6076927" y="2163659"/>
            <a:ext cx="5946236" cy="1517700"/>
            <a:chOff x="0" y="0"/>
            <a:chExt cx="2587398" cy="660400"/>
          </a:xfrm>
        </p:grpSpPr>
        <p:sp>
          <p:nvSpPr>
            <p:cNvPr name="Freeform 12" id="12"/>
            <p:cNvSpPr/>
            <p:nvPr/>
          </p:nvSpPr>
          <p:spPr>
            <a:xfrm flipH="false" flipV="false" rot="0">
              <a:off x="0" y="0"/>
              <a:ext cx="2587398" cy="660400"/>
            </a:xfrm>
            <a:custGeom>
              <a:avLst/>
              <a:gdLst/>
              <a:ahLst/>
              <a:cxnLst/>
              <a:rect r="r" b="b" t="t" l="l"/>
              <a:pathLst>
                <a:path h="660400" w="2587398">
                  <a:moveTo>
                    <a:pt x="2462937" y="660400"/>
                  </a:moveTo>
                  <a:lnTo>
                    <a:pt x="124460" y="660400"/>
                  </a:lnTo>
                  <a:cubicBezTo>
                    <a:pt x="55880" y="660400"/>
                    <a:pt x="0" y="604520"/>
                    <a:pt x="0" y="535940"/>
                  </a:cubicBezTo>
                  <a:lnTo>
                    <a:pt x="0" y="124460"/>
                  </a:lnTo>
                  <a:cubicBezTo>
                    <a:pt x="0" y="55880"/>
                    <a:pt x="55880" y="0"/>
                    <a:pt x="124460" y="0"/>
                  </a:cubicBezTo>
                  <a:lnTo>
                    <a:pt x="2462938" y="0"/>
                  </a:lnTo>
                  <a:cubicBezTo>
                    <a:pt x="2531518" y="0"/>
                    <a:pt x="2587398" y="55880"/>
                    <a:pt x="2587398" y="124460"/>
                  </a:cubicBezTo>
                  <a:lnTo>
                    <a:pt x="2587398" y="535940"/>
                  </a:lnTo>
                  <a:cubicBezTo>
                    <a:pt x="2587398" y="604520"/>
                    <a:pt x="2531518" y="660400"/>
                    <a:pt x="2462938" y="660400"/>
                  </a:cubicBezTo>
                  <a:close/>
                </a:path>
              </a:pathLst>
            </a:custGeom>
            <a:solidFill>
              <a:srgbClr val="021E45"/>
            </a:solidFill>
          </p:spPr>
        </p:sp>
      </p:grpSp>
      <p:grpSp>
        <p:nvGrpSpPr>
          <p:cNvPr name="Group 13" id="13"/>
          <p:cNvGrpSpPr/>
          <p:nvPr/>
        </p:nvGrpSpPr>
        <p:grpSpPr>
          <a:xfrm rot="2700000">
            <a:off x="4042907" y="4639819"/>
            <a:ext cx="1879437" cy="1879437"/>
            <a:chOff x="0" y="0"/>
            <a:chExt cx="1913890" cy="1913890"/>
          </a:xfrm>
        </p:grpSpPr>
        <p:sp>
          <p:nvSpPr>
            <p:cNvPr name="Freeform 14" id="14"/>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021E45"/>
            </a:solidFill>
          </p:spPr>
        </p:sp>
      </p:grpSp>
      <p:grpSp>
        <p:nvGrpSpPr>
          <p:cNvPr name="Group 15" id="15"/>
          <p:cNvGrpSpPr/>
          <p:nvPr/>
        </p:nvGrpSpPr>
        <p:grpSpPr>
          <a:xfrm rot="0">
            <a:off x="3171121" y="7422576"/>
            <a:ext cx="3618580" cy="2230261"/>
            <a:chOff x="0" y="0"/>
            <a:chExt cx="2605116" cy="1605626"/>
          </a:xfrm>
        </p:grpSpPr>
        <p:sp>
          <p:nvSpPr>
            <p:cNvPr name="Freeform 16" id="16"/>
            <p:cNvSpPr/>
            <p:nvPr/>
          </p:nvSpPr>
          <p:spPr>
            <a:xfrm flipH="false" flipV="false" rot="0">
              <a:off x="0" y="0"/>
              <a:ext cx="2605116" cy="1605627"/>
            </a:xfrm>
            <a:custGeom>
              <a:avLst/>
              <a:gdLst/>
              <a:ahLst/>
              <a:cxnLst/>
              <a:rect r="r" b="b" t="t" l="l"/>
              <a:pathLst>
                <a:path h="1605627" w="2605116">
                  <a:moveTo>
                    <a:pt x="2480656" y="1605626"/>
                  </a:moveTo>
                  <a:lnTo>
                    <a:pt x="124460" y="1605626"/>
                  </a:lnTo>
                  <a:cubicBezTo>
                    <a:pt x="55880" y="1605626"/>
                    <a:pt x="0" y="1549746"/>
                    <a:pt x="0" y="1481166"/>
                  </a:cubicBezTo>
                  <a:lnTo>
                    <a:pt x="0" y="124460"/>
                  </a:lnTo>
                  <a:cubicBezTo>
                    <a:pt x="0" y="55880"/>
                    <a:pt x="55880" y="0"/>
                    <a:pt x="124460" y="0"/>
                  </a:cubicBezTo>
                  <a:lnTo>
                    <a:pt x="2480656" y="0"/>
                  </a:lnTo>
                  <a:cubicBezTo>
                    <a:pt x="2549236" y="0"/>
                    <a:pt x="2605116" y="55880"/>
                    <a:pt x="2605116" y="124460"/>
                  </a:cubicBezTo>
                  <a:lnTo>
                    <a:pt x="2605116" y="1481166"/>
                  </a:lnTo>
                  <a:cubicBezTo>
                    <a:pt x="2605116" y="1549746"/>
                    <a:pt x="2549236" y="1605627"/>
                    <a:pt x="2480656" y="1605627"/>
                  </a:cubicBezTo>
                  <a:close/>
                </a:path>
              </a:pathLst>
            </a:custGeom>
            <a:solidFill>
              <a:srgbClr val="021E45"/>
            </a:solidFill>
          </p:spPr>
        </p:sp>
      </p:grpSp>
      <p:grpSp>
        <p:nvGrpSpPr>
          <p:cNvPr name="Group 17" id="17"/>
          <p:cNvGrpSpPr/>
          <p:nvPr/>
        </p:nvGrpSpPr>
        <p:grpSpPr>
          <a:xfrm rot="2700000">
            <a:off x="8110326" y="4639819"/>
            <a:ext cx="1879437" cy="1879437"/>
            <a:chOff x="0" y="0"/>
            <a:chExt cx="1913890" cy="1913890"/>
          </a:xfrm>
        </p:grpSpPr>
        <p:sp>
          <p:nvSpPr>
            <p:cNvPr name="Freeform 18" id="18"/>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021E45"/>
            </a:solidFill>
          </p:spPr>
        </p:sp>
      </p:grpSp>
      <p:grpSp>
        <p:nvGrpSpPr>
          <p:cNvPr name="Group 19" id="19"/>
          <p:cNvGrpSpPr/>
          <p:nvPr/>
        </p:nvGrpSpPr>
        <p:grpSpPr>
          <a:xfrm rot="2700000">
            <a:off x="12177745" y="4639819"/>
            <a:ext cx="1879437" cy="1879437"/>
            <a:chOff x="0" y="0"/>
            <a:chExt cx="1913890" cy="1913890"/>
          </a:xfrm>
        </p:grpSpPr>
        <p:sp>
          <p:nvSpPr>
            <p:cNvPr name="Freeform 20" id="20"/>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021E45"/>
            </a:solidFill>
          </p:spPr>
        </p:sp>
      </p:grpSp>
      <p:sp>
        <p:nvSpPr>
          <p:cNvPr name="AutoShape 21" id="21"/>
          <p:cNvSpPr/>
          <p:nvPr/>
        </p:nvSpPr>
        <p:spPr>
          <a:xfrm flipH="true">
            <a:off x="9062385" y="3681359"/>
            <a:ext cx="1690" cy="569215"/>
          </a:xfrm>
          <a:prstGeom prst="line">
            <a:avLst/>
          </a:prstGeom>
          <a:ln cap="rnd" w="66675">
            <a:solidFill>
              <a:srgbClr val="000000"/>
            </a:solidFill>
            <a:prstDash val="solid"/>
            <a:headEnd type="none" len="sm" w="sm"/>
            <a:tailEnd type="triangle" len="med" w="lg"/>
          </a:ln>
        </p:spPr>
      </p:sp>
      <p:sp>
        <p:nvSpPr>
          <p:cNvPr name="AutoShape 22" id="22"/>
          <p:cNvSpPr/>
          <p:nvPr/>
        </p:nvSpPr>
        <p:spPr>
          <a:xfrm>
            <a:off x="13149477" y="2858482"/>
            <a:ext cx="0" cy="1392187"/>
          </a:xfrm>
          <a:prstGeom prst="line">
            <a:avLst/>
          </a:prstGeom>
          <a:ln cap="rnd" w="66675">
            <a:solidFill>
              <a:srgbClr val="000000"/>
            </a:solidFill>
            <a:prstDash val="solid"/>
            <a:headEnd type="none" len="sm" w="sm"/>
            <a:tailEnd type="triangle" len="med" w="lg"/>
          </a:ln>
        </p:spPr>
      </p:sp>
      <p:sp>
        <p:nvSpPr>
          <p:cNvPr name="AutoShape 23" id="23"/>
          <p:cNvSpPr/>
          <p:nvPr/>
        </p:nvSpPr>
        <p:spPr>
          <a:xfrm>
            <a:off x="5008216" y="2890496"/>
            <a:ext cx="6423" cy="1359984"/>
          </a:xfrm>
          <a:prstGeom prst="line">
            <a:avLst/>
          </a:prstGeom>
          <a:ln cap="rnd" w="66675">
            <a:solidFill>
              <a:srgbClr val="000000"/>
            </a:solidFill>
            <a:prstDash val="solid"/>
            <a:headEnd type="none" len="sm" w="sm"/>
            <a:tailEnd type="triangle" len="med" w="lg"/>
          </a:ln>
        </p:spPr>
      </p:sp>
      <p:sp>
        <p:nvSpPr>
          <p:cNvPr name="AutoShape 24" id="24"/>
          <p:cNvSpPr/>
          <p:nvPr/>
        </p:nvSpPr>
        <p:spPr>
          <a:xfrm>
            <a:off x="4980411" y="6908653"/>
            <a:ext cx="4428" cy="513524"/>
          </a:xfrm>
          <a:prstGeom prst="line">
            <a:avLst/>
          </a:prstGeom>
          <a:ln cap="rnd" w="66675">
            <a:solidFill>
              <a:srgbClr val="000000"/>
            </a:solidFill>
            <a:prstDash val="solid"/>
            <a:headEnd type="none" len="sm" w="sm"/>
            <a:tailEnd type="triangle" len="med" w="lg"/>
          </a:ln>
        </p:spPr>
      </p:sp>
      <p:sp>
        <p:nvSpPr>
          <p:cNvPr name="AutoShape 25" id="25"/>
          <p:cNvSpPr/>
          <p:nvPr/>
        </p:nvSpPr>
        <p:spPr>
          <a:xfrm>
            <a:off x="9047830" y="6908775"/>
            <a:ext cx="4428" cy="513524"/>
          </a:xfrm>
          <a:prstGeom prst="line">
            <a:avLst/>
          </a:prstGeom>
          <a:ln cap="rnd" w="66675">
            <a:solidFill>
              <a:srgbClr val="000000"/>
            </a:solidFill>
            <a:prstDash val="solid"/>
            <a:headEnd type="none" len="sm" w="sm"/>
            <a:tailEnd type="triangle" len="med" w="lg"/>
          </a:ln>
        </p:spPr>
      </p:sp>
      <p:sp>
        <p:nvSpPr>
          <p:cNvPr name="AutoShape 26" id="26"/>
          <p:cNvSpPr/>
          <p:nvPr/>
        </p:nvSpPr>
        <p:spPr>
          <a:xfrm>
            <a:off x="13115249" y="6908897"/>
            <a:ext cx="4428" cy="513524"/>
          </a:xfrm>
          <a:prstGeom prst="line">
            <a:avLst/>
          </a:prstGeom>
          <a:ln cap="rnd" w="66675">
            <a:solidFill>
              <a:srgbClr val="000000"/>
            </a:solidFill>
            <a:prstDash val="solid"/>
            <a:headEnd type="none" len="sm" w="sm"/>
            <a:tailEnd type="triangle" len="med" w="lg"/>
          </a:ln>
        </p:spPr>
      </p:sp>
      <p:sp>
        <p:nvSpPr>
          <p:cNvPr name="TextBox 27" id="27"/>
          <p:cNvSpPr txBox="true"/>
          <p:nvPr/>
        </p:nvSpPr>
        <p:spPr>
          <a:xfrm rot="0">
            <a:off x="6501032" y="2403257"/>
            <a:ext cx="5098025" cy="1050677"/>
          </a:xfrm>
          <a:prstGeom prst="rect">
            <a:avLst/>
          </a:prstGeom>
        </p:spPr>
        <p:txBody>
          <a:bodyPr anchor="t" rtlCol="false" tIns="0" lIns="0" bIns="0" rIns="0">
            <a:spAutoFit/>
          </a:bodyPr>
          <a:lstStyle/>
          <a:p>
            <a:pPr algn="ctr">
              <a:lnSpc>
                <a:spcPts val="4033"/>
              </a:lnSpc>
            </a:pPr>
            <a:r>
              <a:rPr lang="en-US" b="true" sz="4033">
                <a:solidFill>
                  <a:srgbClr val="FFFFFF"/>
                </a:solidFill>
                <a:latin typeface="Open Sans Bold"/>
                <a:ea typeface="Open Sans Bold"/>
                <a:cs typeface="Open Sans Bold"/>
                <a:sym typeface="Open Sans Bold"/>
              </a:rPr>
              <a:t>PRACTICAL CONSIDERATIONS</a:t>
            </a:r>
          </a:p>
        </p:txBody>
      </p:sp>
      <p:sp>
        <p:nvSpPr>
          <p:cNvPr name="TextBox 28" id="28"/>
          <p:cNvSpPr txBox="true"/>
          <p:nvPr/>
        </p:nvSpPr>
        <p:spPr>
          <a:xfrm rot="0">
            <a:off x="4035300" y="5148666"/>
            <a:ext cx="1894650" cy="855584"/>
          </a:xfrm>
          <a:prstGeom prst="rect">
            <a:avLst/>
          </a:prstGeom>
        </p:spPr>
        <p:txBody>
          <a:bodyPr anchor="t" rtlCol="false" tIns="0" lIns="0" bIns="0" rIns="0">
            <a:spAutoFit/>
          </a:bodyPr>
          <a:lstStyle/>
          <a:p>
            <a:pPr algn="ctr">
              <a:lnSpc>
                <a:spcPts val="2285"/>
              </a:lnSpc>
            </a:pPr>
            <a:r>
              <a:rPr lang="en-US" b="true" sz="2285">
                <a:solidFill>
                  <a:srgbClr val="FFFFFF"/>
                </a:solidFill>
                <a:latin typeface="Open Sans Bold"/>
                <a:ea typeface="Open Sans Bold"/>
                <a:cs typeface="Open Sans Bold"/>
                <a:sym typeface="Open Sans Bold"/>
              </a:rPr>
              <a:t>Public Health &amp; Safety</a:t>
            </a:r>
          </a:p>
        </p:txBody>
      </p:sp>
      <p:sp>
        <p:nvSpPr>
          <p:cNvPr name="TextBox 29" id="29"/>
          <p:cNvSpPr txBox="true"/>
          <p:nvPr/>
        </p:nvSpPr>
        <p:spPr>
          <a:xfrm rot="0">
            <a:off x="8102719" y="5430385"/>
            <a:ext cx="1894650" cy="292146"/>
          </a:xfrm>
          <a:prstGeom prst="rect">
            <a:avLst/>
          </a:prstGeom>
        </p:spPr>
        <p:txBody>
          <a:bodyPr anchor="t" rtlCol="false" tIns="0" lIns="0" bIns="0" rIns="0">
            <a:spAutoFit/>
          </a:bodyPr>
          <a:lstStyle/>
          <a:p>
            <a:pPr algn="ctr">
              <a:lnSpc>
                <a:spcPts val="2285"/>
              </a:lnSpc>
            </a:pPr>
            <a:r>
              <a:rPr lang="en-US" b="true" sz="2285">
                <a:solidFill>
                  <a:srgbClr val="FFFFFF"/>
                </a:solidFill>
                <a:latin typeface="Open Sans Bold"/>
                <a:ea typeface="Open Sans Bold"/>
                <a:cs typeface="Open Sans Bold"/>
                <a:sym typeface="Open Sans Bold"/>
              </a:rPr>
              <a:t>Environment</a:t>
            </a:r>
          </a:p>
        </p:txBody>
      </p:sp>
      <p:sp>
        <p:nvSpPr>
          <p:cNvPr name="TextBox 30" id="30"/>
          <p:cNvSpPr txBox="true"/>
          <p:nvPr/>
        </p:nvSpPr>
        <p:spPr>
          <a:xfrm rot="0">
            <a:off x="12170139" y="5148666"/>
            <a:ext cx="1894650" cy="855584"/>
          </a:xfrm>
          <a:prstGeom prst="rect">
            <a:avLst/>
          </a:prstGeom>
        </p:spPr>
        <p:txBody>
          <a:bodyPr anchor="t" rtlCol="false" tIns="0" lIns="0" bIns="0" rIns="0">
            <a:spAutoFit/>
          </a:bodyPr>
          <a:lstStyle/>
          <a:p>
            <a:pPr algn="ctr">
              <a:lnSpc>
                <a:spcPts val="2285"/>
              </a:lnSpc>
            </a:pPr>
            <a:r>
              <a:rPr lang="en-US" b="true" sz="2285">
                <a:solidFill>
                  <a:srgbClr val="FFFFFF"/>
                </a:solidFill>
                <a:latin typeface="Open Sans Bold"/>
                <a:ea typeface="Open Sans Bold"/>
                <a:cs typeface="Open Sans Bold"/>
                <a:sym typeface="Open Sans Bold"/>
              </a:rPr>
              <a:t>Cultural &amp; Societal Needs</a:t>
            </a:r>
          </a:p>
        </p:txBody>
      </p:sp>
      <p:grpSp>
        <p:nvGrpSpPr>
          <p:cNvPr name="Group 31" id="31"/>
          <p:cNvGrpSpPr/>
          <p:nvPr/>
        </p:nvGrpSpPr>
        <p:grpSpPr>
          <a:xfrm rot="0">
            <a:off x="7238540" y="7422178"/>
            <a:ext cx="3618580" cy="2230261"/>
            <a:chOff x="0" y="0"/>
            <a:chExt cx="2605116" cy="1605626"/>
          </a:xfrm>
        </p:grpSpPr>
        <p:sp>
          <p:nvSpPr>
            <p:cNvPr name="Freeform 32" id="32"/>
            <p:cNvSpPr/>
            <p:nvPr/>
          </p:nvSpPr>
          <p:spPr>
            <a:xfrm flipH="false" flipV="false" rot="0">
              <a:off x="0" y="0"/>
              <a:ext cx="2605116" cy="1605627"/>
            </a:xfrm>
            <a:custGeom>
              <a:avLst/>
              <a:gdLst/>
              <a:ahLst/>
              <a:cxnLst/>
              <a:rect r="r" b="b" t="t" l="l"/>
              <a:pathLst>
                <a:path h="1605627" w="2605116">
                  <a:moveTo>
                    <a:pt x="2480656" y="1605626"/>
                  </a:moveTo>
                  <a:lnTo>
                    <a:pt x="124460" y="1605626"/>
                  </a:lnTo>
                  <a:cubicBezTo>
                    <a:pt x="55880" y="1605626"/>
                    <a:pt x="0" y="1549746"/>
                    <a:pt x="0" y="1481166"/>
                  </a:cubicBezTo>
                  <a:lnTo>
                    <a:pt x="0" y="124460"/>
                  </a:lnTo>
                  <a:cubicBezTo>
                    <a:pt x="0" y="55880"/>
                    <a:pt x="55880" y="0"/>
                    <a:pt x="124460" y="0"/>
                  </a:cubicBezTo>
                  <a:lnTo>
                    <a:pt x="2480656" y="0"/>
                  </a:lnTo>
                  <a:cubicBezTo>
                    <a:pt x="2549236" y="0"/>
                    <a:pt x="2605116" y="55880"/>
                    <a:pt x="2605116" y="124460"/>
                  </a:cubicBezTo>
                  <a:lnTo>
                    <a:pt x="2605116" y="1481166"/>
                  </a:lnTo>
                  <a:cubicBezTo>
                    <a:pt x="2605116" y="1549746"/>
                    <a:pt x="2549236" y="1605627"/>
                    <a:pt x="2480656" y="1605627"/>
                  </a:cubicBezTo>
                  <a:close/>
                </a:path>
              </a:pathLst>
            </a:custGeom>
            <a:solidFill>
              <a:srgbClr val="021E45"/>
            </a:solidFill>
          </p:spPr>
        </p:sp>
      </p:grpSp>
      <p:grpSp>
        <p:nvGrpSpPr>
          <p:cNvPr name="Group 33" id="33"/>
          <p:cNvGrpSpPr/>
          <p:nvPr/>
        </p:nvGrpSpPr>
        <p:grpSpPr>
          <a:xfrm rot="0">
            <a:off x="11340187" y="7422698"/>
            <a:ext cx="3776692" cy="2230261"/>
            <a:chOff x="0" y="0"/>
            <a:chExt cx="2718945" cy="1605626"/>
          </a:xfrm>
        </p:grpSpPr>
        <p:sp>
          <p:nvSpPr>
            <p:cNvPr name="Freeform 34" id="34"/>
            <p:cNvSpPr/>
            <p:nvPr/>
          </p:nvSpPr>
          <p:spPr>
            <a:xfrm flipH="false" flipV="false" rot="0">
              <a:off x="0" y="0"/>
              <a:ext cx="2718945" cy="1605627"/>
            </a:xfrm>
            <a:custGeom>
              <a:avLst/>
              <a:gdLst/>
              <a:ahLst/>
              <a:cxnLst/>
              <a:rect r="r" b="b" t="t" l="l"/>
              <a:pathLst>
                <a:path h="1605627" w="2718945">
                  <a:moveTo>
                    <a:pt x="2594485" y="1605626"/>
                  </a:moveTo>
                  <a:lnTo>
                    <a:pt x="124460" y="1605626"/>
                  </a:lnTo>
                  <a:cubicBezTo>
                    <a:pt x="55880" y="1605626"/>
                    <a:pt x="0" y="1549746"/>
                    <a:pt x="0" y="1481166"/>
                  </a:cubicBezTo>
                  <a:lnTo>
                    <a:pt x="0" y="124460"/>
                  </a:lnTo>
                  <a:cubicBezTo>
                    <a:pt x="0" y="55880"/>
                    <a:pt x="55880" y="0"/>
                    <a:pt x="124460" y="0"/>
                  </a:cubicBezTo>
                  <a:lnTo>
                    <a:pt x="2594485" y="0"/>
                  </a:lnTo>
                  <a:cubicBezTo>
                    <a:pt x="2663065" y="0"/>
                    <a:pt x="2718945" y="55880"/>
                    <a:pt x="2718945" y="124460"/>
                  </a:cubicBezTo>
                  <a:lnTo>
                    <a:pt x="2718945" y="1481166"/>
                  </a:lnTo>
                  <a:cubicBezTo>
                    <a:pt x="2718945" y="1549746"/>
                    <a:pt x="2663065" y="1605627"/>
                    <a:pt x="2594485" y="1605627"/>
                  </a:cubicBezTo>
                  <a:close/>
                </a:path>
              </a:pathLst>
            </a:custGeom>
            <a:solidFill>
              <a:srgbClr val="021E45"/>
            </a:solidFill>
          </p:spPr>
        </p:sp>
      </p:grpSp>
      <p:sp>
        <p:nvSpPr>
          <p:cNvPr name="TextBox 35" id="35"/>
          <p:cNvSpPr txBox="true"/>
          <p:nvPr/>
        </p:nvSpPr>
        <p:spPr>
          <a:xfrm rot="0">
            <a:off x="3305093" y="7538668"/>
            <a:ext cx="3195939" cy="2260400"/>
          </a:xfrm>
          <a:prstGeom prst="rect">
            <a:avLst/>
          </a:prstGeom>
        </p:spPr>
        <p:txBody>
          <a:bodyPr anchor="t" rtlCol="false" tIns="0" lIns="0" bIns="0" rIns="0">
            <a:spAutoFit/>
          </a:bodyPr>
          <a:lstStyle/>
          <a:p>
            <a:pPr algn="just" marL="348309" indent="-174155" lvl="1">
              <a:lnSpc>
                <a:spcPts val="2258"/>
              </a:lnSpc>
              <a:buFont typeface="Arial"/>
              <a:buChar char="•"/>
            </a:pPr>
            <a:r>
              <a:rPr lang="en-US" b="true" sz="1613">
                <a:solidFill>
                  <a:srgbClr val="FFFFFF"/>
                </a:solidFill>
                <a:latin typeface="Arimo Bold"/>
                <a:ea typeface="Arimo Bold"/>
                <a:cs typeface="Arimo Bold"/>
                <a:sym typeface="Arimo Bold"/>
              </a:rPr>
              <a:t>Collision Detection ensures passenger safety</a:t>
            </a:r>
          </a:p>
          <a:p>
            <a:pPr algn="just" marL="348309" indent="-174155" lvl="1">
              <a:lnSpc>
                <a:spcPts val="2258"/>
              </a:lnSpc>
              <a:buFont typeface="Arial"/>
              <a:buChar char="•"/>
            </a:pPr>
            <a:r>
              <a:rPr lang="en-US" b="true" sz="1613">
                <a:solidFill>
                  <a:srgbClr val="FFFFFF"/>
                </a:solidFill>
                <a:latin typeface="Arimo Bold"/>
                <a:ea typeface="Arimo Bold"/>
                <a:cs typeface="Arimo Bold"/>
                <a:sym typeface="Arimo Bold"/>
              </a:rPr>
              <a:t>Speed control system ensures safe journey</a:t>
            </a:r>
          </a:p>
          <a:p>
            <a:pPr algn="just" marL="348309" indent="-174155" lvl="1">
              <a:lnSpc>
                <a:spcPts val="2258"/>
              </a:lnSpc>
              <a:buFont typeface="Arial"/>
              <a:buChar char="•"/>
            </a:pPr>
            <a:r>
              <a:rPr lang="en-US" b="true" sz="1613">
                <a:solidFill>
                  <a:srgbClr val="FFFFFF"/>
                </a:solidFill>
                <a:latin typeface="Arimo Bold"/>
                <a:ea typeface="Arimo Bold"/>
                <a:cs typeface="Arimo Bold"/>
                <a:sym typeface="Arimo Bold"/>
              </a:rPr>
              <a:t>Enhanced safety measures like indicators ensure safety on roads</a:t>
            </a:r>
          </a:p>
          <a:p>
            <a:pPr algn="just" marL="348309" indent="-174155" lvl="1">
              <a:lnSpc>
                <a:spcPts val="2258"/>
              </a:lnSpc>
              <a:buFont typeface="Arial"/>
              <a:buChar char="•"/>
            </a:pPr>
          </a:p>
        </p:txBody>
      </p:sp>
      <p:sp>
        <p:nvSpPr>
          <p:cNvPr name="TextBox 36" id="36"/>
          <p:cNvSpPr txBox="true"/>
          <p:nvPr/>
        </p:nvSpPr>
        <p:spPr>
          <a:xfrm rot="0">
            <a:off x="7302585" y="7665535"/>
            <a:ext cx="3373815" cy="1696962"/>
          </a:xfrm>
          <a:prstGeom prst="rect">
            <a:avLst/>
          </a:prstGeom>
        </p:spPr>
        <p:txBody>
          <a:bodyPr anchor="t" rtlCol="false" tIns="0" lIns="0" bIns="0" rIns="0">
            <a:spAutoFit/>
          </a:bodyPr>
          <a:lstStyle/>
          <a:p>
            <a:pPr algn="just" marL="348309" indent="-174155" lvl="1">
              <a:lnSpc>
                <a:spcPts val="2258"/>
              </a:lnSpc>
              <a:buFont typeface="Arial"/>
              <a:buChar char="•"/>
            </a:pPr>
            <a:r>
              <a:rPr lang="en-US" b="true" sz="1613">
                <a:solidFill>
                  <a:srgbClr val="FFFFFF"/>
                </a:solidFill>
                <a:latin typeface="Arimo Bold"/>
                <a:ea typeface="Arimo Bold"/>
                <a:cs typeface="Arimo Bold"/>
                <a:sym typeface="Arimo Bold"/>
              </a:rPr>
              <a:t>Energy saving features like Solar Panel</a:t>
            </a:r>
          </a:p>
          <a:p>
            <a:pPr algn="just" marL="348309" indent="-174155" lvl="1">
              <a:lnSpc>
                <a:spcPts val="2258"/>
              </a:lnSpc>
              <a:buFont typeface="Arial"/>
              <a:buChar char="•"/>
            </a:pPr>
            <a:r>
              <a:rPr lang="en-US" b="true" sz="1613">
                <a:solidFill>
                  <a:srgbClr val="FFFFFF"/>
                </a:solidFill>
                <a:latin typeface="Arimo Bold"/>
                <a:ea typeface="Arimo Bold"/>
                <a:cs typeface="Arimo Bold"/>
                <a:sym typeface="Arimo Bold"/>
              </a:rPr>
              <a:t>Reduces charging time, saving excess use of electricity and fossil fuels</a:t>
            </a:r>
          </a:p>
          <a:p>
            <a:pPr algn="just" marL="348309" indent="-174155" lvl="1">
              <a:lnSpc>
                <a:spcPts val="2258"/>
              </a:lnSpc>
              <a:buFont typeface="Arial"/>
              <a:buChar char="•"/>
            </a:pPr>
            <a:r>
              <a:rPr lang="en-US" b="true" sz="1613">
                <a:solidFill>
                  <a:srgbClr val="FFFFFF"/>
                </a:solidFill>
                <a:latin typeface="Arimo Bold"/>
                <a:ea typeface="Arimo Bold"/>
                <a:cs typeface="Arimo Bold"/>
                <a:sym typeface="Arimo Bold"/>
              </a:rPr>
              <a:t>Zero carbon emission </a:t>
            </a:r>
          </a:p>
        </p:txBody>
      </p:sp>
      <p:sp>
        <p:nvSpPr>
          <p:cNvPr name="TextBox 37" id="37"/>
          <p:cNvSpPr txBox="true"/>
          <p:nvPr/>
        </p:nvSpPr>
        <p:spPr>
          <a:xfrm rot="0">
            <a:off x="11300078" y="7665535"/>
            <a:ext cx="3639200" cy="1691062"/>
          </a:xfrm>
          <a:prstGeom prst="rect">
            <a:avLst/>
          </a:prstGeom>
        </p:spPr>
        <p:txBody>
          <a:bodyPr anchor="t" rtlCol="false" tIns="0" lIns="0" bIns="0" rIns="0">
            <a:spAutoFit/>
          </a:bodyPr>
          <a:lstStyle/>
          <a:p>
            <a:pPr algn="just" marL="347063" indent="-173532" lvl="1">
              <a:lnSpc>
                <a:spcPts val="2250"/>
              </a:lnSpc>
              <a:buFont typeface="Arial"/>
              <a:buChar char="•"/>
            </a:pPr>
            <a:r>
              <a:rPr lang="en-US" b="true" sz="1607">
                <a:solidFill>
                  <a:srgbClr val="FFFFFF"/>
                </a:solidFill>
                <a:latin typeface="Arimo Bold"/>
                <a:ea typeface="Arimo Bold"/>
                <a:cs typeface="Arimo Bold"/>
                <a:sym typeface="Arimo Bold"/>
              </a:rPr>
              <a:t>Rickshaw represents the cultural tradition in Bangladesh</a:t>
            </a:r>
          </a:p>
          <a:p>
            <a:pPr algn="just" marL="347063" indent="-173532" lvl="1">
              <a:lnSpc>
                <a:spcPts val="2250"/>
              </a:lnSpc>
              <a:buFont typeface="Arial"/>
              <a:buChar char="•"/>
            </a:pPr>
            <a:r>
              <a:rPr lang="en-US" b="true" sz="1607">
                <a:solidFill>
                  <a:srgbClr val="FFFFFF"/>
                </a:solidFill>
                <a:latin typeface="Arimo Bold"/>
                <a:ea typeface="Arimo Bold"/>
                <a:cs typeface="Arimo Bold"/>
                <a:sym typeface="Arimo Bold"/>
              </a:rPr>
              <a:t>Source of income for low-income people</a:t>
            </a:r>
          </a:p>
          <a:p>
            <a:pPr algn="just" marL="347063" indent="-173532" lvl="1">
              <a:lnSpc>
                <a:spcPts val="2250"/>
              </a:lnSpc>
              <a:buFont typeface="Arial"/>
              <a:buChar char="•"/>
            </a:pPr>
            <a:r>
              <a:rPr lang="en-US" b="true" sz="1607">
                <a:solidFill>
                  <a:srgbClr val="FFFFFF"/>
                </a:solidFill>
                <a:latin typeface="Arimo Bold"/>
                <a:ea typeface="Arimo Bold"/>
                <a:cs typeface="Arimo Bold"/>
                <a:sym typeface="Arimo Bold"/>
              </a:rPr>
              <a:t>Easier mode of communication for people earning less.</a:t>
            </a:r>
          </a:p>
        </p:txBody>
      </p:sp>
      <p:sp>
        <p:nvSpPr>
          <p:cNvPr name="TextBox 38" id="3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9925" y="19899"/>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TextBox 9" id="9"/>
          <p:cNvSpPr txBox="true"/>
          <p:nvPr/>
        </p:nvSpPr>
        <p:spPr>
          <a:xfrm rot="0">
            <a:off x="373222" y="227015"/>
            <a:ext cx="8480472" cy="1619250"/>
          </a:xfrm>
          <a:prstGeom prst="rect">
            <a:avLst/>
          </a:prstGeom>
        </p:spPr>
        <p:txBody>
          <a:bodyPr anchor="t" rtlCol="false" tIns="0" lIns="0" bIns="0" rIns="0">
            <a:spAutoFit/>
          </a:bodyPr>
          <a:lstStyle/>
          <a:p>
            <a:pPr algn="l">
              <a:lnSpc>
                <a:spcPts val="6367"/>
              </a:lnSpc>
              <a:spcBef>
                <a:spcPct val="0"/>
              </a:spcBef>
            </a:pPr>
            <a:r>
              <a:rPr lang="en-US" b="true" sz="5306">
                <a:solidFill>
                  <a:srgbClr val="041E6B"/>
                </a:solidFill>
                <a:latin typeface="Arimo Bold"/>
                <a:ea typeface="Arimo Bold"/>
                <a:cs typeface="Arimo Bold"/>
                <a:sym typeface="Arimo Bold"/>
              </a:rPr>
              <a:t>5.4 ASSESSMENT OF THE IMPACT </a:t>
            </a:r>
          </a:p>
        </p:txBody>
      </p:sp>
      <p:grpSp>
        <p:nvGrpSpPr>
          <p:cNvPr name="Group 10" id="10"/>
          <p:cNvGrpSpPr/>
          <p:nvPr/>
        </p:nvGrpSpPr>
        <p:grpSpPr>
          <a:xfrm rot="0">
            <a:off x="1648258" y="4283702"/>
            <a:ext cx="2690030" cy="269003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41E6B"/>
              </a:solidFill>
              <a:prstDash val="solid"/>
              <a:miter/>
            </a:ln>
          </p:spPr>
        </p:sp>
        <p:sp>
          <p:nvSpPr>
            <p:cNvPr name="TextBox 12" id="12"/>
            <p:cNvSpPr txBox="true"/>
            <p:nvPr/>
          </p:nvSpPr>
          <p:spPr>
            <a:xfrm>
              <a:off x="76200" y="47625"/>
              <a:ext cx="660400" cy="688975"/>
            </a:xfrm>
            <a:prstGeom prst="rect">
              <a:avLst/>
            </a:prstGeom>
          </p:spPr>
          <p:txBody>
            <a:bodyPr anchor="ctr" rtlCol="false" tIns="50800" lIns="50800" bIns="50800" rIns="50800"/>
            <a:lstStyle/>
            <a:p>
              <a:pPr algn="ctr">
                <a:lnSpc>
                  <a:spcPts val="1960"/>
                </a:lnSpc>
                <a:spcBef>
                  <a:spcPct val="0"/>
                </a:spcBef>
              </a:pPr>
            </a:p>
          </p:txBody>
        </p:sp>
      </p:grpSp>
      <p:grpSp>
        <p:nvGrpSpPr>
          <p:cNvPr name="Group 13" id="13"/>
          <p:cNvGrpSpPr/>
          <p:nvPr/>
        </p:nvGrpSpPr>
        <p:grpSpPr>
          <a:xfrm rot="0">
            <a:off x="1780712" y="4416156"/>
            <a:ext cx="2425124" cy="242512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CFFD"/>
            </a:solidFill>
            <a:ln w="57150" cap="sq">
              <a:solidFill>
                <a:srgbClr val="041E6B"/>
              </a:solidFill>
              <a:prstDash val="solid"/>
              <a:miter/>
            </a:ln>
          </p:spPr>
        </p:sp>
        <p:sp>
          <p:nvSpPr>
            <p:cNvPr name="TextBox 15" id="15"/>
            <p:cNvSpPr txBox="true"/>
            <p:nvPr/>
          </p:nvSpPr>
          <p:spPr>
            <a:xfrm>
              <a:off x="76200" y="47625"/>
              <a:ext cx="660400" cy="688975"/>
            </a:xfrm>
            <a:prstGeom prst="rect">
              <a:avLst/>
            </a:prstGeom>
          </p:spPr>
          <p:txBody>
            <a:bodyPr anchor="ctr" rtlCol="false" tIns="50800" lIns="50800" bIns="50800" rIns="50800"/>
            <a:lstStyle/>
            <a:p>
              <a:pPr algn="ctr">
                <a:lnSpc>
                  <a:spcPts val="1960"/>
                </a:lnSpc>
                <a:spcBef>
                  <a:spcPct val="0"/>
                </a:spcBef>
              </a:pPr>
            </a:p>
          </p:txBody>
        </p:sp>
      </p:grpSp>
      <p:sp>
        <p:nvSpPr>
          <p:cNvPr name="TextBox 16" id="16"/>
          <p:cNvSpPr txBox="true"/>
          <p:nvPr/>
        </p:nvSpPr>
        <p:spPr>
          <a:xfrm rot="0">
            <a:off x="2150700" y="5169817"/>
            <a:ext cx="1685146" cy="831922"/>
          </a:xfrm>
          <a:prstGeom prst="rect">
            <a:avLst/>
          </a:prstGeom>
        </p:spPr>
        <p:txBody>
          <a:bodyPr anchor="t" rtlCol="false" tIns="0" lIns="0" bIns="0" rIns="0">
            <a:spAutoFit/>
          </a:bodyPr>
          <a:lstStyle/>
          <a:p>
            <a:pPr algn="ctr">
              <a:lnSpc>
                <a:spcPts val="3339"/>
              </a:lnSpc>
            </a:pPr>
            <a:r>
              <a:rPr lang="en-US" sz="2806" spc="72">
                <a:solidFill>
                  <a:srgbClr val="393939"/>
                </a:solidFill>
                <a:latin typeface="Agrandir Tight"/>
                <a:ea typeface="Agrandir Tight"/>
                <a:cs typeface="Agrandir Tight"/>
                <a:sym typeface="Agrandir Tight"/>
              </a:rPr>
              <a:t>IMPACT </a:t>
            </a:r>
          </a:p>
          <a:p>
            <a:pPr algn="ctr">
              <a:lnSpc>
                <a:spcPts val="2744"/>
              </a:lnSpc>
            </a:pPr>
            <a:r>
              <a:rPr lang="en-US" sz="2306" spc="59">
                <a:solidFill>
                  <a:srgbClr val="393939"/>
                </a:solidFill>
                <a:latin typeface="Agrandir Tight"/>
                <a:ea typeface="Agrandir Tight"/>
                <a:cs typeface="Agrandir Tight"/>
                <a:sym typeface="Agrandir Tight"/>
              </a:rPr>
              <a:t>ASSESSMENT</a:t>
            </a:r>
          </a:p>
        </p:txBody>
      </p:sp>
      <p:grpSp>
        <p:nvGrpSpPr>
          <p:cNvPr name="Group 17" id="17"/>
          <p:cNvGrpSpPr/>
          <p:nvPr/>
        </p:nvGrpSpPr>
        <p:grpSpPr>
          <a:xfrm rot="0">
            <a:off x="5628753" y="1725509"/>
            <a:ext cx="1747357" cy="174735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CFFD"/>
            </a:solidFill>
            <a:ln w="38100" cap="sq">
              <a:solidFill>
                <a:srgbClr val="041E6B"/>
              </a:solidFill>
              <a:prstDash val="solid"/>
              <a:miter/>
            </a:ln>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1960"/>
                </a:lnSpc>
                <a:spcBef>
                  <a:spcPct val="0"/>
                </a:spcBef>
              </a:pPr>
            </a:p>
          </p:txBody>
        </p:sp>
      </p:grpSp>
      <p:sp>
        <p:nvSpPr>
          <p:cNvPr name="TextBox 20" id="20"/>
          <p:cNvSpPr txBox="true"/>
          <p:nvPr/>
        </p:nvSpPr>
        <p:spPr>
          <a:xfrm rot="0">
            <a:off x="5786042" y="2308884"/>
            <a:ext cx="1432778" cy="647739"/>
          </a:xfrm>
          <a:prstGeom prst="rect">
            <a:avLst/>
          </a:prstGeom>
        </p:spPr>
        <p:txBody>
          <a:bodyPr anchor="t" rtlCol="false" tIns="0" lIns="0" bIns="0" rIns="0">
            <a:spAutoFit/>
          </a:bodyPr>
          <a:lstStyle/>
          <a:p>
            <a:pPr algn="ctr">
              <a:lnSpc>
                <a:spcPts val="2342"/>
              </a:lnSpc>
            </a:pPr>
            <a:r>
              <a:rPr lang="en-US" sz="1968">
                <a:solidFill>
                  <a:srgbClr val="393939"/>
                </a:solidFill>
                <a:latin typeface="Agrandir Tight"/>
                <a:ea typeface="Agrandir Tight"/>
                <a:cs typeface="Agrandir Tight"/>
                <a:sym typeface="Agrandir Tight"/>
              </a:rPr>
              <a:t>SOCIETAL ISSUES</a:t>
            </a:r>
          </a:p>
        </p:txBody>
      </p:sp>
      <p:grpSp>
        <p:nvGrpSpPr>
          <p:cNvPr name="Group 21" id="21"/>
          <p:cNvGrpSpPr/>
          <p:nvPr/>
        </p:nvGrpSpPr>
        <p:grpSpPr>
          <a:xfrm rot="0">
            <a:off x="5628753" y="3745196"/>
            <a:ext cx="1747357" cy="174735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CFFD"/>
            </a:solidFill>
            <a:ln w="38100" cap="sq">
              <a:solidFill>
                <a:srgbClr val="041E6B"/>
              </a:solidFill>
              <a:prstDash val="solid"/>
              <a:miter/>
            </a:ln>
          </p:spPr>
        </p:sp>
        <p:sp>
          <p:nvSpPr>
            <p:cNvPr name="TextBox 23" id="23"/>
            <p:cNvSpPr txBox="true"/>
            <p:nvPr/>
          </p:nvSpPr>
          <p:spPr>
            <a:xfrm>
              <a:off x="76200" y="47625"/>
              <a:ext cx="660400" cy="688975"/>
            </a:xfrm>
            <a:prstGeom prst="rect">
              <a:avLst/>
            </a:prstGeom>
          </p:spPr>
          <p:txBody>
            <a:bodyPr anchor="ctr" rtlCol="false" tIns="50800" lIns="50800" bIns="50800" rIns="50800"/>
            <a:lstStyle/>
            <a:p>
              <a:pPr algn="ctr">
                <a:lnSpc>
                  <a:spcPts val="1960"/>
                </a:lnSpc>
                <a:spcBef>
                  <a:spcPct val="0"/>
                </a:spcBef>
              </a:pPr>
            </a:p>
          </p:txBody>
        </p:sp>
      </p:grpSp>
      <p:sp>
        <p:nvSpPr>
          <p:cNvPr name="TextBox 24" id="24"/>
          <p:cNvSpPr txBox="true"/>
          <p:nvPr/>
        </p:nvSpPr>
        <p:spPr>
          <a:xfrm rot="0">
            <a:off x="5786042" y="4279795"/>
            <a:ext cx="1432778" cy="941783"/>
          </a:xfrm>
          <a:prstGeom prst="rect">
            <a:avLst/>
          </a:prstGeom>
        </p:spPr>
        <p:txBody>
          <a:bodyPr anchor="t" rtlCol="false" tIns="0" lIns="0" bIns="0" rIns="0">
            <a:spAutoFit/>
          </a:bodyPr>
          <a:lstStyle/>
          <a:p>
            <a:pPr algn="ctr">
              <a:lnSpc>
                <a:spcPts val="2342"/>
              </a:lnSpc>
            </a:pPr>
            <a:r>
              <a:rPr lang="en-US" sz="1968">
                <a:solidFill>
                  <a:srgbClr val="393939"/>
                </a:solidFill>
                <a:latin typeface="Agrandir Tight"/>
                <a:ea typeface="Agrandir Tight"/>
                <a:cs typeface="Agrandir Tight"/>
                <a:sym typeface="Agrandir Tight"/>
              </a:rPr>
              <a:t>HEALTH &amp; SAFETY ISSUES</a:t>
            </a:r>
          </a:p>
        </p:txBody>
      </p:sp>
      <p:grpSp>
        <p:nvGrpSpPr>
          <p:cNvPr name="Group 25" id="25"/>
          <p:cNvGrpSpPr/>
          <p:nvPr/>
        </p:nvGrpSpPr>
        <p:grpSpPr>
          <a:xfrm rot="0">
            <a:off x="5628753" y="5764882"/>
            <a:ext cx="1747357" cy="174735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CFFD"/>
            </a:solidFill>
            <a:ln w="38100" cap="sq">
              <a:solidFill>
                <a:srgbClr val="041E6B"/>
              </a:solidFill>
              <a:prstDash val="solid"/>
              <a:miter/>
            </a:ln>
          </p:spPr>
        </p:sp>
        <p:sp>
          <p:nvSpPr>
            <p:cNvPr name="TextBox 27" id="27"/>
            <p:cNvSpPr txBox="true"/>
            <p:nvPr/>
          </p:nvSpPr>
          <p:spPr>
            <a:xfrm>
              <a:off x="76200" y="47625"/>
              <a:ext cx="660400" cy="688975"/>
            </a:xfrm>
            <a:prstGeom prst="rect">
              <a:avLst/>
            </a:prstGeom>
          </p:spPr>
          <p:txBody>
            <a:bodyPr anchor="ctr" rtlCol="false" tIns="50800" lIns="50800" bIns="50800" rIns="50800"/>
            <a:lstStyle/>
            <a:p>
              <a:pPr algn="ctr">
                <a:lnSpc>
                  <a:spcPts val="1960"/>
                </a:lnSpc>
                <a:spcBef>
                  <a:spcPct val="0"/>
                </a:spcBef>
              </a:pPr>
            </a:p>
          </p:txBody>
        </p:sp>
      </p:grpSp>
      <p:sp>
        <p:nvSpPr>
          <p:cNvPr name="TextBox 28" id="28"/>
          <p:cNvSpPr txBox="true"/>
          <p:nvPr/>
        </p:nvSpPr>
        <p:spPr>
          <a:xfrm rot="0">
            <a:off x="5865329" y="6304169"/>
            <a:ext cx="1274204" cy="647739"/>
          </a:xfrm>
          <a:prstGeom prst="rect">
            <a:avLst/>
          </a:prstGeom>
        </p:spPr>
        <p:txBody>
          <a:bodyPr anchor="t" rtlCol="false" tIns="0" lIns="0" bIns="0" rIns="0">
            <a:spAutoFit/>
          </a:bodyPr>
          <a:lstStyle/>
          <a:p>
            <a:pPr algn="ctr">
              <a:lnSpc>
                <a:spcPts val="2342"/>
              </a:lnSpc>
            </a:pPr>
            <a:r>
              <a:rPr lang="en-US" sz="1968">
                <a:solidFill>
                  <a:srgbClr val="393939"/>
                </a:solidFill>
                <a:latin typeface="Agrandir Tight"/>
                <a:ea typeface="Agrandir Tight"/>
                <a:cs typeface="Agrandir Tight"/>
                <a:sym typeface="Agrandir Tight"/>
              </a:rPr>
              <a:t>LEGAL ISSUES</a:t>
            </a:r>
          </a:p>
        </p:txBody>
      </p:sp>
      <p:grpSp>
        <p:nvGrpSpPr>
          <p:cNvPr name="Group 29" id="29"/>
          <p:cNvGrpSpPr/>
          <p:nvPr/>
        </p:nvGrpSpPr>
        <p:grpSpPr>
          <a:xfrm rot="0">
            <a:off x="5628753" y="7784569"/>
            <a:ext cx="1747357" cy="174735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CFFD"/>
            </a:solidFill>
            <a:ln w="38100" cap="sq">
              <a:solidFill>
                <a:srgbClr val="041E6B"/>
              </a:solidFill>
              <a:prstDash val="solid"/>
              <a:miter/>
            </a:ln>
          </p:spPr>
        </p:sp>
        <p:sp>
          <p:nvSpPr>
            <p:cNvPr name="TextBox 31" id="31"/>
            <p:cNvSpPr txBox="true"/>
            <p:nvPr/>
          </p:nvSpPr>
          <p:spPr>
            <a:xfrm>
              <a:off x="76200" y="47625"/>
              <a:ext cx="660400" cy="688975"/>
            </a:xfrm>
            <a:prstGeom prst="rect">
              <a:avLst/>
            </a:prstGeom>
          </p:spPr>
          <p:txBody>
            <a:bodyPr anchor="ctr" rtlCol="false" tIns="50800" lIns="50800" bIns="50800" rIns="50800"/>
            <a:lstStyle/>
            <a:p>
              <a:pPr algn="ctr">
                <a:lnSpc>
                  <a:spcPts val="1960"/>
                </a:lnSpc>
                <a:spcBef>
                  <a:spcPct val="0"/>
                </a:spcBef>
              </a:pPr>
            </a:p>
          </p:txBody>
        </p:sp>
      </p:grpSp>
      <p:sp>
        <p:nvSpPr>
          <p:cNvPr name="TextBox 32" id="32"/>
          <p:cNvSpPr txBox="true"/>
          <p:nvPr/>
        </p:nvSpPr>
        <p:spPr>
          <a:xfrm rot="0">
            <a:off x="5786042" y="8311041"/>
            <a:ext cx="1432778" cy="647739"/>
          </a:xfrm>
          <a:prstGeom prst="rect">
            <a:avLst/>
          </a:prstGeom>
        </p:spPr>
        <p:txBody>
          <a:bodyPr anchor="t" rtlCol="false" tIns="0" lIns="0" bIns="0" rIns="0">
            <a:spAutoFit/>
          </a:bodyPr>
          <a:lstStyle/>
          <a:p>
            <a:pPr algn="ctr">
              <a:lnSpc>
                <a:spcPts val="2342"/>
              </a:lnSpc>
            </a:pPr>
            <a:r>
              <a:rPr lang="en-US" sz="1968">
                <a:solidFill>
                  <a:srgbClr val="393939"/>
                </a:solidFill>
                <a:latin typeface="Agrandir Tight"/>
                <a:ea typeface="Agrandir Tight"/>
                <a:cs typeface="Agrandir Tight"/>
                <a:sym typeface="Agrandir Tight"/>
              </a:rPr>
              <a:t>CULTURAL ISSUES</a:t>
            </a:r>
          </a:p>
        </p:txBody>
      </p:sp>
      <p:sp>
        <p:nvSpPr>
          <p:cNvPr name="AutoShape 33" id="33"/>
          <p:cNvSpPr/>
          <p:nvPr/>
        </p:nvSpPr>
        <p:spPr>
          <a:xfrm flipH="true" flipV="true">
            <a:off x="7376110" y="2599187"/>
            <a:ext cx="981809" cy="0"/>
          </a:xfrm>
          <a:prstGeom prst="line">
            <a:avLst/>
          </a:prstGeom>
          <a:ln cap="flat" w="28575">
            <a:solidFill>
              <a:srgbClr val="435F70"/>
            </a:solidFill>
            <a:prstDash val="sysDot"/>
            <a:headEnd type="none" len="sm" w="sm"/>
            <a:tailEnd type="none" len="sm" w="sm"/>
          </a:ln>
        </p:spPr>
      </p:sp>
      <p:grpSp>
        <p:nvGrpSpPr>
          <p:cNvPr name="Group 34" id="34"/>
          <p:cNvGrpSpPr/>
          <p:nvPr/>
        </p:nvGrpSpPr>
        <p:grpSpPr>
          <a:xfrm rot="0">
            <a:off x="8357918" y="1840628"/>
            <a:ext cx="7683699" cy="1517118"/>
            <a:chOff x="0" y="0"/>
            <a:chExt cx="4425076" cy="873715"/>
          </a:xfrm>
        </p:grpSpPr>
        <p:sp>
          <p:nvSpPr>
            <p:cNvPr name="Freeform 35" id="35"/>
            <p:cNvSpPr/>
            <p:nvPr/>
          </p:nvSpPr>
          <p:spPr>
            <a:xfrm flipH="false" flipV="false" rot="0">
              <a:off x="0" y="0"/>
              <a:ext cx="4425076" cy="873715"/>
            </a:xfrm>
            <a:custGeom>
              <a:avLst/>
              <a:gdLst/>
              <a:ahLst/>
              <a:cxnLst/>
              <a:rect r="r" b="b" t="t" l="l"/>
              <a:pathLst>
                <a:path h="873715" w="4425076">
                  <a:moveTo>
                    <a:pt x="100758" y="0"/>
                  </a:moveTo>
                  <a:lnTo>
                    <a:pt x="4324318" y="0"/>
                  </a:lnTo>
                  <a:cubicBezTo>
                    <a:pt x="4379965" y="0"/>
                    <a:pt x="4425076" y="45111"/>
                    <a:pt x="4425076" y="100758"/>
                  </a:cubicBezTo>
                  <a:lnTo>
                    <a:pt x="4425076" y="772957"/>
                  </a:lnTo>
                  <a:cubicBezTo>
                    <a:pt x="4425076" y="799680"/>
                    <a:pt x="4414460" y="825308"/>
                    <a:pt x="4395564" y="844204"/>
                  </a:cubicBezTo>
                  <a:cubicBezTo>
                    <a:pt x="4376669" y="863099"/>
                    <a:pt x="4351041" y="873715"/>
                    <a:pt x="4324318" y="873715"/>
                  </a:cubicBezTo>
                  <a:lnTo>
                    <a:pt x="100758" y="873715"/>
                  </a:lnTo>
                  <a:cubicBezTo>
                    <a:pt x="74035" y="873715"/>
                    <a:pt x="48407" y="863099"/>
                    <a:pt x="29511" y="844204"/>
                  </a:cubicBezTo>
                  <a:cubicBezTo>
                    <a:pt x="10616" y="825308"/>
                    <a:pt x="0" y="799680"/>
                    <a:pt x="0" y="772957"/>
                  </a:cubicBezTo>
                  <a:lnTo>
                    <a:pt x="0" y="100758"/>
                  </a:lnTo>
                  <a:cubicBezTo>
                    <a:pt x="0" y="74035"/>
                    <a:pt x="10616" y="48407"/>
                    <a:pt x="29511" y="29511"/>
                  </a:cubicBezTo>
                  <a:cubicBezTo>
                    <a:pt x="48407" y="10616"/>
                    <a:pt x="74035" y="0"/>
                    <a:pt x="100758" y="0"/>
                  </a:cubicBezTo>
                  <a:close/>
                </a:path>
              </a:pathLst>
            </a:custGeom>
            <a:solidFill>
              <a:srgbClr val="041E6B"/>
            </a:solidFill>
            <a:ln w="19050" cap="rnd">
              <a:solidFill>
                <a:srgbClr val="BDCFFD"/>
              </a:solidFill>
              <a:prstDash val="solid"/>
              <a:round/>
            </a:ln>
          </p:spPr>
        </p:sp>
        <p:sp>
          <p:nvSpPr>
            <p:cNvPr name="TextBox 36" id="36"/>
            <p:cNvSpPr txBox="true"/>
            <p:nvPr/>
          </p:nvSpPr>
          <p:spPr>
            <a:xfrm>
              <a:off x="0" y="-28575"/>
              <a:ext cx="4425076" cy="902290"/>
            </a:xfrm>
            <a:prstGeom prst="rect">
              <a:avLst/>
            </a:prstGeom>
          </p:spPr>
          <p:txBody>
            <a:bodyPr anchor="ctr" rtlCol="false" tIns="50800" lIns="50800" bIns="50800" rIns="50800"/>
            <a:lstStyle/>
            <a:p>
              <a:pPr algn="ctr">
                <a:lnSpc>
                  <a:spcPts val="1960"/>
                </a:lnSpc>
                <a:spcBef>
                  <a:spcPct val="0"/>
                </a:spcBef>
              </a:pPr>
            </a:p>
          </p:txBody>
        </p:sp>
      </p:grpSp>
      <p:sp>
        <p:nvSpPr>
          <p:cNvPr name="TextBox 37" id="37"/>
          <p:cNvSpPr txBox="true"/>
          <p:nvPr/>
        </p:nvSpPr>
        <p:spPr>
          <a:xfrm rot="0">
            <a:off x="8853218" y="2122937"/>
            <a:ext cx="6456290" cy="1066800"/>
          </a:xfrm>
          <a:prstGeom prst="rect">
            <a:avLst/>
          </a:prstGeom>
        </p:spPr>
        <p:txBody>
          <a:bodyPr anchor="t" rtlCol="false" tIns="0" lIns="0" bIns="0" rIns="0">
            <a:spAutoFit/>
          </a:bodyPr>
          <a:lstStyle/>
          <a:p>
            <a:pPr algn="l" marL="388618" indent="-194309" lvl="1">
              <a:lnSpc>
                <a:spcPts val="2159"/>
              </a:lnSpc>
              <a:buFont typeface="Arial"/>
              <a:buChar char="•"/>
            </a:pPr>
            <a:r>
              <a:rPr lang="en-US" b="true" sz="1799">
                <a:solidFill>
                  <a:srgbClr val="FFFFFF"/>
                </a:solidFill>
                <a:latin typeface="Inter Bold"/>
                <a:ea typeface="Inter Bold"/>
                <a:cs typeface="Inter Bold"/>
                <a:sym typeface="Inter Bold"/>
              </a:rPr>
              <a:t>Reducing Accidents</a:t>
            </a:r>
          </a:p>
          <a:p>
            <a:pPr algn="l" marL="388618" indent="-194309" lvl="1">
              <a:lnSpc>
                <a:spcPts val="2159"/>
              </a:lnSpc>
              <a:buFont typeface="Arial"/>
              <a:buChar char="•"/>
            </a:pPr>
            <a:r>
              <a:rPr lang="en-US" b="true" sz="1799">
                <a:solidFill>
                  <a:srgbClr val="FFFFFF"/>
                </a:solidFill>
                <a:latin typeface="Inter Bold"/>
                <a:ea typeface="Inter Bold"/>
                <a:cs typeface="Inter Bold"/>
                <a:sym typeface="Inter Bold"/>
              </a:rPr>
              <a:t>Lowering electricity demands</a:t>
            </a:r>
          </a:p>
          <a:p>
            <a:pPr algn="l" marL="388618" indent="-194309" lvl="1">
              <a:lnSpc>
                <a:spcPts val="2159"/>
              </a:lnSpc>
              <a:buFont typeface="Arial"/>
              <a:buChar char="•"/>
            </a:pPr>
            <a:r>
              <a:rPr lang="en-US" b="true" sz="1799">
                <a:solidFill>
                  <a:srgbClr val="FFFFFF"/>
                </a:solidFill>
                <a:latin typeface="Inter Bold"/>
                <a:ea typeface="Inter Bold"/>
                <a:cs typeface="Inter Bold"/>
                <a:sym typeface="Inter Bold"/>
              </a:rPr>
              <a:t>Enhancing Public Perception</a:t>
            </a:r>
          </a:p>
          <a:p>
            <a:pPr algn="l">
              <a:lnSpc>
                <a:spcPts val="2159"/>
              </a:lnSpc>
            </a:pPr>
          </a:p>
        </p:txBody>
      </p:sp>
      <p:sp>
        <p:nvSpPr>
          <p:cNvPr name="AutoShape 38" id="38"/>
          <p:cNvSpPr/>
          <p:nvPr/>
        </p:nvSpPr>
        <p:spPr>
          <a:xfrm flipH="true" flipV="true">
            <a:off x="7376110" y="4618874"/>
            <a:ext cx="981809" cy="32718"/>
          </a:xfrm>
          <a:prstGeom prst="line">
            <a:avLst/>
          </a:prstGeom>
          <a:ln cap="flat" w="28575">
            <a:solidFill>
              <a:srgbClr val="435F70"/>
            </a:solidFill>
            <a:prstDash val="sysDot"/>
            <a:headEnd type="none" len="sm" w="sm"/>
            <a:tailEnd type="none" len="sm" w="sm"/>
          </a:ln>
        </p:spPr>
      </p:sp>
      <p:grpSp>
        <p:nvGrpSpPr>
          <p:cNvPr name="Group 39" id="39"/>
          <p:cNvGrpSpPr/>
          <p:nvPr/>
        </p:nvGrpSpPr>
        <p:grpSpPr>
          <a:xfrm rot="0">
            <a:off x="8357918" y="3745196"/>
            <a:ext cx="7683699" cy="1812792"/>
            <a:chOff x="0" y="0"/>
            <a:chExt cx="4425076" cy="1043995"/>
          </a:xfrm>
        </p:grpSpPr>
        <p:sp>
          <p:nvSpPr>
            <p:cNvPr name="Freeform 40" id="40"/>
            <p:cNvSpPr/>
            <p:nvPr/>
          </p:nvSpPr>
          <p:spPr>
            <a:xfrm flipH="false" flipV="false" rot="0">
              <a:off x="0" y="0"/>
              <a:ext cx="4425076" cy="1043995"/>
            </a:xfrm>
            <a:custGeom>
              <a:avLst/>
              <a:gdLst/>
              <a:ahLst/>
              <a:cxnLst/>
              <a:rect r="r" b="b" t="t" l="l"/>
              <a:pathLst>
                <a:path h="1043995" w="4425076">
                  <a:moveTo>
                    <a:pt x="100758" y="0"/>
                  </a:moveTo>
                  <a:lnTo>
                    <a:pt x="4324318" y="0"/>
                  </a:lnTo>
                  <a:cubicBezTo>
                    <a:pt x="4379965" y="0"/>
                    <a:pt x="4425076" y="45111"/>
                    <a:pt x="4425076" y="100758"/>
                  </a:cubicBezTo>
                  <a:lnTo>
                    <a:pt x="4425076" y="943237"/>
                  </a:lnTo>
                  <a:cubicBezTo>
                    <a:pt x="4425076" y="969960"/>
                    <a:pt x="4414460" y="995588"/>
                    <a:pt x="4395564" y="1014484"/>
                  </a:cubicBezTo>
                  <a:cubicBezTo>
                    <a:pt x="4376669" y="1033379"/>
                    <a:pt x="4351041" y="1043995"/>
                    <a:pt x="4324318" y="1043995"/>
                  </a:cubicBezTo>
                  <a:lnTo>
                    <a:pt x="100758" y="1043995"/>
                  </a:lnTo>
                  <a:cubicBezTo>
                    <a:pt x="74035" y="1043995"/>
                    <a:pt x="48407" y="1033379"/>
                    <a:pt x="29511" y="1014484"/>
                  </a:cubicBezTo>
                  <a:cubicBezTo>
                    <a:pt x="10616" y="995588"/>
                    <a:pt x="0" y="969960"/>
                    <a:pt x="0" y="943237"/>
                  </a:cubicBezTo>
                  <a:lnTo>
                    <a:pt x="0" y="100758"/>
                  </a:lnTo>
                  <a:cubicBezTo>
                    <a:pt x="0" y="74035"/>
                    <a:pt x="10616" y="48407"/>
                    <a:pt x="29511" y="29511"/>
                  </a:cubicBezTo>
                  <a:cubicBezTo>
                    <a:pt x="48407" y="10616"/>
                    <a:pt x="74035" y="0"/>
                    <a:pt x="100758" y="0"/>
                  </a:cubicBezTo>
                  <a:close/>
                </a:path>
              </a:pathLst>
            </a:custGeom>
            <a:solidFill>
              <a:srgbClr val="041E6B"/>
            </a:solidFill>
            <a:ln w="19050" cap="rnd">
              <a:solidFill>
                <a:srgbClr val="BDCFFD"/>
              </a:solidFill>
              <a:prstDash val="solid"/>
              <a:round/>
            </a:ln>
          </p:spPr>
        </p:sp>
        <p:sp>
          <p:nvSpPr>
            <p:cNvPr name="TextBox 41" id="41"/>
            <p:cNvSpPr txBox="true"/>
            <p:nvPr/>
          </p:nvSpPr>
          <p:spPr>
            <a:xfrm>
              <a:off x="0" y="-28575"/>
              <a:ext cx="4425076" cy="1072570"/>
            </a:xfrm>
            <a:prstGeom prst="rect">
              <a:avLst/>
            </a:prstGeom>
          </p:spPr>
          <p:txBody>
            <a:bodyPr anchor="ctr" rtlCol="false" tIns="50800" lIns="50800" bIns="50800" rIns="50800"/>
            <a:lstStyle/>
            <a:p>
              <a:pPr algn="ctr">
                <a:lnSpc>
                  <a:spcPts val="1960"/>
                </a:lnSpc>
                <a:spcBef>
                  <a:spcPct val="0"/>
                </a:spcBef>
              </a:pPr>
            </a:p>
          </p:txBody>
        </p:sp>
      </p:grpSp>
      <p:sp>
        <p:nvSpPr>
          <p:cNvPr name="AutoShape 42" id="42"/>
          <p:cNvSpPr/>
          <p:nvPr/>
        </p:nvSpPr>
        <p:spPr>
          <a:xfrm flipH="true" flipV="true">
            <a:off x="7376110" y="6638561"/>
            <a:ext cx="981809" cy="0"/>
          </a:xfrm>
          <a:prstGeom prst="line">
            <a:avLst/>
          </a:prstGeom>
          <a:ln cap="flat" w="28575">
            <a:solidFill>
              <a:srgbClr val="435F70"/>
            </a:solidFill>
            <a:prstDash val="sysDot"/>
            <a:headEnd type="none" len="sm" w="sm"/>
            <a:tailEnd type="none" len="sm" w="sm"/>
          </a:ln>
        </p:spPr>
      </p:sp>
      <p:grpSp>
        <p:nvGrpSpPr>
          <p:cNvPr name="Group 43" id="43"/>
          <p:cNvGrpSpPr/>
          <p:nvPr/>
        </p:nvGrpSpPr>
        <p:grpSpPr>
          <a:xfrm rot="0">
            <a:off x="8357918" y="5880002"/>
            <a:ext cx="7683699" cy="1517118"/>
            <a:chOff x="0" y="0"/>
            <a:chExt cx="4425076" cy="873715"/>
          </a:xfrm>
        </p:grpSpPr>
        <p:sp>
          <p:nvSpPr>
            <p:cNvPr name="Freeform 44" id="44"/>
            <p:cNvSpPr/>
            <p:nvPr/>
          </p:nvSpPr>
          <p:spPr>
            <a:xfrm flipH="false" flipV="false" rot="0">
              <a:off x="0" y="0"/>
              <a:ext cx="4425076" cy="873715"/>
            </a:xfrm>
            <a:custGeom>
              <a:avLst/>
              <a:gdLst/>
              <a:ahLst/>
              <a:cxnLst/>
              <a:rect r="r" b="b" t="t" l="l"/>
              <a:pathLst>
                <a:path h="873715" w="4425076">
                  <a:moveTo>
                    <a:pt x="100758" y="0"/>
                  </a:moveTo>
                  <a:lnTo>
                    <a:pt x="4324318" y="0"/>
                  </a:lnTo>
                  <a:cubicBezTo>
                    <a:pt x="4379965" y="0"/>
                    <a:pt x="4425076" y="45111"/>
                    <a:pt x="4425076" y="100758"/>
                  </a:cubicBezTo>
                  <a:lnTo>
                    <a:pt x="4425076" y="772957"/>
                  </a:lnTo>
                  <a:cubicBezTo>
                    <a:pt x="4425076" y="799680"/>
                    <a:pt x="4414460" y="825308"/>
                    <a:pt x="4395564" y="844204"/>
                  </a:cubicBezTo>
                  <a:cubicBezTo>
                    <a:pt x="4376669" y="863099"/>
                    <a:pt x="4351041" y="873715"/>
                    <a:pt x="4324318" y="873715"/>
                  </a:cubicBezTo>
                  <a:lnTo>
                    <a:pt x="100758" y="873715"/>
                  </a:lnTo>
                  <a:cubicBezTo>
                    <a:pt x="74035" y="873715"/>
                    <a:pt x="48407" y="863099"/>
                    <a:pt x="29511" y="844204"/>
                  </a:cubicBezTo>
                  <a:cubicBezTo>
                    <a:pt x="10616" y="825308"/>
                    <a:pt x="0" y="799680"/>
                    <a:pt x="0" y="772957"/>
                  </a:cubicBezTo>
                  <a:lnTo>
                    <a:pt x="0" y="100758"/>
                  </a:lnTo>
                  <a:cubicBezTo>
                    <a:pt x="0" y="74035"/>
                    <a:pt x="10616" y="48407"/>
                    <a:pt x="29511" y="29511"/>
                  </a:cubicBezTo>
                  <a:cubicBezTo>
                    <a:pt x="48407" y="10616"/>
                    <a:pt x="74035" y="0"/>
                    <a:pt x="100758" y="0"/>
                  </a:cubicBezTo>
                  <a:close/>
                </a:path>
              </a:pathLst>
            </a:custGeom>
            <a:solidFill>
              <a:srgbClr val="041E6B"/>
            </a:solidFill>
            <a:ln w="19050" cap="rnd">
              <a:solidFill>
                <a:srgbClr val="BDCFFD"/>
              </a:solidFill>
              <a:prstDash val="solid"/>
              <a:round/>
            </a:ln>
          </p:spPr>
        </p:sp>
        <p:sp>
          <p:nvSpPr>
            <p:cNvPr name="TextBox 45" id="45"/>
            <p:cNvSpPr txBox="true"/>
            <p:nvPr/>
          </p:nvSpPr>
          <p:spPr>
            <a:xfrm>
              <a:off x="0" y="-28575"/>
              <a:ext cx="4425076" cy="902290"/>
            </a:xfrm>
            <a:prstGeom prst="rect">
              <a:avLst/>
            </a:prstGeom>
          </p:spPr>
          <p:txBody>
            <a:bodyPr anchor="ctr" rtlCol="false" tIns="50800" lIns="50800" bIns="50800" rIns="50800"/>
            <a:lstStyle/>
            <a:p>
              <a:pPr algn="ctr">
                <a:lnSpc>
                  <a:spcPts val="1960"/>
                </a:lnSpc>
                <a:spcBef>
                  <a:spcPct val="0"/>
                </a:spcBef>
              </a:pPr>
            </a:p>
          </p:txBody>
        </p:sp>
      </p:grpSp>
      <p:sp>
        <p:nvSpPr>
          <p:cNvPr name="AutoShape 46" id="46"/>
          <p:cNvSpPr/>
          <p:nvPr/>
        </p:nvSpPr>
        <p:spPr>
          <a:xfrm flipH="true">
            <a:off x="7376110" y="8658247"/>
            <a:ext cx="981809" cy="0"/>
          </a:xfrm>
          <a:prstGeom prst="line">
            <a:avLst/>
          </a:prstGeom>
          <a:ln cap="flat" w="28575">
            <a:solidFill>
              <a:srgbClr val="435F70"/>
            </a:solidFill>
            <a:prstDash val="sysDot"/>
            <a:headEnd type="none" len="sm" w="sm"/>
            <a:tailEnd type="none" len="sm" w="sm"/>
          </a:ln>
        </p:spPr>
      </p:sp>
      <p:grpSp>
        <p:nvGrpSpPr>
          <p:cNvPr name="Group 47" id="47"/>
          <p:cNvGrpSpPr/>
          <p:nvPr/>
        </p:nvGrpSpPr>
        <p:grpSpPr>
          <a:xfrm rot="0">
            <a:off x="8357918" y="7899688"/>
            <a:ext cx="7683699" cy="1517118"/>
            <a:chOff x="0" y="0"/>
            <a:chExt cx="4425076" cy="873715"/>
          </a:xfrm>
        </p:grpSpPr>
        <p:sp>
          <p:nvSpPr>
            <p:cNvPr name="Freeform 48" id="48"/>
            <p:cNvSpPr/>
            <p:nvPr/>
          </p:nvSpPr>
          <p:spPr>
            <a:xfrm flipH="false" flipV="false" rot="0">
              <a:off x="0" y="0"/>
              <a:ext cx="4425076" cy="873715"/>
            </a:xfrm>
            <a:custGeom>
              <a:avLst/>
              <a:gdLst/>
              <a:ahLst/>
              <a:cxnLst/>
              <a:rect r="r" b="b" t="t" l="l"/>
              <a:pathLst>
                <a:path h="873715" w="4425076">
                  <a:moveTo>
                    <a:pt x="100758" y="0"/>
                  </a:moveTo>
                  <a:lnTo>
                    <a:pt x="4324318" y="0"/>
                  </a:lnTo>
                  <a:cubicBezTo>
                    <a:pt x="4379965" y="0"/>
                    <a:pt x="4425076" y="45111"/>
                    <a:pt x="4425076" y="100758"/>
                  </a:cubicBezTo>
                  <a:lnTo>
                    <a:pt x="4425076" y="772957"/>
                  </a:lnTo>
                  <a:cubicBezTo>
                    <a:pt x="4425076" y="799680"/>
                    <a:pt x="4414460" y="825308"/>
                    <a:pt x="4395564" y="844204"/>
                  </a:cubicBezTo>
                  <a:cubicBezTo>
                    <a:pt x="4376669" y="863099"/>
                    <a:pt x="4351041" y="873715"/>
                    <a:pt x="4324318" y="873715"/>
                  </a:cubicBezTo>
                  <a:lnTo>
                    <a:pt x="100758" y="873715"/>
                  </a:lnTo>
                  <a:cubicBezTo>
                    <a:pt x="74035" y="873715"/>
                    <a:pt x="48407" y="863099"/>
                    <a:pt x="29511" y="844204"/>
                  </a:cubicBezTo>
                  <a:cubicBezTo>
                    <a:pt x="10616" y="825308"/>
                    <a:pt x="0" y="799680"/>
                    <a:pt x="0" y="772957"/>
                  </a:cubicBezTo>
                  <a:lnTo>
                    <a:pt x="0" y="100758"/>
                  </a:lnTo>
                  <a:cubicBezTo>
                    <a:pt x="0" y="74035"/>
                    <a:pt x="10616" y="48407"/>
                    <a:pt x="29511" y="29511"/>
                  </a:cubicBezTo>
                  <a:cubicBezTo>
                    <a:pt x="48407" y="10616"/>
                    <a:pt x="74035" y="0"/>
                    <a:pt x="100758" y="0"/>
                  </a:cubicBezTo>
                  <a:close/>
                </a:path>
              </a:pathLst>
            </a:custGeom>
            <a:solidFill>
              <a:srgbClr val="041E6B"/>
            </a:solidFill>
            <a:ln w="19050" cap="rnd">
              <a:solidFill>
                <a:srgbClr val="BDCFFD"/>
              </a:solidFill>
              <a:prstDash val="solid"/>
              <a:round/>
            </a:ln>
          </p:spPr>
        </p:sp>
        <p:sp>
          <p:nvSpPr>
            <p:cNvPr name="TextBox 49" id="49"/>
            <p:cNvSpPr txBox="true"/>
            <p:nvPr/>
          </p:nvSpPr>
          <p:spPr>
            <a:xfrm>
              <a:off x="0" y="-28575"/>
              <a:ext cx="4425076" cy="902290"/>
            </a:xfrm>
            <a:prstGeom prst="rect">
              <a:avLst/>
            </a:prstGeom>
          </p:spPr>
          <p:txBody>
            <a:bodyPr anchor="ctr" rtlCol="false" tIns="50800" lIns="50800" bIns="50800" rIns="50800"/>
            <a:lstStyle/>
            <a:p>
              <a:pPr algn="ctr">
                <a:lnSpc>
                  <a:spcPts val="1960"/>
                </a:lnSpc>
                <a:spcBef>
                  <a:spcPct val="0"/>
                </a:spcBef>
              </a:pPr>
            </a:p>
          </p:txBody>
        </p:sp>
      </p:grpSp>
      <p:sp>
        <p:nvSpPr>
          <p:cNvPr name="AutoShape 50" id="50"/>
          <p:cNvSpPr/>
          <p:nvPr/>
        </p:nvSpPr>
        <p:spPr>
          <a:xfrm flipH="true">
            <a:off x="4338288" y="2599187"/>
            <a:ext cx="1290465" cy="3029530"/>
          </a:xfrm>
          <a:prstGeom prst="line">
            <a:avLst/>
          </a:prstGeom>
          <a:ln cap="flat" w="28575">
            <a:solidFill>
              <a:srgbClr val="435F70"/>
            </a:solidFill>
            <a:prstDash val="sysDot"/>
            <a:headEnd type="none" len="sm" w="sm"/>
            <a:tailEnd type="none" len="sm" w="sm"/>
          </a:ln>
        </p:spPr>
      </p:sp>
      <p:sp>
        <p:nvSpPr>
          <p:cNvPr name="AutoShape 51" id="51"/>
          <p:cNvSpPr/>
          <p:nvPr/>
        </p:nvSpPr>
        <p:spPr>
          <a:xfrm flipH="true" flipV="true">
            <a:off x="4338288" y="5628717"/>
            <a:ext cx="1290465" cy="3029530"/>
          </a:xfrm>
          <a:prstGeom prst="line">
            <a:avLst/>
          </a:prstGeom>
          <a:ln cap="flat" w="28575">
            <a:solidFill>
              <a:srgbClr val="435F70"/>
            </a:solidFill>
            <a:prstDash val="sysDot"/>
            <a:headEnd type="none" len="sm" w="sm"/>
            <a:tailEnd type="none" len="sm" w="sm"/>
          </a:ln>
        </p:spPr>
      </p:sp>
      <p:sp>
        <p:nvSpPr>
          <p:cNvPr name="AutoShape 52" id="52"/>
          <p:cNvSpPr/>
          <p:nvPr/>
        </p:nvSpPr>
        <p:spPr>
          <a:xfrm flipH="true">
            <a:off x="4338288" y="4618874"/>
            <a:ext cx="1290465" cy="1009843"/>
          </a:xfrm>
          <a:prstGeom prst="line">
            <a:avLst/>
          </a:prstGeom>
          <a:ln cap="flat" w="28575">
            <a:solidFill>
              <a:srgbClr val="435F70"/>
            </a:solidFill>
            <a:prstDash val="sysDot"/>
            <a:headEnd type="none" len="sm" w="sm"/>
            <a:tailEnd type="none" len="sm" w="sm"/>
          </a:ln>
        </p:spPr>
      </p:sp>
      <p:sp>
        <p:nvSpPr>
          <p:cNvPr name="AutoShape 53" id="53"/>
          <p:cNvSpPr/>
          <p:nvPr/>
        </p:nvSpPr>
        <p:spPr>
          <a:xfrm flipH="true" flipV="true">
            <a:off x="4338288" y="5628717"/>
            <a:ext cx="1290465" cy="1009843"/>
          </a:xfrm>
          <a:prstGeom prst="line">
            <a:avLst/>
          </a:prstGeom>
          <a:ln cap="flat" w="28575">
            <a:solidFill>
              <a:srgbClr val="435F70"/>
            </a:solidFill>
            <a:prstDash val="sysDot"/>
            <a:headEnd type="none" len="sm" w="sm"/>
            <a:tailEnd type="none" len="sm" w="sm"/>
          </a:ln>
        </p:spPr>
      </p:sp>
      <p:sp>
        <p:nvSpPr>
          <p:cNvPr name="TextBox 54" id="54"/>
          <p:cNvSpPr txBox="true"/>
          <p:nvPr/>
        </p:nvSpPr>
        <p:spPr>
          <a:xfrm rot="0">
            <a:off x="8853694" y="3854252"/>
            <a:ext cx="6897617" cy="2507067"/>
          </a:xfrm>
          <a:prstGeom prst="rect">
            <a:avLst/>
          </a:prstGeom>
        </p:spPr>
        <p:txBody>
          <a:bodyPr anchor="t" rtlCol="false" tIns="0" lIns="0" bIns="0" rIns="0">
            <a:spAutoFit/>
          </a:bodyPr>
          <a:lstStyle/>
          <a:p>
            <a:pPr algn="l" marL="387878" indent="-193939" lvl="1">
              <a:lnSpc>
                <a:spcPts val="2515"/>
              </a:lnSpc>
              <a:buFont typeface="Arial"/>
              <a:buChar char="•"/>
            </a:pPr>
            <a:r>
              <a:rPr lang="en-US" b="true" sz="1796">
                <a:solidFill>
                  <a:srgbClr val="FFFFFF"/>
                </a:solidFill>
                <a:latin typeface="Inter Bold"/>
                <a:ea typeface="Inter Bold"/>
                <a:cs typeface="Inter Bold"/>
                <a:sym typeface="Inter Bold"/>
              </a:rPr>
              <a:t>Reducing the risk of high-speed collisions</a:t>
            </a:r>
          </a:p>
          <a:p>
            <a:pPr algn="l" marL="387878" indent="-193939" lvl="1">
              <a:lnSpc>
                <a:spcPts val="2515"/>
              </a:lnSpc>
              <a:buFont typeface="Arial"/>
              <a:buChar char="•"/>
            </a:pPr>
            <a:r>
              <a:rPr lang="en-US" b="true" sz="1796">
                <a:solidFill>
                  <a:srgbClr val="FFFFFF"/>
                </a:solidFill>
                <a:latin typeface="Inter Bold"/>
                <a:ea typeface="Inter Bold"/>
                <a:cs typeface="Inter Bold"/>
                <a:sym typeface="Inter Bold"/>
              </a:rPr>
              <a:t>Prevents accidents involving pedestrians, other vehicles and roadside structures</a:t>
            </a:r>
          </a:p>
          <a:p>
            <a:pPr algn="l" marL="387878" indent="-193939" lvl="1">
              <a:lnSpc>
                <a:spcPts val="2515"/>
              </a:lnSpc>
              <a:buFont typeface="Arial"/>
              <a:buChar char="•"/>
            </a:pPr>
            <a:r>
              <a:rPr lang="en-US" b="true" sz="1796">
                <a:solidFill>
                  <a:srgbClr val="FFFFFF"/>
                </a:solidFill>
                <a:latin typeface="Inter Bold"/>
                <a:ea typeface="Inter Bold"/>
                <a:cs typeface="Inter Bold"/>
                <a:sym typeface="Inter Bold"/>
              </a:rPr>
              <a:t>Improces visibility at night and in adverse weather conditions</a:t>
            </a:r>
          </a:p>
          <a:p>
            <a:pPr algn="l">
              <a:lnSpc>
                <a:spcPts val="2515"/>
              </a:lnSpc>
            </a:pPr>
          </a:p>
          <a:p>
            <a:pPr algn="l">
              <a:lnSpc>
                <a:spcPts val="2515"/>
              </a:lnSpc>
            </a:pPr>
          </a:p>
          <a:p>
            <a:pPr algn="l" marL="387878" indent="-193939" lvl="1">
              <a:lnSpc>
                <a:spcPts val="2515"/>
              </a:lnSpc>
              <a:buFont typeface="Arial"/>
              <a:buChar char="•"/>
            </a:pPr>
          </a:p>
        </p:txBody>
      </p:sp>
      <p:sp>
        <p:nvSpPr>
          <p:cNvPr name="TextBox 55" id="55"/>
          <p:cNvSpPr txBox="true"/>
          <p:nvPr/>
        </p:nvSpPr>
        <p:spPr>
          <a:xfrm rot="0">
            <a:off x="8809912" y="6180364"/>
            <a:ext cx="6044663" cy="800100"/>
          </a:xfrm>
          <a:prstGeom prst="rect">
            <a:avLst/>
          </a:prstGeom>
        </p:spPr>
        <p:txBody>
          <a:bodyPr anchor="t" rtlCol="false" tIns="0" lIns="0" bIns="0" rIns="0">
            <a:spAutoFit/>
          </a:bodyPr>
          <a:lstStyle/>
          <a:p>
            <a:pPr algn="l" marL="388618" indent="-194309" lvl="1">
              <a:lnSpc>
                <a:spcPts val="2159"/>
              </a:lnSpc>
              <a:buFont typeface="Arial"/>
              <a:buChar char="•"/>
            </a:pPr>
            <a:r>
              <a:rPr lang="en-US" b="true" sz="1799">
                <a:solidFill>
                  <a:srgbClr val="FFFFFF"/>
                </a:solidFill>
                <a:latin typeface="Inter Bold"/>
                <a:ea typeface="Inter Bold"/>
                <a:cs typeface="Inter Bold"/>
                <a:sym typeface="Inter Bold"/>
              </a:rPr>
              <a:t>Unauthorized road usage</a:t>
            </a:r>
          </a:p>
          <a:p>
            <a:pPr algn="l" marL="388618" indent="-194309" lvl="1">
              <a:lnSpc>
                <a:spcPts val="2159"/>
              </a:lnSpc>
              <a:buFont typeface="Arial"/>
              <a:buChar char="•"/>
            </a:pPr>
            <a:r>
              <a:rPr lang="en-US" b="true" sz="1799">
                <a:solidFill>
                  <a:srgbClr val="FFFFFF"/>
                </a:solidFill>
                <a:latin typeface="Inter Bold"/>
                <a:ea typeface="Inter Bold"/>
                <a:cs typeface="Inter Bold"/>
                <a:sym typeface="Inter Bold"/>
              </a:rPr>
              <a:t>Illegal electricity connections</a:t>
            </a:r>
          </a:p>
          <a:p>
            <a:pPr algn="l" marL="388618" indent="-194309" lvl="1">
              <a:lnSpc>
                <a:spcPts val="2159"/>
              </a:lnSpc>
              <a:buFont typeface="Arial"/>
              <a:buChar char="•"/>
            </a:pPr>
            <a:r>
              <a:rPr lang="en-US" b="true" sz="1799">
                <a:solidFill>
                  <a:srgbClr val="FFFFFF"/>
                </a:solidFill>
                <a:latin typeface="Inter Bold"/>
                <a:ea typeface="Inter Bold"/>
                <a:cs typeface="Inter Bold"/>
                <a:sym typeface="Inter Bold"/>
              </a:rPr>
              <a:t>Lack of standasrdization</a:t>
            </a:r>
          </a:p>
        </p:txBody>
      </p:sp>
      <p:sp>
        <p:nvSpPr>
          <p:cNvPr name="TextBox 56" id="56"/>
          <p:cNvSpPr txBox="true"/>
          <p:nvPr/>
        </p:nvSpPr>
        <p:spPr>
          <a:xfrm rot="0">
            <a:off x="8853218" y="8110400"/>
            <a:ext cx="5809447" cy="1091565"/>
          </a:xfrm>
          <a:prstGeom prst="rect">
            <a:avLst/>
          </a:prstGeom>
        </p:spPr>
        <p:txBody>
          <a:bodyPr anchor="t" rtlCol="false" tIns="0" lIns="0" bIns="0" rIns="0">
            <a:spAutoFit/>
          </a:bodyPr>
          <a:lstStyle/>
          <a:p>
            <a:pPr algn="l" marL="388618" indent="-194309" lvl="1">
              <a:lnSpc>
                <a:spcPts val="2159"/>
              </a:lnSpc>
              <a:buFont typeface="Arial"/>
              <a:buChar char="•"/>
            </a:pPr>
            <a:r>
              <a:rPr lang="en-US" b="true" sz="1799">
                <a:solidFill>
                  <a:srgbClr val="FFFFFF"/>
                </a:solidFill>
                <a:latin typeface="Inter Bold"/>
                <a:ea typeface="Inter Bold"/>
                <a:cs typeface="Inter Bold"/>
                <a:sym typeface="Inter Bold"/>
              </a:rPr>
              <a:t>Preserving the role of rickshaws in urban transport </a:t>
            </a:r>
          </a:p>
          <a:p>
            <a:pPr algn="l" marL="388618" indent="-194309" lvl="1">
              <a:lnSpc>
                <a:spcPts val="2159"/>
              </a:lnSpc>
              <a:buFont typeface="Arial"/>
              <a:buChar char="•"/>
            </a:pPr>
            <a:r>
              <a:rPr lang="en-US" b="true" sz="1799">
                <a:solidFill>
                  <a:srgbClr val="FFFFFF"/>
                </a:solidFill>
                <a:latin typeface="Inter Bold"/>
                <a:ea typeface="Inter Bold"/>
                <a:cs typeface="Inter Bold"/>
                <a:sym typeface="Inter Bold"/>
              </a:rPr>
              <a:t>Improving public image of rickshaws</a:t>
            </a:r>
          </a:p>
          <a:p>
            <a:pPr algn="l" marL="388618" indent="-194309" lvl="1">
              <a:lnSpc>
                <a:spcPts val="2519"/>
              </a:lnSpc>
              <a:buFont typeface="Arial"/>
              <a:buChar char="•"/>
            </a:pPr>
            <a:r>
              <a:rPr lang="en-US" b="true" sz="1799">
                <a:solidFill>
                  <a:srgbClr val="FFFFFF"/>
                </a:solidFill>
                <a:latin typeface="Inter Bold"/>
                <a:ea typeface="Inter Bold"/>
                <a:cs typeface="Inter Bold"/>
                <a:sym typeface="Inter Bold"/>
              </a:rPr>
              <a:t>Supporting rickshaw pullers and owners</a:t>
            </a:r>
          </a:p>
        </p:txBody>
      </p:sp>
      <p:sp>
        <p:nvSpPr>
          <p:cNvPr name="TextBox 57" id="5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9899"/>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3672944" y="9799068"/>
            <a:ext cx="7344992" cy="507831"/>
            <a:chOff x="0" y="0"/>
            <a:chExt cx="9793322" cy="677108"/>
          </a:xfrm>
        </p:grpSpPr>
        <p:sp>
          <p:nvSpPr>
            <p:cNvPr name="Freeform 4" id="4"/>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5" id="5"/>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TextBox 6" id="6"/>
          <p:cNvSpPr txBox="true"/>
          <p:nvPr/>
        </p:nvSpPr>
        <p:spPr>
          <a:xfrm rot="0">
            <a:off x="299110" y="347495"/>
            <a:ext cx="9320300" cy="1743075"/>
          </a:xfrm>
          <a:prstGeom prst="rect">
            <a:avLst/>
          </a:prstGeom>
        </p:spPr>
        <p:txBody>
          <a:bodyPr anchor="t" rtlCol="false" tIns="0" lIns="0" bIns="0" rIns="0">
            <a:spAutoFit/>
          </a:bodyPr>
          <a:lstStyle/>
          <a:p>
            <a:pPr algn="l">
              <a:lnSpc>
                <a:spcPts val="6763"/>
              </a:lnSpc>
              <a:spcBef>
                <a:spcPct val="0"/>
              </a:spcBef>
            </a:pPr>
            <a:r>
              <a:rPr lang="en-US" b="true" sz="5636">
                <a:solidFill>
                  <a:srgbClr val="041E6B"/>
                </a:solidFill>
                <a:latin typeface="Arimo Bold"/>
                <a:ea typeface="Arimo Bold"/>
                <a:cs typeface="Arimo Bold"/>
                <a:sym typeface="Arimo Bold"/>
              </a:rPr>
              <a:t>5.5 EVALUATION OF THE SUSTAINABILITY</a:t>
            </a:r>
          </a:p>
        </p:txBody>
      </p:sp>
      <p:grpSp>
        <p:nvGrpSpPr>
          <p:cNvPr name="Group 7" id="7"/>
          <p:cNvGrpSpPr/>
          <p:nvPr/>
        </p:nvGrpSpPr>
        <p:grpSpPr>
          <a:xfrm rot="0">
            <a:off x="5730483" y="6805756"/>
            <a:ext cx="6130678" cy="2662110"/>
            <a:chOff x="0" y="0"/>
            <a:chExt cx="8174237" cy="3549481"/>
          </a:xfrm>
        </p:grpSpPr>
        <p:grpSp>
          <p:nvGrpSpPr>
            <p:cNvPr name="Group 8" id="8"/>
            <p:cNvGrpSpPr/>
            <p:nvPr/>
          </p:nvGrpSpPr>
          <p:grpSpPr>
            <a:xfrm rot="0">
              <a:off x="0" y="0"/>
              <a:ext cx="8174237" cy="3549481"/>
              <a:chOff x="0" y="0"/>
              <a:chExt cx="1871829" cy="812800"/>
            </a:xfrm>
          </p:grpSpPr>
          <p:sp>
            <p:nvSpPr>
              <p:cNvPr name="Freeform 9" id="9"/>
              <p:cNvSpPr/>
              <p:nvPr/>
            </p:nvSpPr>
            <p:spPr>
              <a:xfrm flipH="false" flipV="false" rot="0">
                <a:off x="0" y="0"/>
                <a:ext cx="1871829" cy="812800"/>
              </a:xfrm>
              <a:custGeom>
                <a:avLst/>
                <a:gdLst/>
                <a:ahLst/>
                <a:cxnLst/>
                <a:rect r="r" b="b" t="t" l="l"/>
                <a:pathLst>
                  <a:path h="812800" w="1871829">
                    <a:moveTo>
                      <a:pt x="64404" y="0"/>
                    </a:moveTo>
                    <a:lnTo>
                      <a:pt x="1807425" y="0"/>
                    </a:lnTo>
                    <a:cubicBezTo>
                      <a:pt x="1824506" y="0"/>
                      <a:pt x="1840887" y="6785"/>
                      <a:pt x="1852965" y="18863"/>
                    </a:cubicBezTo>
                    <a:cubicBezTo>
                      <a:pt x="1865043" y="30941"/>
                      <a:pt x="1871829" y="47323"/>
                      <a:pt x="1871829" y="64404"/>
                    </a:cubicBezTo>
                    <a:lnTo>
                      <a:pt x="1871829" y="748396"/>
                    </a:lnTo>
                    <a:cubicBezTo>
                      <a:pt x="1871829" y="765477"/>
                      <a:pt x="1865043" y="781859"/>
                      <a:pt x="1852965" y="793937"/>
                    </a:cubicBezTo>
                    <a:cubicBezTo>
                      <a:pt x="1840887" y="806015"/>
                      <a:pt x="1824506" y="812800"/>
                      <a:pt x="1807425" y="812800"/>
                    </a:cubicBezTo>
                    <a:lnTo>
                      <a:pt x="64404" y="812800"/>
                    </a:lnTo>
                    <a:cubicBezTo>
                      <a:pt x="47323" y="812800"/>
                      <a:pt x="30941" y="806015"/>
                      <a:pt x="18863" y="793937"/>
                    </a:cubicBezTo>
                    <a:cubicBezTo>
                      <a:pt x="6785" y="781859"/>
                      <a:pt x="0" y="765477"/>
                      <a:pt x="0" y="748396"/>
                    </a:cubicBezTo>
                    <a:lnTo>
                      <a:pt x="0" y="64404"/>
                    </a:lnTo>
                    <a:cubicBezTo>
                      <a:pt x="0" y="47323"/>
                      <a:pt x="6785" y="30941"/>
                      <a:pt x="18863" y="18863"/>
                    </a:cubicBezTo>
                    <a:cubicBezTo>
                      <a:pt x="30941" y="6785"/>
                      <a:pt x="47323" y="0"/>
                      <a:pt x="64404" y="0"/>
                    </a:cubicBezTo>
                    <a:close/>
                  </a:path>
                </a:pathLst>
              </a:custGeom>
              <a:solidFill>
                <a:srgbClr val="BDCFFD"/>
              </a:solidFill>
            </p:spPr>
          </p:sp>
          <p:sp>
            <p:nvSpPr>
              <p:cNvPr name="TextBox 10" id="10"/>
              <p:cNvSpPr txBox="true"/>
              <p:nvPr/>
            </p:nvSpPr>
            <p:spPr>
              <a:xfrm>
                <a:off x="0" y="-47625"/>
                <a:ext cx="1871829" cy="860425"/>
              </a:xfrm>
              <a:prstGeom prst="rect">
                <a:avLst/>
              </a:prstGeom>
            </p:spPr>
            <p:txBody>
              <a:bodyPr anchor="ctr" rtlCol="false" tIns="43821" lIns="43821" bIns="43821" rIns="43821"/>
              <a:lstStyle/>
              <a:p>
                <a:pPr algn="ctr">
                  <a:lnSpc>
                    <a:spcPts val="1959"/>
                  </a:lnSpc>
                </a:pPr>
              </a:p>
            </p:txBody>
          </p:sp>
        </p:grpSp>
        <p:sp>
          <p:nvSpPr>
            <p:cNvPr name="TextBox 11" id="11"/>
            <p:cNvSpPr txBox="true"/>
            <p:nvPr/>
          </p:nvSpPr>
          <p:spPr>
            <a:xfrm rot="0">
              <a:off x="245458" y="245088"/>
              <a:ext cx="7415666" cy="2991711"/>
            </a:xfrm>
            <a:prstGeom prst="rect">
              <a:avLst/>
            </a:prstGeom>
          </p:spPr>
          <p:txBody>
            <a:bodyPr anchor="t" rtlCol="false" tIns="0" lIns="0" bIns="0" rIns="0">
              <a:spAutoFit/>
            </a:bodyPr>
            <a:lstStyle/>
            <a:p>
              <a:pPr algn="l" marL="558708" indent="-279354" lvl="1">
                <a:lnSpc>
                  <a:spcPts val="3622"/>
                </a:lnSpc>
                <a:buFont typeface="Arial"/>
                <a:buChar char="•"/>
              </a:pPr>
              <a:r>
                <a:rPr lang="en-US" b="true" sz="2587">
                  <a:solidFill>
                    <a:srgbClr val="041E6B"/>
                  </a:solidFill>
                  <a:latin typeface="Arimo Bold"/>
                  <a:ea typeface="Arimo Bold"/>
                  <a:cs typeface="Arimo Bold"/>
                  <a:sym typeface="Arimo Bold"/>
                </a:rPr>
                <a:t>Energy Efficiency</a:t>
              </a:r>
            </a:p>
            <a:p>
              <a:pPr algn="l" marL="558708" indent="-279354" lvl="1">
                <a:lnSpc>
                  <a:spcPts val="3622"/>
                </a:lnSpc>
                <a:buFont typeface="Arial"/>
                <a:buChar char="•"/>
              </a:pPr>
              <a:r>
                <a:rPr lang="en-US" b="true" sz="2587">
                  <a:solidFill>
                    <a:srgbClr val="041E6B"/>
                  </a:solidFill>
                  <a:latin typeface="Arimo Bold"/>
                  <a:ea typeface="Arimo Bold"/>
                  <a:cs typeface="Arimo Bold"/>
                  <a:sym typeface="Arimo Bold"/>
                </a:rPr>
                <a:t>Reduction in electricity Demand</a:t>
              </a:r>
            </a:p>
            <a:p>
              <a:pPr algn="l" marL="558708" indent="-279354" lvl="1">
                <a:lnSpc>
                  <a:spcPts val="3622"/>
                </a:lnSpc>
                <a:buFont typeface="Arial"/>
                <a:buChar char="•"/>
              </a:pPr>
              <a:r>
                <a:rPr lang="en-US" b="true" sz="2587">
                  <a:solidFill>
                    <a:srgbClr val="041E6B"/>
                  </a:solidFill>
                  <a:latin typeface="Arimo Bold"/>
                  <a:ea typeface="Arimo Bold"/>
                  <a:cs typeface="Arimo Bold"/>
                  <a:sym typeface="Arimo Bold"/>
                </a:rPr>
                <a:t>Long-term economic viability</a:t>
              </a:r>
            </a:p>
            <a:p>
              <a:pPr algn="l" marL="558708" indent="-279354" lvl="1">
                <a:lnSpc>
                  <a:spcPts val="3622"/>
                </a:lnSpc>
                <a:buFont typeface="Arial"/>
                <a:buChar char="•"/>
              </a:pPr>
              <a:r>
                <a:rPr lang="en-US" b="true" sz="2587">
                  <a:solidFill>
                    <a:srgbClr val="041E6B"/>
                  </a:solidFill>
                  <a:latin typeface="Arimo Bold"/>
                  <a:ea typeface="Arimo Bold"/>
                  <a:cs typeface="Arimo Bold"/>
                  <a:sym typeface="Arimo Bold"/>
                </a:rPr>
                <a:t>Durability and maintenance </a:t>
              </a:r>
            </a:p>
            <a:p>
              <a:pPr algn="l" marL="558708" indent="-279354" lvl="1">
                <a:lnSpc>
                  <a:spcPts val="3622"/>
                </a:lnSpc>
                <a:buFont typeface="Arial"/>
                <a:buChar char="•"/>
              </a:pPr>
              <a:r>
                <a:rPr lang="en-US" b="true" sz="2587">
                  <a:solidFill>
                    <a:srgbClr val="041E6B"/>
                  </a:solidFill>
                  <a:latin typeface="Arimo Bold"/>
                  <a:ea typeface="Arimo Bold"/>
                  <a:cs typeface="Arimo Bold"/>
                  <a:sym typeface="Arimo Bold"/>
                </a:rPr>
                <a:t>Environmental footprint</a:t>
              </a:r>
            </a:p>
          </p:txBody>
        </p:sp>
      </p:grpSp>
      <p:grpSp>
        <p:nvGrpSpPr>
          <p:cNvPr name="Group 12" id="12"/>
          <p:cNvGrpSpPr/>
          <p:nvPr/>
        </p:nvGrpSpPr>
        <p:grpSpPr>
          <a:xfrm rot="0">
            <a:off x="299110" y="3812445"/>
            <a:ext cx="6130678" cy="2662110"/>
            <a:chOff x="0" y="0"/>
            <a:chExt cx="8174237" cy="3549481"/>
          </a:xfrm>
        </p:grpSpPr>
        <p:grpSp>
          <p:nvGrpSpPr>
            <p:cNvPr name="Group 13" id="13"/>
            <p:cNvGrpSpPr/>
            <p:nvPr/>
          </p:nvGrpSpPr>
          <p:grpSpPr>
            <a:xfrm rot="0">
              <a:off x="0" y="0"/>
              <a:ext cx="8174237" cy="3549481"/>
              <a:chOff x="0" y="0"/>
              <a:chExt cx="1871829" cy="812800"/>
            </a:xfrm>
          </p:grpSpPr>
          <p:sp>
            <p:nvSpPr>
              <p:cNvPr name="Freeform 14" id="14"/>
              <p:cNvSpPr/>
              <p:nvPr/>
            </p:nvSpPr>
            <p:spPr>
              <a:xfrm flipH="false" flipV="false" rot="0">
                <a:off x="0" y="0"/>
                <a:ext cx="1871829" cy="812800"/>
              </a:xfrm>
              <a:custGeom>
                <a:avLst/>
                <a:gdLst/>
                <a:ahLst/>
                <a:cxnLst/>
                <a:rect r="r" b="b" t="t" l="l"/>
                <a:pathLst>
                  <a:path h="812800" w="1871829">
                    <a:moveTo>
                      <a:pt x="64404" y="0"/>
                    </a:moveTo>
                    <a:lnTo>
                      <a:pt x="1807425" y="0"/>
                    </a:lnTo>
                    <a:cubicBezTo>
                      <a:pt x="1824506" y="0"/>
                      <a:pt x="1840887" y="6785"/>
                      <a:pt x="1852965" y="18863"/>
                    </a:cubicBezTo>
                    <a:cubicBezTo>
                      <a:pt x="1865043" y="30941"/>
                      <a:pt x="1871829" y="47323"/>
                      <a:pt x="1871829" y="64404"/>
                    </a:cubicBezTo>
                    <a:lnTo>
                      <a:pt x="1871829" y="748396"/>
                    </a:lnTo>
                    <a:cubicBezTo>
                      <a:pt x="1871829" y="765477"/>
                      <a:pt x="1865043" y="781859"/>
                      <a:pt x="1852965" y="793937"/>
                    </a:cubicBezTo>
                    <a:cubicBezTo>
                      <a:pt x="1840887" y="806015"/>
                      <a:pt x="1824506" y="812800"/>
                      <a:pt x="1807425" y="812800"/>
                    </a:cubicBezTo>
                    <a:lnTo>
                      <a:pt x="64404" y="812800"/>
                    </a:lnTo>
                    <a:cubicBezTo>
                      <a:pt x="47323" y="812800"/>
                      <a:pt x="30941" y="806015"/>
                      <a:pt x="18863" y="793937"/>
                    </a:cubicBezTo>
                    <a:cubicBezTo>
                      <a:pt x="6785" y="781859"/>
                      <a:pt x="0" y="765477"/>
                      <a:pt x="0" y="748396"/>
                    </a:cubicBezTo>
                    <a:lnTo>
                      <a:pt x="0" y="64404"/>
                    </a:lnTo>
                    <a:cubicBezTo>
                      <a:pt x="0" y="47323"/>
                      <a:pt x="6785" y="30941"/>
                      <a:pt x="18863" y="18863"/>
                    </a:cubicBezTo>
                    <a:cubicBezTo>
                      <a:pt x="30941" y="6785"/>
                      <a:pt x="47323" y="0"/>
                      <a:pt x="64404" y="0"/>
                    </a:cubicBezTo>
                    <a:close/>
                  </a:path>
                </a:pathLst>
              </a:custGeom>
              <a:solidFill>
                <a:srgbClr val="BDCFFD"/>
              </a:solidFill>
            </p:spPr>
          </p:sp>
          <p:sp>
            <p:nvSpPr>
              <p:cNvPr name="TextBox 15" id="15"/>
              <p:cNvSpPr txBox="true"/>
              <p:nvPr/>
            </p:nvSpPr>
            <p:spPr>
              <a:xfrm>
                <a:off x="0" y="-47625"/>
                <a:ext cx="1871829" cy="860425"/>
              </a:xfrm>
              <a:prstGeom prst="rect">
                <a:avLst/>
              </a:prstGeom>
            </p:spPr>
            <p:txBody>
              <a:bodyPr anchor="ctr" rtlCol="false" tIns="43821" lIns="43821" bIns="43821" rIns="43821"/>
              <a:lstStyle/>
              <a:p>
                <a:pPr algn="ctr">
                  <a:lnSpc>
                    <a:spcPts val="1960"/>
                  </a:lnSpc>
                </a:pPr>
              </a:p>
            </p:txBody>
          </p:sp>
        </p:grpSp>
        <p:sp>
          <p:nvSpPr>
            <p:cNvPr name="TextBox 16" id="16"/>
            <p:cNvSpPr txBox="true"/>
            <p:nvPr/>
          </p:nvSpPr>
          <p:spPr>
            <a:xfrm rot="0">
              <a:off x="245458" y="245088"/>
              <a:ext cx="7147140" cy="2991711"/>
            </a:xfrm>
            <a:prstGeom prst="rect">
              <a:avLst/>
            </a:prstGeom>
          </p:spPr>
          <p:txBody>
            <a:bodyPr anchor="t" rtlCol="false" tIns="0" lIns="0" bIns="0" rIns="0">
              <a:spAutoFit/>
            </a:bodyPr>
            <a:lstStyle/>
            <a:p>
              <a:pPr algn="l" marL="558708" indent="-279354" lvl="1">
                <a:lnSpc>
                  <a:spcPts val="3622"/>
                </a:lnSpc>
                <a:buFont typeface="Arial"/>
                <a:buChar char="•"/>
              </a:pPr>
              <a:r>
                <a:rPr lang="en-US" b="true" sz="2587">
                  <a:solidFill>
                    <a:srgbClr val="041E6B"/>
                  </a:solidFill>
                  <a:latin typeface="Arimo Bold"/>
                  <a:ea typeface="Arimo Bold"/>
                  <a:cs typeface="Arimo Bold"/>
                  <a:sym typeface="Arimo Bold"/>
                </a:rPr>
                <a:t>Enhanced Safety</a:t>
              </a:r>
            </a:p>
            <a:p>
              <a:pPr algn="l" marL="558708" indent="-279354" lvl="1">
                <a:lnSpc>
                  <a:spcPts val="3622"/>
                </a:lnSpc>
                <a:buFont typeface="Arial"/>
                <a:buChar char="•"/>
              </a:pPr>
              <a:r>
                <a:rPr lang="en-US" b="true" sz="2587">
                  <a:solidFill>
                    <a:srgbClr val="041E6B"/>
                  </a:solidFill>
                  <a:latin typeface="Arimo Bold"/>
                  <a:ea typeface="Arimo Bold"/>
                  <a:cs typeface="Arimo Bold"/>
                  <a:sym typeface="Arimo Bold"/>
                </a:rPr>
                <a:t>Job security and opportunities</a:t>
              </a:r>
            </a:p>
            <a:p>
              <a:pPr algn="l" marL="558708" indent="-279354" lvl="1">
                <a:lnSpc>
                  <a:spcPts val="3622"/>
                </a:lnSpc>
                <a:buFont typeface="Arial"/>
                <a:buChar char="•"/>
              </a:pPr>
              <a:r>
                <a:rPr lang="en-US" b="true" sz="2587">
                  <a:solidFill>
                    <a:srgbClr val="041E6B"/>
                  </a:solidFill>
                  <a:latin typeface="Arimo Bold"/>
                  <a:ea typeface="Arimo Bold"/>
                  <a:cs typeface="Arimo Bold"/>
                  <a:sym typeface="Arimo Bold"/>
                </a:rPr>
                <a:t>Improved Public Perception </a:t>
              </a:r>
            </a:p>
            <a:p>
              <a:pPr algn="l" marL="558708" indent="-279354" lvl="1">
                <a:lnSpc>
                  <a:spcPts val="3622"/>
                </a:lnSpc>
                <a:buFont typeface="Arial"/>
                <a:buChar char="•"/>
              </a:pPr>
              <a:r>
                <a:rPr lang="en-US" b="true" sz="2587">
                  <a:solidFill>
                    <a:srgbClr val="041E6B"/>
                  </a:solidFill>
                  <a:latin typeface="Arimo Bold"/>
                  <a:ea typeface="Arimo Bold"/>
                  <a:cs typeface="Arimo Bold"/>
                  <a:sym typeface="Arimo Bold"/>
                </a:rPr>
                <a:t>Inclusion and accessibility</a:t>
              </a:r>
            </a:p>
            <a:p>
              <a:pPr algn="l" marL="558708" indent="-279354" lvl="1">
                <a:lnSpc>
                  <a:spcPts val="3622"/>
                </a:lnSpc>
                <a:buFont typeface="Arial"/>
                <a:buChar char="•"/>
              </a:pPr>
              <a:r>
                <a:rPr lang="en-US" b="true" sz="2587">
                  <a:solidFill>
                    <a:srgbClr val="041E6B"/>
                  </a:solidFill>
                  <a:latin typeface="Arimo Bold"/>
                  <a:ea typeface="Arimo Bold"/>
                  <a:cs typeface="Arimo Bold"/>
                  <a:sym typeface="Arimo Bold"/>
                </a:rPr>
                <a:t>Reduction in traffic incidents</a:t>
              </a:r>
            </a:p>
          </p:txBody>
        </p:sp>
      </p:grpSp>
      <p:grpSp>
        <p:nvGrpSpPr>
          <p:cNvPr name="Group 17" id="17"/>
          <p:cNvGrpSpPr/>
          <p:nvPr/>
        </p:nvGrpSpPr>
        <p:grpSpPr>
          <a:xfrm rot="0">
            <a:off x="11311485" y="3812445"/>
            <a:ext cx="6548950" cy="2655547"/>
            <a:chOff x="0" y="0"/>
            <a:chExt cx="8731933" cy="3540729"/>
          </a:xfrm>
        </p:grpSpPr>
        <p:grpSp>
          <p:nvGrpSpPr>
            <p:cNvPr name="Group 18" id="18"/>
            <p:cNvGrpSpPr/>
            <p:nvPr/>
          </p:nvGrpSpPr>
          <p:grpSpPr>
            <a:xfrm rot="0">
              <a:off x="0" y="1770365"/>
              <a:ext cx="1155700" cy="730250"/>
              <a:chOff x="0" y="0"/>
              <a:chExt cx="1155700" cy="730250"/>
            </a:xfrm>
          </p:grpSpPr>
          <p:sp>
            <p:nvSpPr>
              <p:cNvPr name="Freeform 19" id="19"/>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20" id="20"/>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21" id="21"/>
            <p:cNvGrpSpPr/>
            <p:nvPr/>
          </p:nvGrpSpPr>
          <p:grpSpPr>
            <a:xfrm rot="0">
              <a:off x="577850" y="0"/>
              <a:ext cx="8154083" cy="3540729"/>
              <a:chOff x="0" y="0"/>
              <a:chExt cx="1871829" cy="812800"/>
            </a:xfrm>
          </p:grpSpPr>
          <p:sp>
            <p:nvSpPr>
              <p:cNvPr name="Freeform 22" id="22"/>
              <p:cNvSpPr/>
              <p:nvPr/>
            </p:nvSpPr>
            <p:spPr>
              <a:xfrm flipH="false" flipV="false" rot="0">
                <a:off x="0" y="0"/>
                <a:ext cx="1871829" cy="812800"/>
              </a:xfrm>
              <a:custGeom>
                <a:avLst/>
                <a:gdLst/>
                <a:ahLst/>
                <a:cxnLst/>
                <a:rect r="r" b="b" t="t" l="l"/>
                <a:pathLst>
                  <a:path h="812800" w="1871829">
                    <a:moveTo>
                      <a:pt x="64563" y="0"/>
                    </a:moveTo>
                    <a:lnTo>
                      <a:pt x="1807266" y="0"/>
                    </a:lnTo>
                    <a:cubicBezTo>
                      <a:pt x="1842923" y="0"/>
                      <a:pt x="1871829" y="28906"/>
                      <a:pt x="1871829" y="64563"/>
                    </a:cubicBezTo>
                    <a:lnTo>
                      <a:pt x="1871829" y="748237"/>
                    </a:lnTo>
                    <a:cubicBezTo>
                      <a:pt x="1871829" y="783894"/>
                      <a:pt x="1842923" y="812800"/>
                      <a:pt x="1807266" y="812800"/>
                    </a:cubicBezTo>
                    <a:lnTo>
                      <a:pt x="64563" y="812800"/>
                    </a:lnTo>
                    <a:cubicBezTo>
                      <a:pt x="28906" y="812800"/>
                      <a:pt x="0" y="783894"/>
                      <a:pt x="0" y="748237"/>
                    </a:cubicBezTo>
                    <a:lnTo>
                      <a:pt x="0" y="64563"/>
                    </a:lnTo>
                    <a:cubicBezTo>
                      <a:pt x="0" y="28906"/>
                      <a:pt x="28906" y="0"/>
                      <a:pt x="64563" y="0"/>
                    </a:cubicBezTo>
                    <a:close/>
                  </a:path>
                </a:pathLst>
              </a:custGeom>
              <a:solidFill>
                <a:srgbClr val="BDCFFD"/>
              </a:solidFill>
            </p:spPr>
          </p:sp>
          <p:sp>
            <p:nvSpPr>
              <p:cNvPr name="TextBox 23" id="23"/>
              <p:cNvSpPr txBox="true"/>
              <p:nvPr/>
            </p:nvSpPr>
            <p:spPr>
              <a:xfrm>
                <a:off x="0" y="-47625"/>
                <a:ext cx="1871829" cy="860425"/>
              </a:xfrm>
              <a:prstGeom prst="rect">
                <a:avLst/>
              </a:prstGeom>
            </p:spPr>
            <p:txBody>
              <a:bodyPr anchor="ctr" rtlCol="false" tIns="43713" lIns="43713" bIns="43713" rIns="43713"/>
              <a:lstStyle/>
              <a:p>
                <a:pPr algn="ctr">
                  <a:lnSpc>
                    <a:spcPts val="1959"/>
                  </a:lnSpc>
                </a:pPr>
              </a:p>
            </p:txBody>
          </p:sp>
        </p:grpSp>
        <p:sp>
          <p:nvSpPr>
            <p:cNvPr name="TextBox 24" id="24"/>
            <p:cNvSpPr txBox="true"/>
            <p:nvPr/>
          </p:nvSpPr>
          <p:spPr>
            <a:xfrm rot="0">
              <a:off x="822703" y="244778"/>
              <a:ext cx="6885373" cy="2984499"/>
            </a:xfrm>
            <a:prstGeom prst="rect">
              <a:avLst/>
            </a:prstGeom>
          </p:spPr>
          <p:txBody>
            <a:bodyPr anchor="t" rtlCol="false" tIns="0" lIns="0" bIns="0" rIns="0">
              <a:spAutoFit/>
            </a:bodyPr>
            <a:lstStyle/>
            <a:p>
              <a:pPr algn="l" marL="557330" indent="-278665" lvl="1">
                <a:lnSpc>
                  <a:spcPts val="3613"/>
                </a:lnSpc>
                <a:buFont typeface="Arial"/>
                <a:buChar char="•"/>
              </a:pPr>
              <a:r>
                <a:rPr lang="en-US" b="true" sz="2581">
                  <a:solidFill>
                    <a:srgbClr val="041E6B"/>
                  </a:solidFill>
                  <a:latin typeface="Arimo Bold"/>
                  <a:ea typeface="Arimo Bold"/>
                  <a:cs typeface="Arimo Bold"/>
                  <a:sym typeface="Arimo Bold"/>
                </a:rPr>
                <a:t>Reduction in carbon footprint</a:t>
              </a:r>
            </a:p>
            <a:p>
              <a:pPr algn="l" marL="557330" indent="-278665" lvl="1">
                <a:lnSpc>
                  <a:spcPts val="3613"/>
                </a:lnSpc>
                <a:buFont typeface="Arial"/>
                <a:buChar char="•"/>
              </a:pPr>
              <a:r>
                <a:rPr lang="en-US" b="true" sz="2581">
                  <a:solidFill>
                    <a:srgbClr val="041E6B"/>
                  </a:solidFill>
                  <a:latin typeface="Arimo Bold"/>
                  <a:ea typeface="Arimo Bold"/>
                  <a:cs typeface="Arimo Bold"/>
                  <a:sym typeface="Arimo Bold"/>
                </a:rPr>
                <a:t>Decreased electronic waste</a:t>
              </a:r>
            </a:p>
            <a:p>
              <a:pPr algn="l" marL="557330" indent="-278665" lvl="1">
                <a:lnSpc>
                  <a:spcPts val="3613"/>
                </a:lnSpc>
                <a:buFont typeface="Arial"/>
                <a:buChar char="•"/>
              </a:pPr>
              <a:r>
                <a:rPr lang="en-US" b="true" sz="2581">
                  <a:solidFill>
                    <a:srgbClr val="041E6B"/>
                  </a:solidFill>
                  <a:latin typeface="Arimo Bold"/>
                  <a:ea typeface="Arimo Bold"/>
                  <a:cs typeface="Arimo Bold"/>
                  <a:sym typeface="Arimo Bold"/>
                </a:rPr>
                <a:t>Lower energy wastage</a:t>
              </a:r>
            </a:p>
            <a:p>
              <a:pPr algn="l" marL="557330" indent="-278665" lvl="1">
                <a:lnSpc>
                  <a:spcPts val="3613"/>
                </a:lnSpc>
                <a:buFont typeface="Arial"/>
                <a:buChar char="•"/>
              </a:pPr>
              <a:r>
                <a:rPr lang="en-US" b="true" sz="2581">
                  <a:solidFill>
                    <a:srgbClr val="041E6B"/>
                  </a:solidFill>
                  <a:latin typeface="Arimo Bold"/>
                  <a:ea typeface="Arimo Bold"/>
                  <a:cs typeface="Arimo Bold"/>
                  <a:sym typeface="Arimo Bold"/>
                </a:rPr>
                <a:t>Noise pollution reduction </a:t>
              </a:r>
            </a:p>
            <a:p>
              <a:pPr algn="l" marL="557330" indent="-278665" lvl="1">
                <a:lnSpc>
                  <a:spcPts val="3613"/>
                </a:lnSpc>
                <a:buFont typeface="Arial"/>
                <a:buChar char="•"/>
              </a:pPr>
              <a:r>
                <a:rPr lang="en-US" b="true" sz="2581">
                  <a:solidFill>
                    <a:srgbClr val="041E6B"/>
                  </a:solidFill>
                  <a:latin typeface="Arimo Bold"/>
                  <a:ea typeface="Arimo Bold"/>
                  <a:cs typeface="Arimo Bold"/>
                  <a:sym typeface="Arimo Bold"/>
                </a:rPr>
                <a:t>Sustainable urban mobility</a:t>
              </a:r>
            </a:p>
          </p:txBody>
        </p:sp>
      </p:grpSp>
      <p:sp>
        <p:nvSpPr>
          <p:cNvPr name="TextBox 25" id="25"/>
          <p:cNvSpPr txBox="true"/>
          <p:nvPr/>
        </p:nvSpPr>
        <p:spPr>
          <a:xfrm rot="0">
            <a:off x="1713106" y="2338220"/>
            <a:ext cx="3302686" cy="688977"/>
          </a:xfrm>
          <a:prstGeom prst="rect">
            <a:avLst/>
          </a:prstGeom>
        </p:spPr>
        <p:txBody>
          <a:bodyPr anchor="t" rtlCol="false" tIns="0" lIns="0" bIns="0" rIns="0">
            <a:spAutoFit/>
          </a:bodyPr>
          <a:lstStyle/>
          <a:p>
            <a:pPr algn="ctr">
              <a:lnSpc>
                <a:spcPts val="5599"/>
              </a:lnSpc>
              <a:spcBef>
                <a:spcPct val="0"/>
              </a:spcBef>
            </a:pPr>
            <a:r>
              <a:rPr lang="en-US" b="true" sz="3999">
                <a:solidFill>
                  <a:srgbClr val="041E6B"/>
                </a:solidFill>
                <a:latin typeface="Arimo Bold"/>
                <a:ea typeface="Arimo Bold"/>
                <a:cs typeface="Arimo Bold"/>
                <a:sym typeface="Arimo Bold"/>
              </a:rPr>
              <a:t>Sustainability</a:t>
            </a:r>
          </a:p>
        </p:txBody>
      </p:sp>
      <p:sp>
        <p:nvSpPr>
          <p:cNvPr name="TextBox 26" id="26"/>
          <p:cNvSpPr txBox="true"/>
          <p:nvPr/>
        </p:nvSpPr>
        <p:spPr>
          <a:xfrm rot="0">
            <a:off x="7035883" y="4610387"/>
            <a:ext cx="3669506" cy="1393827"/>
          </a:xfrm>
          <a:prstGeom prst="rect">
            <a:avLst/>
          </a:prstGeom>
        </p:spPr>
        <p:txBody>
          <a:bodyPr anchor="t" rtlCol="false" tIns="0" lIns="0" bIns="0" rIns="0">
            <a:spAutoFit/>
          </a:bodyPr>
          <a:lstStyle/>
          <a:p>
            <a:pPr algn="ctr">
              <a:lnSpc>
                <a:spcPts val="5599"/>
              </a:lnSpc>
            </a:pPr>
            <a:r>
              <a:rPr lang="en-US" sz="3999" b="true">
                <a:solidFill>
                  <a:srgbClr val="041E6B"/>
                </a:solidFill>
                <a:latin typeface="Arimo Bold"/>
                <a:ea typeface="Arimo Bold"/>
                <a:cs typeface="Arimo Bold"/>
                <a:sym typeface="Arimo Bold"/>
              </a:rPr>
              <a:t>Environmental </a:t>
            </a:r>
          </a:p>
          <a:p>
            <a:pPr algn="ctr">
              <a:lnSpc>
                <a:spcPts val="5599"/>
              </a:lnSpc>
              <a:spcBef>
                <a:spcPct val="0"/>
              </a:spcBef>
            </a:pPr>
            <a:r>
              <a:rPr lang="en-US" b="true" sz="3999">
                <a:solidFill>
                  <a:srgbClr val="041E6B"/>
                </a:solidFill>
                <a:latin typeface="Arimo Bold"/>
                <a:ea typeface="Arimo Bold"/>
                <a:cs typeface="Arimo Bold"/>
                <a:sym typeface="Arimo Bold"/>
              </a:rPr>
              <a:t>Context</a:t>
            </a:r>
          </a:p>
        </p:txBody>
      </p:sp>
      <p:sp>
        <p:nvSpPr>
          <p:cNvPr name="TextBox 27" id="27"/>
          <p:cNvSpPr txBox="true"/>
          <p:nvPr/>
        </p:nvSpPr>
        <p:spPr>
          <a:xfrm rot="0">
            <a:off x="12653865" y="2338220"/>
            <a:ext cx="4605435" cy="688977"/>
          </a:xfrm>
          <a:prstGeom prst="rect">
            <a:avLst/>
          </a:prstGeom>
        </p:spPr>
        <p:txBody>
          <a:bodyPr anchor="t" rtlCol="false" tIns="0" lIns="0" bIns="0" rIns="0">
            <a:spAutoFit/>
          </a:bodyPr>
          <a:lstStyle/>
          <a:p>
            <a:pPr algn="ctr">
              <a:lnSpc>
                <a:spcPts val="5599"/>
              </a:lnSpc>
              <a:spcBef>
                <a:spcPct val="0"/>
              </a:spcBef>
            </a:pPr>
            <a:r>
              <a:rPr lang="en-US" b="true" sz="3999">
                <a:solidFill>
                  <a:srgbClr val="041E6B"/>
                </a:solidFill>
                <a:latin typeface="Arimo Bold"/>
                <a:ea typeface="Arimo Bold"/>
                <a:cs typeface="Arimo Bold"/>
                <a:sym typeface="Arimo Bold"/>
              </a:rPr>
              <a:t>Societal Context</a:t>
            </a:r>
          </a:p>
        </p:txBody>
      </p:sp>
      <p:sp>
        <p:nvSpPr>
          <p:cNvPr name="AutoShape 28" id="28"/>
          <p:cNvSpPr/>
          <p:nvPr/>
        </p:nvSpPr>
        <p:spPr>
          <a:xfrm>
            <a:off x="3383494" y="2945492"/>
            <a:ext cx="19050" cy="866534"/>
          </a:xfrm>
          <a:prstGeom prst="line">
            <a:avLst/>
          </a:prstGeom>
          <a:ln cap="flat" w="38100">
            <a:solidFill>
              <a:srgbClr val="000000"/>
            </a:solidFill>
            <a:prstDash val="solid"/>
            <a:headEnd type="none" len="sm" w="sm"/>
            <a:tailEnd type="triangle" len="med" w="lg"/>
          </a:ln>
        </p:spPr>
      </p:sp>
      <p:sp>
        <p:nvSpPr>
          <p:cNvPr name="AutoShape 29" id="29"/>
          <p:cNvSpPr/>
          <p:nvPr/>
        </p:nvSpPr>
        <p:spPr>
          <a:xfrm>
            <a:off x="14975628" y="2945910"/>
            <a:ext cx="19050" cy="866534"/>
          </a:xfrm>
          <a:prstGeom prst="line">
            <a:avLst/>
          </a:prstGeom>
          <a:ln cap="flat" w="38100">
            <a:solidFill>
              <a:srgbClr val="000000"/>
            </a:solidFill>
            <a:prstDash val="solid"/>
            <a:headEnd type="none" len="sm" w="sm"/>
            <a:tailEnd type="triangle" len="med" w="lg"/>
          </a:ln>
        </p:spPr>
      </p:sp>
      <p:sp>
        <p:nvSpPr>
          <p:cNvPr name="AutoShape 30" id="30"/>
          <p:cNvSpPr/>
          <p:nvPr/>
        </p:nvSpPr>
        <p:spPr>
          <a:xfrm>
            <a:off x="8861111" y="5938803"/>
            <a:ext cx="19050" cy="866534"/>
          </a:xfrm>
          <a:prstGeom prst="line">
            <a:avLst/>
          </a:prstGeom>
          <a:ln cap="flat" w="38100">
            <a:solidFill>
              <a:srgbClr val="000000"/>
            </a:solidFill>
            <a:prstDash val="solid"/>
            <a:headEnd type="none" len="sm" w="sm"/>
            <a:tailEnd type="triangle" len="med" w="lg"/>
          </a:ln>
        </p:spPr>
      </p:sp>
      <p:sp>
        <p:nvSpPr>
          <p:cNvPr name="TextBox 31" id="3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TextBox 9" id="9"/>
          <p:cNvSpPr txBox="true"/>
          <p:nvPr/>
        </p:nvSpPr>
        <p:spPr>
          <a:xfrm rot="0">
            <a:off x="138511" y="2159405"/>
            <a:ext cx="18010978" cy="1971675"/>
          </a:xfrm>
          <a:prstGeom prst="rect">
            <a:avLst/>
          </a:prstGeom>
        </p:spPr>
        <p:txBody>
          <a:bodyPr anchor="t" rtlCol="false" tIns="0" lIns="0" bIns="0" rIns="0">
            <a:spAutoFit/>
          </a:bodyPr>
          <a:lstStyle/>
          <a:p>
            <a:pPr algn="ctr">
              <a:lnSpc>
                <a:spcPts val="7679"/>
              </a:lnSpc>
              <a:spcBef>
                <a:spcPct val="0"/>
              </a:spcBef>
            </a:pPr>
            <a:r>
              <a:rPr lang="en-US" b="true" sz="6399">
                <a:solidFill>
                  <a:srgbClr val="041E6B"/>
                </a:solidFill>
                <a:latin typeface="Arimo Bold"/>
                <a:ea typeface="Arimo Bold"/>
                <a:cs typeface="Arimo Bold"/>
                <a:sym typeface="Arimo Bold"/>
              </a:rPr>
              <a:t>6. REFELCTION ON INDIVIDUAL AND TEAMWORK</a:t>
            </a:r>
          </a:p>
        </p:txBody>
      </p:sp>
      <p:sp>
        <p:nvSpPr>
          <p:cNvPr name="TextBox 10" id="10"/>
          <p:cNvSpPr txBox="true"/>
          <p:nvPr/>
        </p:nvSpPr>
        <p:spPr>
          <a:xfrm rot="0">
            <a:off x="1980280" y="4736306"/>
            <a:ext cx="14327441" cy="4362450"/>
          </a:xfrm>
          <a:prstGeom prst="rect">
            <a:avLst/>
          </a:prstGeom>
        </p:spPr>
        <p:txBody>
          <a:bodyPr anchor="t" rtlCol="false" tIns="0" lIns="0" bIns="0" rIns="0">
            <a:spAutoFit/>
          </a:bodyPr>
          <a:lstStyle/>
          <a:p>
            <a:pPr algn="l">
              <a:lnSpc>
                <a:spcPts val="5759"/>
              </a:lnSpc>
            </a:pPr>
            <a:r>
              <a:rPr lang="en-US" sz="4800" b="true">
                <a:solidFill>
                  <a:srgbClr val="041E6B"/>
                </a:solidFill>
                <a:latin typeface="Arimo Bold"/>
                <a:ea typeface="Arimo Bold"/>
                <a:cs typeface="Arimo Bold"/>
                <a:sym typeface="Arimo Bold"/>
              </a:rPr>
              <a:t>6.1 Individual Contribution of Each Team Member</a:t>
            </a:r>
          </a:p>
          <a:p>
            <a:pPr algn="l">
              <a:lnSpc>
                <a:spcPts val="5759"/>
              </a:lnSpc>
            </a:pPr>
            <a:r>
              <a:rPr lang="en-US" sz="4800" b="true">
                <a:solidFill>
                  <a:srgbClr val="041E6B"/>
                </a:solidFill>
                <a:latin typeface="Arimo Bold"/>
                <a:ea typeface="Arimo Bold"/>
                <a:cs typeface="Arimo Bold"/>
                <a:sym typeface="Arimo Bold"/>
              </a:rPr>
              <a:t>6</a:t>
            </a:r>
            <a:r>
              <a:rPr lang="en-US" sz="4800" b="true">
                <a:solidFill>
                  <a:srgbClr val="041E6B"/>
                </a:solidFill>
                <a:latin typeface="Arimo Bold"/>
                <a:ea typeface="Arimo Bold"/>
                <a:cs typeface="Arimo Bold"/>
                <a:sym typeface="Arimo Bold"/>
              </a:rPr>
              <a:t>.2 Mode of Teamwork</a:t>
            </a:r>
          </a:p>
          <a:p>
            <a:pPr algn="l">
              <a:lnSpc>
                <a:spcPts val="5759"/>
              </a:lnSpc>
            </a:pPr>
            <a:r>
              <a:rPr lang="en-US" sz="4800" b="true">
                <a:solidFill>
                  <a:srgbClr val="041E6B"/>
                </a:solidFill>
                <a:latin typeface="Arimo Bold"/>
                <a:ea typeface="Arimo Bold"/>
                <a:cs typeface="Arimo Bold"/>
                <a:sym typeface="Arimo Bold"/>
              </a:rPr>
              <a:t>6</a:t>
            </a:r>
            <a:r>
              <a:rPr lang="en-US" sz="4800" b="true">
                <a:solidFill>
                  <a:srgbClr val="041E6B"/>
                </a:solidFill>
                <a:latin typeface="Arimo Bold"/>
                <a:ea typeface="Arimo Bold"/>
                <a:cs typeface="Arimo Bold"/>
                <a:sym typeface="Arimo Bold"/>
              </a:rPr>
              <a:t>.3 Diversity Statement of Team </a:t>
            </a:r>
          </a:p>
          <a:p>
            <a:pPr algn="l">
              <a:lnSpc>
                <a:spcPts val="5759"/>
              </a:lnSpc>
            </a:pPr>
            <a:r>
              <a:rPr lang="en-US" sz="4800" b="true">
                <a:solidFill>
                  <a:srgbClr val="041E6B"/>
                </a:solidFill>
                <a:latin typeface="Arimo Bold"/>
                <a:ea typeface="Arimo Bold"/>
                <a:cs typeface="Arimo Bold"/>
                <a:sym typeface="Arimo Bold"/>
              </a:rPr>
              <a:t>6</a:t>
            </a:r>
            <a:r>
              <a:rPr lang="en-US" sz="4800" b="true">
                <a:solidFill>
                  <a:srgbClr val="041E6B"/>
                </a:solidFill>
                <a:latin typeface="Arimo Bold"/>
                <a:ea typeface="Arimo Bold"/>
                <a:cs typeface="Arimo Bold"/>
                <a:sym typeface="Arimo Bold"/>
              </a:rPr>
              <a:t>.4 Assessment of the Impact of the Project </a:t>
            </a:r>
          </a:p>
          <a:p>
            <a:pPr algn="l">
              <a:lnSpc>
                <a:spcPts val="5759"/>
              </a:lnSpc>
            </a:pPr>
          </a:p>
          <a:p>
            <a:pPr algn="l">
              <a:lnSpc>
                <a:spcPts val="5759"/>
              </a:lnSpc>
              <a:spcBef>
                <a:spcPct val="0"/>
              </a:spcBef>
            </a:pP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grpSp>
        <p:nvGrpSpPr>
          <p:cNvPr name="Group 9" id="9"/>
          <p:cNvGrpSpPr/>
          <p:nvPr/>
        </p:nvGrpSpPr>
        <p:grpSpPr>
          <a:xfrm rot="0">
            <a:off x="1028700" y="2380250"/>
            <a:ext cx="2011294" cy="2011294"/>
            <a:chOff x="0" y="0"/>
            <a:chExt cx="3282950" cy="3282950"/>
          </a:xfrm>
        </p:grpSpPr>
        <p:sp>
          <p:nvSpPr>
            <p:cNvPr name="Freeform 10" id="10"/>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3"/>
              <a:stretch>
                <a:fillRect l="-12404" t="-17000" r="-16827" b="-14199"/>
              </a:stretch>
            </a:blipFill>
          </p:spPr>
        </p:sp>
      </p:grpSp>
      <p:grpSp>
        <p:nvGrpSpPr>
          <p:cNvPr name="Group 11" id="11"/>
          <p:cNvGrpSpPr/>
          <p:nvPr/>
        </p:nvGrpSpPr>
        <p:grpSpPr>
          <a:xfrm rot="0">
            <a:off x="1028700" y="4753494"/>
            <a:ext cx="2011294" cy="2011294"/>
            <a:chOff x="0" y="0"/>
            <a:chExt cx="3282950" cy="3282950"/>
          </a:xfrm>
        </p:grpSpPr>
        <p:sp>
          <p:nvSpPr>
            <p:cNvPr name="Freeform 12" id="12"/>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4"/>
              <a:stretch>
                <a:fillRect l="-26875" t="-93151" r="-35902" b="-31369"/>
              </a:stretch>
            </a:blipFill>
          </p:spPr>
        </p:sp>
      </p:grpSp>
      <p:grpSp>
        <p:nvGrpSpPr>
          <p:cNvPr name="Group 13" id="13"/>
          <p:cNvGrpSpPr/>
          <p:nvPr/>
        </p:nvGrpSpPr>
        <p:grpSpPr>
          <a:xfrm rot="0">
            <a:off x="1054884" y="7126738"/>
            <a:ext cx="1985110" cy="1985110"/>
            <a:chOff x="0" y="0"/>
            <a:chExt cx="3282950" cy="3282950"/>
          </a:xfrm>
        </p:grpSpPr>
        <p:sp>
          <p:nvSpPr>
            <p:cNvPr name="Freeform 14" id="14"/>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5"/>
              <a:stretch>
                <a:fillRect l="-40845" t="-52233" r="-51025" b="-103594"/>
              </a:stretch>
            </a:blipFill>
          </p:spPr>
        </p:sp>
      </p:grpSp>
      <p:grpSp>
        <p:nvGrpSpPr>
          <p:cNvPr name="Group 15" id="15"/>
          <p:cNvGrpSpPr/>
          <p:nvPr/>
        </p:nvGrpSpPr>
        <p:grpSpPr>
          <a:xfrm rot="0">
            <a:off x="15248006" y="2367159"/>
            <a:ext cx="2011294" cy="2011294"/>
            <a:chOff x="0" y="0"/>
            <a:chExt cx="3282950" cy="3282950"/>
          </a:xfrm>
        </p:grpSpPr>
        <p:sp>
          <p:nvSpPr>
            <p:cNvPr name="Freeform 16" id="16"/>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6"/>
              <a:stretch>
                <a:fillRect l="-25440" t="-38723" r="-36241" b="-22756"/>
              </a:stretch>
            </a:blipFill>
          </p:spPr>
        </p:sp>
      </p:grpSp>
      <p:grpSp>
        <p:nvGrpSpPr>
          <p:cNvPr name="Group 17" id="17"/>
          <p:cNvGrpSpPr/>
          <p:nvPr/>
        </p:nvGrpSpPr>
        <p:grpSpPr>
          <a:xfrm rot="0">
            <a:off x="15248006" y="4740402"/>
            <a:ext cx="2011294" cy="2011294"/>
            <a:chOff x="0" y="0"/>
            <a:chExt cx="3282950" cy="3282950"/>
          </a:xfrm>
        </p:grpSpPr>
        <p:sp>
          <p:nvSpPr>
            <p:cNvPr name="Freeform 18" id="18"/>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7"/>
              <a:stretch>
                <a:fillRect l="-13219" t="-23774" r="-18606" b="-51700"/>
              </a:stretch>
            </a:blipFill>
          </p:spPr>
        </p:sp>
      </p:grpSp>
      <p:grpSp>
        <p:nvGrpSpPr>
          <p:cNvPr name="Group 19" id="19"/>
          <p:cNvGrpSpPr/>
          <p:nvPr/>
        </p:nvGrpSpPr>
        <p:grpSpPr>
          <a:xfrm rot="0">
            <a:off x="15274190" y="7113646"/>
            <a:ext cx="1985110" cy="1985110"/>
            <a:chOff x="0" y="0"/>
            <a:chExt cx="3282950" cy="3282950"/>
          </a:xfrm>
        </p:grpSpPr>
        <p:sp>
          <p:nvSpPr>
            <p:cNvPr name="Freeform 20" id="20"/>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8"/>
              <a:stretch>
                <a:fillRect l="0" t="-6339" r="0" b="-43660"/>
              </a:stretch>
            </a:blipFill>
          </p:spPr>
        </p:sp>
      </p:grpSp>
      <p:sp>
        <p:nvSpPr>
          <p:cNvPr name="AutoShape 21" id="21"/>
          <p:cNvSpPr/>
          <p:nvPr/>
        </p:nvSpPr>
        <p:spPr>
          <a:xfrm flipV="true">
            <a:off x="9144000" y="1897380"/>
            <a:ext cx="0" cy="7360920"/>
          </a:xfrm>
          <a:prstGeom prst="line">
            <a:avLst/>
          </a:prstGeom>
          <a:ln cap="flat" w="38100">
            <a:solidFill>
              <a:srgbClr val="041E6B"/>
            </a:solidFill>
            <a:prstDash val="solid"/>
            <a:headEnd type="none" len="sm" w="sm"/>
            <a:tailEnd type="none" len="sm" w="sm"/>
          </a:ln>
        </p:spPr>
      </p:sp>
      <p:sp>
        <p:nvSpPr>
          <p:cNvPr name="TextBox 22" id="22"/>
          <p:cNvSpPr txBox="true"/>
          <p:nvPr/>
        </p:nvSpPr>
        <p:spPr>
          <a:xfrm rot="0">
            <a:off x="279722" y="314325"/>
            <a:ext cx="8183291" cy="1166649"/>
          </a:xfrm>
          <a:prstGeom prst="rect">
            <a:avLst/>
          </a:prstGeom>
        </p:spPr>
        <p:txBody>
          <a:bodyPr anchor="t" rtlCol="false" tIns="0" lIns="0" bIns="0" rIns="0">
            <a:spAutoFit/>
          </a:bodyPr>
          <a:lstStyle/>
          <a:p>
            <a:pPr algn="l">
              <a:lnSpc>
                <a:spcPts val="4555"/>
              </a:lnSpc>
              <a:spcBef>
                <a:spcPct val="0"/>
              </a:spcBef>
            </a:pPr>
            <a:r>
              <a:rPr lang="en-US" b="true" sz="3796">
                <a:solidFill>
                  <a:srgbClr val="041E6B"/>
                </a:solidFill>
                <a:latin typeface="Arimo Bold"/>
                <a:ea typeface="Arimo Bold"/>
                <a:cs typeface="Arimo Bold"/>
                <a:sym typeface="Arimo Bold"/>
              </a:rPr>
              <a:t>6.1 INDIVIDUAL CONTRIBUTION OF EACH TEAM MEMBER </a:t>
            </a:r>
          </a:p>
        </p:txBody>
      </p:sp>
      <p:sp>
        <p:nvSpPr>
          <p:cNvPr name="TextBox 23" id="23"/>
          <p:cNvSpPr txBox="true"/>
          <p:nvPr/>
        </p:nvSpPr>
        <p:spPr>
          <a:xfrm rot="0">
            <a:off x="3286801" y="2310009"/>
            <a:ext cx="4058639" cy="391796"/>
          </a:xfrm>
          <a:prstGeom prst="rect">
            <a:avLst/>
          </a:prstGeom>
        </p:spPr>
        <p:txBody>
          <a:bodyPr anchor="t" rtlCol="false" tIns="0" lIns="0" bIns="0" rIns="0">
            <a:spAutoFit/>
          </a:bodyPr>
          <a:lstStyle/>
          <a:p>
            <a:pPr algn="l">
              <a:lnSpc>
                <a:spcPts val="3079"/>
              </a:lnSpc>
              <a:spcBef>
                <a:spcPct val="0"/>
              </a:spcBef>
            </a:pPr>
            <a:r>
              <a:rPr lang="en-US" b="true" sz="2199">
                <a:solidFill>
                  <a:srgbClr val="041E6B"/>
                </a:solidFill>
                <a:latin typeface="Arimo Bold"/>
                <a:ea typeface="Arimo Bold"/>
                <a:cs typeface="Arimo Bold"/>
                <a:sym typeface="Arimo Bold"/>
              </a:rPr>
              <a:t>AR-RAFI ISHRAQ</a:t>
            </a:r>
          </a:p>
        </p:txBody>
      </p:sp>
      <p:sp>
        <p:nvSpPr>
          <p:cNvPr name="TextBox 24" id="24"/>
          <p:cNvSpPr txBox="true"/>
          <p:nvPr/>
        </p:nvSpPr>
        <p:spPr>
          <a:xfrm rot="0">
            <a:off x="3361858" y="4757102"/>
            <a:ext cx="4058639" cy="391796"/>
          </a:xfrm>
          <a:prstGeom prst="rect">
            <a:avLst/>
          </a:prstGeom>
        </p:spPr>
        <p:txBody>
          <a:bodyPr anchor="t" rtlCol="false" tIns="0" lIns="0" bIns="0" rIns="0">
            <a:spAutoFit/>
          </a:bodyPr>
          <a:lstStyle/>
          <a:p>
            <a:pPr algn="l">
              <a:lnSpc>
                <a:spcPts val="3079"/>
              </a:lnSpc>
              <a:spcBef>
                <a:spcPct val="0"/>
              </a:spcBef>
            </a:pPr>
            <a:r>
              <a:rPr lang="en-US" b="true" sz="2199">
                <a:solidFill>
                  <a:srgbClr val="041E6B"/>
                </a:solidFill>
                <a:latin typeface="Arimo Bold"/>
                <a:ea typeface="Arimo Bold"/>
                <a:cs typeface="Arimo Bold"/>
                <a:sym typeface="Arimo Bold"/>
              </a:rPr>
              <a:t>ISHRAK ANAN</a:t>
            </a:r>
          </a:p>
        </p:txBody>
      </p:sp>
      <p:sp>
        <p:nvSpPr>
          <p:cNvPr name="TextBox 25" id="25"/>
          <p:cNvSpPr txBox="true"/>
          <p:nvPr/>
        </p:nvSpPr>
        <p:spPr>
          <a:xfrm rot="0">
            <a:off x="3286801" y="7069588"/>
            <a:ext cx="4058639" cy="391796"/>
          </a:xfrm>
          <a:prstGeom prst="rect">
            <a:avLst/>
          </a:prstGeom>
        </p:spPr>
        <p:txBody>
          <a:bodyPr anchor="t" rtlCol="false" tIns="0" lIns="0" bIns="0" rIns="0">
            <a:spAutoFit/>
          </a:bodyPr>
          <a:lstStyle/>
          <a:p>
            <a:pPr algn="l">
              <a:lnSpc>
                <a:spcPts val="3079"/>
              </a:lnSpc>
              <a:spcBef>
                <a:spcPct val="0"/>
              </a:spcBef>
            </a:pPr>
            <a:r>
              <a:rPr lang="en-US" b="true" sz="2199">
                <a:solidFill>
                  <a:srgbClr val="041E6B"/>
                </a:solidFill>
                <a:latin typeface="Arimo Bold"/>
                <a:ea typeface="Arimo Bold"/>
                <a:cs typeface="Arimo Bold"/>
                <a:sym typeface="Arimo Bold"/>
              </a:rPr>
              <a:t>TAUFEEQ HASSAN OMIO</a:t>
            </a:r>
          </a:p>
        </p:txBody>
      </p:sp>
      <p:sp>
        <p:nvSpPr>
          <p:cNvPr name="TextBox 26" id="26"/>
          <p:cNvSpPr txBox="true"/>
          <p:nvPr/>
        </p:nvSpPr>
        <p:spPr>
          <a:xfrm rot="0">
            <a:off x="11363896" y="2376932"/>
            <a:ext cx="4058639" cy="391796"/>
          </a:xfrm>
          <a:prstGeom prst="rect">
            <a:avLst/>
          </a:prstGeom>
        </p:spPr>
        <p:txBody>
          <a:bodyPr anchor="t" rtlCol="false" tIns="0" lIns="0" bIns="0" rIns="0">
            <a:spAutoFit/>
          </a:bodyPr>
          <a:lstStyle/>
          <a:p>
            <a:pPr algn="ctr">
              <a:lnSpc>
                <a:spcPts val="3079"/>
              </a:lnSpc>
              <a:spcBef>
                <a:spcPct val="0"/>
              </a:spcBef>
            </a:pPr>
            <a:r>
              <a:rPr lang="en-US" b="true" sz="2199">
                <a:solidFill>
                  <a:srgbClr val="041E6B"/>
                </a:solidFill>
                <a:latin typeface="Arimo Bold"/>
                <a:ea typeface="Arimo Bold"/>
                <a:cs typeface="Arimo Bold"/>
                <a:sym typeface="Arimo Bold"/>
              </a:rPr>
              <a:t>ASHFIQ UL RAHMAN</a:t>
            </a:r>
          </a:p>
        </p:txBody>
      </p:sp>
      <p:sp>
        <p:nvSpPr>
          <p:cNvPr name="TextBox 27" id="27"/>
          <p:cNvSpPr txBox="true"/>
          <p:nvPr/>
        </p:nvSpPr>
        <p:spPr>
          <a:xfrm rot="0">
            <a:off x="11363896" y="4751704"/>
            <a:ext cx="4058639" cy="391796"/>
          </a:xfrm>
          <a:prstGeom prst="rect">
            <a:avLst/>
          </a:prstGeom>
        </p:spPr>
        <p:txBody>
          <a:bodyPr anchor="t" rtlCol="false" tIns="0" lIns="0" bIns="0" rIns="0">
            <a:spAutoFit/>
          </a:bodyPr>
          <a:lstStyle/>
          <a:p>
            <a:pPr algn="ctr">
              <a:lnSpc>
                <a:spcPts val="3079"/>
              </a:lnSpc>
              <a:spcBef>
                <a:spcPct val="0"/>
              </a:spcBef>
            </a:pPr>
            <a:r>
              <a:rPr lang="en-US" b="true" sz="2199">
                <a:solidFill>
                  <a:srgbClr val="041E6B"/>
                </a:solidFill>
                <a:latin typeface="Arimo Bold"/>
                <a:ea typeface="Arimo Bold"/>
                <a:cs typeface="Arimo Bold"/>
                <a:sym typeface="Arimo Bold"/>
              </a:rPr>
              <a:t>TAHSIK ISLAM SAMPAD</a:t>
            </a:r>
          </a:p>
        </p:txBody>
      </p:sp>
      <p:sp>
        <p:nvSpPr>
          <p:cNvPr name="TextBox 28" id="28"/>
          <p:cNvSpPr txBox="true"/>
          <p:nvPr/>
        </p:nvSpPr>
        <p:spPr>
          <a:xfrm rot="0">
            <a:off x="11189368" y="7056496"/>
            <a:ext cx="4058639" cy="391796"/>
          </a:xfrm>
          <a:prstGeom prst="rect">
            <a:avLst/>
          </a:prstGeom>
        </p:spPr>
        <p:txBody>
          <a:bodyPr anchor="t" rtlCol="false" tIns="0" lIns="0" bIns="0" rIns="0">
            <a:spAutoFit/>
          </a:bodyPr>
          <a:lstStyle/>
          <a:p>
            <a:pPr algn="ctr">
              <a:lnSpc>
                <a:spcPts val="3079"/>
              </a:lnSpc>
              <a:spcBef>
                <a:spcPct val="0"/>
              </a:spcBef>
            </a:pPr>
            <a:r>
              <a:rPr lang="en-US" b="true" sz="2199">
                <a:solidFill>
                  <a:srgbClr val="041E6B"/>
                </a:solidFill>
                <a:latin typeface="Arimo Bold"/>
                <a:ea typeface="Arimo Bold"/>
                <a:cs typeface="Arimo Bold"/>
                <a:sym typeface="Arimo Bold"/>
              </a:rPr>
              <a:t>BAYZID MOHAMMED SAKIB</a:t>
            </a:r>
          </a:p>
        </p:txBody>
      </p:sp>
      <p:sp>
        <p:nvSpPr>
          <p:cNvPr name="TextBox 29" id="29"/>
          <p:cNvSpPr txBox="true"/>
          <p:nvPr/>
        </p:nvSpPr>
        <p:spPr>
          <a:xfrm rot="0">
            <a:off x="3211744" y="2686650"/>
            <a:ext cx="4923844" cy="1388110"/>
          </a:xfrm>
          <a:prstGeom prst="rect">
            <a:avLst/>
          </a:prstGeom>
        </p:spPr>
        <p:txBody>
          <a:bodyPr anchor="t" rtlCol="false" tIns="0" lIns="0" bIns="0" rIns="0">
            <a:spAutoFit/>
          </a:bodyPr>
          <a:lstStyle/>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Research on component selection</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Purchasing components </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Hardware implementation (wiring, soldering) </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Code for individual Module</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Debugging</a:t>
            </a:r>
          </a:p>
        </p:txBody>
      </p:sp>
      <p:sp>
        <p:nvSpPr>
          <p:cNvPr name="TextBox 30" id="30"/>
          <p:cNvSpPr txBox="true"/>
          <p:nvPr/>
        </p:nvSpPr>
        <p:spPr>
          <a:xfrm rot="0">
            <a:off x="3286801" y="5131297"/>
            <a:ext cx="4848787" cy="1388110"/>
          </a:xfrm>
          <a:prstGeom prst="rect">
            <a:avLst/>
          </a:prstGeom>
        </p:spPr>
        <p:txBody>
          <a:bodyPr anchor="t" rtlCol="false" tIns="0" lIns="0" bIns="0" rIns="0">
            <a:spAutoFit/>
          </a:bodyPr>
          <a:lstStyle/>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Research on component selection</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Purchasing components </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Hardware implementation (wiring, soldering) </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Debugging</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Preparing presentation</a:t>
            </a:r>
          </a:p>
        </p:txBody>
      </p:sp>
      <p:sp>
        <p:nvSpPr>
          <p:cNvPr name="TextBox 31" id="31"/>
          <p:cNvSpPr txBox="true"/>
          <p:nvPr/>
        </p:nvSpPr>
        <p:spPr>
          <a:xfrm rot="0">
            <a:off x="3286801" y="7575684"/>
            <a:ext cx="4848787" cy="1388110"/>
          </a:xfrm>
          <a:prstGeom prst="rect">
            <a:avLst/>
          </a:prstGeom>
        </p:spPr>
        <p:txBody>
          <a:bodyPr anchor="t" rtlCol="false" tIns="0" lIns="0" bIns="0" rIns="0">
            <a:spAutoFit/>
          </a:bodyPr>
          <a:lstStyle/>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Research on component selection</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Research on project feasibility and impact</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Hardware implementation (wiring, soldering) </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Report writing </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Preparing presentation</a:t>
            </a:r>
          </a:p>
        </p:txBody>
      </p:sp>
      <p:sp>
        <p:nvSpPr>
          <p:cNvPr name="TextBox 32" id="32"/>
          <p:cNvSpPr txBox="true"/>
          <p:nvPr/>
        </p:nvSpPr>
        <p:spPr>
          <a:xfrm rot="0">
            <a:off x="10428215" y="2727209"/>
            <a:ext cx="4994320" cy="1940560"/>
          </a:xfrm>
          <a:prstGeom prst="rect">
            <a:avLst/>
          </a:prstGeom>
        </p:spPr>
        <p:txBody>
          <a:bodyPr anchor="t" rtlCol="false" tIns="0" lIns="0" bIns="0" rIns="0">
            <a:spAutoFit/>
          </a:bodyPr>
          <a:lstStyle/>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Research on component selection</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Purchasing components </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Research on project feasibility and impact</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Hardware implementation (wiring, soldering) </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Report writing </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Debugging</a:t>
            </a:r>
          </a:p>
          <a:p>
            <a:pPr algn="just">
              <a:lnSpc>
                <a:spcPts val="2239"/>
              </a:lnSpc>
            </a:pPr>
          </a:p>
        </p:txBody>
      </p:sp>
      <p:sp>
        <p:nvSpPr>
          <p:cNvPr name="TextBox 33" id="33"/>
          <p:cNvSpPr txBox="true"/>
          <p:nvPr/>
        </p:nvSpPr>
        <p:spPr>
          <a:xfrm rot="0">
            <a:off x="10428215" y="5131297"/>
            <a:ext cx="5035938" cy="1388110"/>
          </a:xfrm>
          <a:prstGeom prst="rect">
            <a:avLst/>
          </a:prstGeom>
        </p:spPr>
        <p:txBody>
          <a:bodyPr anchor="t" rtlCol="false" tIns="0" lIns="0" bIns="0" rIns="0">
            <a:spAutoFit/>
          </a:bodyPr>
          <a:lstStyle/>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Purchasing components </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Budget designing</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Research on project feasibility and impact</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Hardware implementation (wiring, soldering) </a:t>
            </a:r>
          </a:p>
          <a:p>
            <a:pPr algn="just">
              <a:lnSpc>
                <a:spcPts val="2239"/>
              </a:lnSpc>
            </a:pPr>
          </a:p>
        </p:txBody>
      </p:sp>
      <p:sp>
        <p:nvSpPr>
          <p:cNvPr name="TextBox 34" id="34"/>
          <p:cNvSpPr txBox="true"/>
          <p:nvPr/>
        </p:nvSpPr>
        <p:spPr>
          <a:xfrm rot="0">
            <a:off x="10428215" y="7495917"/>
            <a:ext cx="4493699" cy="1388110"/>
          </a:xfrm>
          <a:prstGeom prst="rect">
            <a:avLst/>
          </a:prstGeom>
        </p:spPr>
        <p:txBody>
          <a:bodyPr anchor="t" rtlCol="false" tIns="0" lIns="0" bIns="0" rIns="0">
            <a:spAutoFit/>
          </a:bodyPr>
          <a:lstStyle/>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Purchasing components </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Budget designing</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Hardware implementation (wiring, soldering) </a:t>
            </a:r>
          </a:p>
          <a:p>
            <a:pPr algn="just" marL="345439" indent="-172720" lvl="1">
              <a:lnSpc>
                <a:spcPts val="2239"/>
              </a:lnSpc>
              <a:buFont typeface="Arial"/>
              <a:buChar char="•"/>
            </a:pPr>
            <a:r>
              <a:rPr lang="en-US" b="true" sz="1599">
                <a:solidFill>
                  <a:srgbClr val="041E6B"/>
                </a:solidFill>
                <a:latin typeface="Arimo Bold"/>
                <a:ea typeface="Arimo Bold"/>
                <a:cs typeface="Arimo Bold"/>
                <a:sym typeface="Arimo Bold"/>
              </a:rPr>
              <a:t>Documentation</a:t>
            </a:r>
          </a:p>
        </p:txBody>
      </p:sp>
      <p:sp>
        <p:nvSpPr>
          <p:cNvPr name="TextBox 35" id="3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3885"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TextBox 9" id="9"/>
          <p:cNvSpPr txBox="true"/>
          <p:nvPr/>
        </p:nvSpPr>
        <p:spPr>
          <a:xfrm rot="0">
            <a:off x="213885" y="1000125"/>
            <a:ext cx="10804050" cy="1000125"/>
          </a:xfrm>
          <a:prstGeom prst="rect">
            <a:avLst/>
          </a:prstGeom>
        </p:spPr>
        <p:txBody>
          <a:bodyPr anchor="t" rtlCol="false" tIns="0" lIns="0" bIns="0" rIns="0">
            <a:spAutoFit/>
          </a:bodyPr>
          <a:lstStyle/>
          <a:p>
            <a:pPr algn="ctr">
              <a:lnSpc>
                <a:spcPts val="7679"/>
              </a:lnSpc>
              <a:spcBef>
                <a:spcPct val="0"/>
              </a:spcBef>
            </a:pPr>
            <a:r>
              <a:rPr lang="en-US" b="true" sz="6399">
                <a:solidFill>
                  <a:srgbClr val="041E6B"/>
                </a:solidFill>
                <a:latin typeface="Arimo Bold"/>
                <a:ea typeface="Arimo Bold"/>
                <a:cs typeface="Arimo Bold"/>
                <a:sym typeface="Arimo Bold"/>
              </a:rPr>
              <a:t>6.2 MODE OF TEAMWORK</a:t>
            </a:r>
          </a:p>
        </p:txBody>
      </p:sp>
      <p:grpSp>
        <p:nvGrpSpPr>
          <p:cNvPr name="Group 10" id="10"/>
          <p:cNvGrpSpPr/>
          <p:nvPr/>
        </p:nvGrpSpPr>
        <p:grpSpPr>
          <a:xfrm rot="0">
            <a:off x="567827" y="2571715"/>
            <a:ext cx="17152347" cy="5681733"/>
            <a:chOff x="0" y="0"/>
            <a:chExt cx="22869796" cy="7575644"/>
          </a:xfrm>
        </p:grpSpPr>
        <p:sp>
          <p:nvSpPr>
            <p:cNvPr name="Freeform 11" id="11"/>
            <p:cNvSpPr/>
            <p:nvPr/>
          </p:nvSpPr>
          <p:spPr>
            <a:xfrm flipH="false" flipV="false" rot="0">
              <a:off x="0" y="2164438"/>
              <a:ext cx="4936832" cy="3067007"/>
            </a:xfrm>
            <a:custGeom>
              <a:avLst/>
              <a:gdLst/>
              <a:ahLst/>
              <a:cxnLst/>
              <a:rect r="r" b="b" t="t" l="l"/>
              <a:pathLst>
                <a:path h="3067007" w="4936832">
                  <a:moveTo>
                    <a:pt x="0" y="0"/>
                  </a:moveTo>
                  <a:lnTo>
                    <a:pt x="4936832" y="0"/>
                  </a:lnTo>
                  <a:lnTo>
                    <a:pt x="4936832" y="3067007"/>
                  </a:lnTo>
                  <a:lnTo>
                    <a:pt x="0" y="30670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6236597" y="1387872"/>
              <a:ext cx="4445434" cy="4023117"/>
            </a:xfrm>
            <a:custGeom>
              <a:avLst/>
              <a:gdLst/>
              <a:ahLst/>
              <a:cxnLst/>
              <a:rect r="r" b="b" t="t" l="l"/>
              <a:pathLst>
                <a:path h="4023117" w="4445434">
                  <a:moveTo>
                    <a:pt x="0" y="0"/>
                  </a:moveTo>
                  <a:lnTo>
                    <a:pt x="4445434" y="0"/>
                  </a:lnTo>
                  <a:lnTo>
                    <a:pt x="4445434" y="4023117"/>
                  </a:lnTo>
                  <a:lnTo>
                    <a:pt x="0" y="40231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1706191" y="0"/>
              <a:ext cx="5269703" cy="5636046"/>
            </a:xfrm>
            <a:custGeom>
              <a:avLst/>
              <a:gdLst/>
              <a:ahLst/>
              <a:cxnLst/>
              <a:rect r="r" b="b" t="t" l="l"/>
              <a:pathLst>
                <a:path h="5636046" w="5269703">
                  <a:moveTo>
                    <a:pt x="0" y="0"/>
                  </a:moveTo>
                  <a:lnTo>
                    <a:pt x="5269703" y="0"/>
                  </a:lnTo>
                  <a:lnTo>
                    <a:pt x="5269703" y="5636046"/>
                  </a:lnTo>
                  <a:lnTo>
                    <a:pt x="0" y="5636046"/>
                  </a:lnTo>
                  <a:lnTo>
                    <a:pt x="0" y="0"/>
                  </a:lnTo>
                  <a:close/>
                </a:path>
              </a:pathLst>
            </a:custGeom>
            <a:blipFill>
              <a:blip r:embed="rId7"/>
              <a:stretch>
                <a:fillRect l="-24203" t="-14135" r="-19534" b="-29601"/>
              </a:stretch>
            </a:blipFill>
          </p:spPr>
        </p:sp>
        <p:sp>
          <p:nvSpPr>
            <p:cNvPr name="Freeform 14" id="14"/>
            <p:cNvSpPr/>
            <p:nvPr/>
          </p:nvSpPr>
          <p:spPr>
            <a:xfrm flipH="false" flipV="false" rot="0">
              <a:off x="18249657" y="611306"/>
              <a:ext cx="4620139" cy="4620139"/>
            </a:xfrm>
            <a:custGeom>
              <a:avLst/>
              <a:gdLst/>
              <a:ahLst/>
              <a:cxnLst/>
              <a:rect r="r" b="b" t="t" l="l"/>
              <a:pathLst>
                <a:path h="4620139" w="4620139">
                  <a:moveTo>
                    <a:pt x="0" y="0"/>
                  </a:moveTo>
                  <a:lnTo>
                    <a:pt x="4620139" y="0"/>
                  </a:lnTo>
                  <a:lnTo>
                    <a:pt x="4620139" y="4620139"/>
                  </a:lnTo>
                  <a:lnTo>
                    <a:pt x="0" y="4620139"/>
                  </a:lnTo>
                  <a:lnTo>
                    <a:pt x="0" y="0"/>
                  </a:lnTo>
                  <a:close/>
                </a:path>
              </a:pathLst>
            </a:custGeom>
            <a:blipFill>
              <a:blip r:embed="rId8"/>
              <a:stretch>
                <a:fillRect l="-25310" t="-21460" r="-15950" b="-19801"/>
              </a:stretch>
            </a:blipFill>
          </p:spPr>
        </p:sp>
        <p:sp>
          <p:nvSpPr>
            <p:cNvPr name="TextBox 15" id="15"/>
            <p:cNvSpPr txBox="true"/>
            <p:nvPr/>
          </p:nvSpPr>
          <p:spPr>
            <a:xfrm rot="0">
              <a:off x="493344" y="6151820"/>
              <a:ext cx="3950143" cy="1093470"/>
            </a:xfrm>
            <a:prstGeom prst="rect">
              <a:avLst/>
            </a:prstGeom>
          </p:spPr>
          <p:txBody>
            <a:bodyPr anchor="t" rtlCol="false" tIns="0" lIns="0" bIns="0" rIns="0">
              <a:spAutoFit/>
            </a:bodyPr>
            <a:lstStyle/>
            <a:p>
              <a:pPr algn="ctr">
                <a:lnSpc>
                  <a:spcPts val="3359"/>
                </a:lnSpc>
                <a:spcBef>
                  <a:spcPct val="0"/>
                </a:spcBef>
              </a:pPr>
              <a:r>
                <a:rPr lang="en-US" b="true" sz="2400">
                  <a:solidFill>
                    <a:srgbClr val="041E6B"/>
                  </a:solidFill>
                  <a:latin typeface="Arimo Bold"/>
                  <a:ea typeface="Arimo Bold"/>
                  <a:cs typeface="Arimo Bold"/>
                  <a:sym typeface="Arimo Bold"/>
                </a:rPr>
                <a:t>TEAM COLLABORATION</a:t>
              </a:r>
            </a:p>
          </p:txBody>
        </p:sp>
        <p:sp>
          <p:nvSpPr>
            <p:cNvPr name="TextBox 16" id="16"/>
            <p:cNvSpPr txBox="true"/>
            <p:nvPr/>
          </p:nvSpPr>
          <p:spPr>
            <a:xfrm rot="0">
              <a:off x="6320272" y="5923374"/>
              <a:ext cx="4361759" cy="1652270"/>
            </a:xfrm>
            <a:prstGeom prst="rect">
              <a:avLst/>
            </a:prstGeom>
          </p:spPr>
          <p:txBody>
            <a:bodyPr anchor="t" rtlCol="false" tIns="0" lIns="0" bIns="0" rIns="0">
              <a:spAutoFit/>
            </a:bodyPr>
            <a:lstStyle/>
            <a:p>
              <a:pPr algn="ctr">
                <a:lnSpc>
                  <a:spcPts val="3359"/>
                </a:lnSpc>
                <a:spcBef>
                  <a:spcPct val="0"/>
                </a:spcBef>
              </a:pPr>
              <a:r>
                <a:rPr lang="en-US" b="true" sz="2400">
                  <a:solidFill>
                    <a:srgbClr val="041E6B"/>
                  </a:solidFill>
                  <a:latin typeface="Arimo Bold"/>
                  <a:ea typeface="Arimo Bold"/>
                  <a:cs typeface="Arimo Bold"/>
                  <a:sym typeface="Arimo Bold"/>
                </a:rPr>
                <a:t>BRAINSTORMING AND GROUP DISCUSSIONS</a:t>
              </a:r>
            </a:p>
          </p:txBody>
        </p:sp>
        <p:sp>
          <p:nvSpPr>
            <p:cNvPr name="TextBox 17" id="17"/>
            <p:cNvSpPr txBox="true"/>
            <p:nvPr/>
          </p:nvSpPr>
          <p:spPr>
            <a:xfrm rot="0">
              <a:off x="12405999" y="5923374"/>
              <a:ext cx="4361759" cy="1093470"/>
            </a:xfrm>
            <a:prstGeom prst="rect">
              <a:avLst/>
            </a:prstGeom>
          </p:spPr>
          <p:txBody>
            <a:bodyPr anchor="t" rtlCol="false" tIns="0" lIns="0" bIns="0" rIns="0">
              <a:spAutoFit/>
            </a:bodyPr>
            <a:lstStyle/>
            <a:p>
              <a:pPr algn="ctr">
                <a:lnSpc>
                  <a:spcPts val="3359"/>
                </a:lnSpc>
                <a:spcBef>
                  <a:spcPct val="0"/>
                </a:spcBef>
              </a:pPr>
              <a:r>
                <a:rPr lang="en-US" b="true" sz="2400">
                  <a:solidFill>
                    <a:srgbClr val="041E6B"/>
                  </a:solidFill>
                  <a:latin typeface="Arimo Bold"/>
                  <a:ea typeface="Arimo Bold"/>
                  <a:cs typeface="Arimo Bold"/>
                  <a:sym typeface="Arimo Bold"/>
                </a:rPr>
                <a:t>PROTOTYPING AND TESTING</a:t>
              </a:r>
            </a:p>
          </p:txBody>
        </p:sp>
        <p:sp>
          <p:nvSpPr>
            <p:cNvPr name="TextBox 18" id="18"/>
            <p:cNvSpPr txBox="true"/>
            <p:nvPr/>
          </p:nvSpPr>
          <p:spPr>
            <a:xfrm rot="0">
              <a:off x="18782688" y="5923374"/>
              <a:ext cx="3554076" cy="1652270"/>
            </a:xfrm>
            <a:prstGeom prst="rect">
              <a:avLst/>
            </a:prstGeom>
          </p:spPr>
          <p:txBody>
            <a:bodyPr anchor="t" rtlCol="false" tIns="0" lIns="0" bIns="0" rIns="0">
              <a:spAutoFit/>
            </a:bodyPr>
            <a:lstStyle/>
            <a:p>
              <a:pPr algn="ctr">
                <a:lnSpc>
                  <a:spcPts val="3359"/>
                </a:lnSpc>
                <a:spcBef>
                  <a:spcPct val="0"/>
                </a:spcBef>
              </a:pPr>
              <a:r>
                <a:rPr lang="en-US" b="true" sz="2400">
                  <a:solidFill>
                    <a:srgbClr val="041E6B"/>
                  </a:solidFill>
                  <a:latin typeface="Arimo Bold"/>
                  <a:ea typeface="Arimo Bold"/>
                  <a:cs typeface="Arimo Bold"/>
                  <a:sym typeface="Arimo Bold"/>
                </a:rPr>
                <a:t>ROLE BASED TASK ALLOCATION</a:t>
              </a:r>
            </a:p>
          </p:txBody>
        </p:sp>
      </p:gr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97520" y="3600450"/>
            <a:ext cx="15519238" cy="4795838"/>
            <a:chOff x="0" y="0"/>
            <a:chExt cx="4087371" cy="1263101"/>
          </a:xfrm>
        </p:grpSpPr>
        <p:sp>
          <p:nvSpPr>
            <p:cNvPr name="Freeform 3" id="3"/>
            <p:cNvSpPr/>
            <p:nvPr/>
          </p:nvSpPr>
          <p:spPr>
            <a:xfrm flipH="false" flipV="false" rot="0">
              <a:off x="0" y="0"/>
              <a:ext cx="4087371" cy="1263101"/>
            </a:xfrm>
            <a:custGeom>
              <a:avLst/>
              <a:gdLst/>
              <a:ahLst/>
              <a:cxnLst/>
              <a:rect r="r" b="b" t="t" l="l"/>
              <a:pathLst>
                <a:path h="1263101" w="4087371">
                  <a:moveTo>
                    <a:pt x="0" y="0"/>
                  </a:moveTo>
                  <a:lnTo>
                    <a:pt x="4087371" y="0"/>
                  </a:lnTo>
                  <a:lnTo>
                    <a:pt x="4087371" y="1263101"/>
                  </a:lnTo>
                  <a:lnTo>
                    <a:pt x="0" y="1263101"/>
                  </a:lnTo>
                  <a:close/>
                </a:path>
              </a:pathLst>
            </a:custGeom>
            <a:solidFill>
              <a:srgbClr val="BDCFFD"/>
            </a:solidFill>
          </p:spPr>
        </p:sp>
        <p:sp>
          <p:nvSpPr>
            <p:cNvPr name="TextBox 4" id="4"/>
            <p:cNvSpPr txBox="true"/>
            <p:nvPr/>
          </p:nvSpPr>
          <p:spPr>
            <a:xfrm>
              <a:off x="0" y="-47625"/>
              <a:ext cx="4087371" cy="1310726"/>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6" id="6"/>
          <p:cNvGrpSpPr/>
          <p:nvPr/>
        </p:nvGrpSpPr>
        <p:grpSpPr>
          <a:xfrm rot="0">
            <a:off x="11560970" y="8824912"/>
            <a:ext cx="866775" cy="547688"/>
            <a:chOff x="0" y="0"/>
            <a:chExt cx="1155700" cy="730250"/>
          </a:xfrm>
        </p:grpSpPr>
        <p:sp>
          <p:nvSpPr>
            <p:cNvPr name="Freeform 7" id="7"/>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8" id="8"/>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9" id="9"/>
          <p:cNvGrpSpPr/>
          <p:nvPr/>
        </p:nvGrpSpPr>
        <p:grpSpPr>
          <a:xfrm rot="0">
            <a:off x="3672944" y="9799068"/>
            <a:ext cx="7344992" cy="507831"/>
            <a:chOff x="0" y="0"/>
            <a:chExt cx="9793322" cy="677108"/>
          </a:xfrm>
        </p:grpSpPr>
        <p:sp>
          <p:nvSpPr>
            <p:cNvPr name="Freeform 10" id="10"/>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11" id="11"/>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TextBox 12" id="12"/>
          <p:cNvSpPr txBox="true"/>
          <p:nvPr/>
        </p:nvSpPr>
        <p:spPr>
          <a:xfrm rot="0">
            <a:off x="1171242" y="3863038"/>
            <a:ext cx="15945515" cy="4221480"/>
          </a:xfrm>
          <a:prstGeom prst="rect">
            <a:avLst/>
          </a:prstGeom>
        </p:spPr>
        <p:txBody>
          <a:bodyPr anchor="t" rtlCol="false" tIns="0" lIns="0" bIns="0" rIns="0">
            <a:spAutoFit/>
          </a:bodyPr>
          <a:lstStyle/>
          <a:p>
            <a:pPr algn="l" marL="1036320" indent="-518160" lvl="1">
              <a:lnSpc>
                <a:spcPts val="6719"/>
              </a:lnSpc>
              <a:buFont typeface="Arial"/>
              <a:buChar char="•"/>
            </a:pPr>
            <a:r>
              <a:rPr lang="en-US" b="true" sz="4800">
                <a:solidFill>
                  <a:srgbClr val="041E6B"/>
                </a:solidFill>
                <a:latin typeface="Roboto Bold"/>
                <a:ea typeface="Roboto Bold"/>
                <a:cs typeface="Roboto Bold"/>
                <a:sym typeface="Roboto Bold"/>
              </a:rPr>
              <a:t>ROLE BASED TASK ALLOCATION </a:t>
            </a:r>
          </a:p>
          <a:p>
            <a:pPr algn="l" marL="1036320" indent="-518160" lvl="1">
              <a:lnSpc>
                <a:spcPts val="6719"/>
              </a:lnSpc>
              <a:buFont typeface="Arial"/>
              <a:buChar char="•"/>
            </a:pPr>
            <a:r>
              <a:rPr lang="en-US" b="true" sz="4800">
                <a:solidFill>
                  <a:srgbClr val="041E6B"/>
                </a:solidFill>
                <a:latin typeface="Roboto Bold"/>
                <a:ea typeface="Roboto Bold"/>
                <a:cs typeface="Roboto Bold"/>
                <a:sym typeface="Roboto Bold"/>
              </a:rPr>
              <a:t>INCLUSIVE AND COLLABORATIVE ENVIRONMENT</a:t>
            </a:r>
          </a:p>
          <a:p>
            <a:pPr algn="l" marL="1036320" indent="-518160" lvl="1">
              <a:lnSpc>
                <a:spcPts val="6719"/>
              </a:lnSpc>
              <a:buFont typeface="Arial"/>
              <a:buChar char="•"/>
            </a:pPr>
            <a:r>
              <a:rPr lang="en-US" b="true" sz="4800">
                <a:solidFill>
                  <a:srgbClr val="041E6B"/>
                </a:solidFill>
                <a:latin typeface="Roboto Bold"/>
                <a:ea typeface="Roboto Bold"/>
                <a:cs typeface="Roboto Bold"/>
                <a:sym typeface="Roboto Bold"/>
              </a:rPr>
              <a:t>ADAPTIBILTY AND LEARNING</a:t>
            </a:r>
          </a:p>
          <a:p>
            <a:pPr algn="l" marL="1036320" indent="-518160" lvl="1">
              <a:lnSpc>
                <a:spcPts val="6719"/>
              </a:lnSpc>
              <a:buFont typeface="Arial"/>
              <a:buChar char="•"/>
            </a:pPr>
            <a:r>
              <a:rPr lang="en-US" b="true" sz="4800">
                <a:solidFill>
                  <a:srgbClr val="041E6B"/>
                </a:solidFill>
                <a:latin typeface="Roboto Bold"/>
                <a:ea typeface="Roboto Bold"/>
                <a:cs typeface="Roboto Bold"/>
                <a:sym typeface="Roboto Bold"/>
              </a:rPr>
              <a:t>COMMITMENT TO ENVIRONMENTAL AND SOCIAL IMPACT</a:t>
            </a:r>
          </a:p>
        </p:txBody>
      </p:sp>
      <p:sp>
        <p:nvSpPr>
          <p:cNvPr name="TextBox 13" id="13"/>
          <p:cNvSpPr txBox="true"/>
          <p:nvPr/>
        </p:nvSpPr>
        <p:spPr>
          <a:xfrm rot="0">
            <a:off x="267407" y="990600"/>
            <a:ext cx="10261015" cy="1733550"/>
          </a:xfrm>
          <a:prstGeom prst="rect">
            <a:avLst/>
          </a:prstGeom>
        </p:spPr>
        <p:txBody>
          <a:bodyPr anchor="t" rtlCol="false" tIns="0" lIns="0" bIns="0" rIns="0">
            <a:spAutoFit/>
          </a:bodyPr>
          <a:lstStyle/>
          <a:p>
            <a:pPr algn="ctr">
              <a:lnSpc>
                <a:spcPts val="6719"/>
              </a:lnSpc>
              <a:spcBef>
                <a:spcPct val="0"/>
              </a:spcBef>
            </a:pPr>
            <a:r>
              <a:rPr lang="en-US" b="true" sz="5599">
                <a:solidFill>
                  <a:srgbClr val="041E6B"/>
                </a:solidFill>
                <a:latin typeface="Arimo Bold"/>
                <a:ea typeface="Arimo Bold"/>
                <a:cs typeface="Arimo Bold"/>
                <a:sym typeface="Arimo Bold"/>
              </a:rPr>
              <a:t>6.3 DIVERSITY STATEMENT OF TEAM </a:t>
            </a: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1E6B"/>
                </a:solidFill>
                <a:latin typeface="Canva Sans"/>
                <a:ea typeface="Canva Sans"/>
                <a:cs typeface="Canva Sans"/>
                <a:sym typeface="Canva San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A7A399"/>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C00000"/>
                  </a:solidFill>
                  <a:latin typeface="Arimo"/>
                  <a:ea typeface="Arimo"/>
                  <a:cs typeface="Arimo"/>
                  <a:sym typeface="Arimo"/>
                </a:rPr>
                <a:t>Creating Global Citizens Rooted with Islamic Values</a:t>
              </a:r>
            </a:p>
          </p:txBody>
        </p:sp>
      </p:grpSp>
      <p:sp>
        <p:nvSpPr>
          <p:cNvPr name="TextBox 9" id="9"/>
          <p:cNvSpPr txBox="true"/>
          <p:nvPr/>
        </p:nvSpPr>
        <p:spPr>
          <a:xfrm rot="0">
            <a:off x="469463" y="740242"/>
            <a:ext cx="8876593" cy="1352550"/>
          </a:xfrm>
          <a:prstGeom prst="rect">
            <a:avLst/>
          </a:prstGeom>
        </p:spPr>
        <p:txBody>
          <a:bodyPr anchor="t" rtlCol="false" tIns="0" lIns="0" bIns="0" rIns="0">
            <a:spAutoFit/>
          </a:bodyPr>
          <a:lstStyle/>
          <a:p>
            <a:pPr algn="l">
              <a:lnSpc>
                <a:spcPts val="5292"/>
              </a:lnSpc>
              <a:spcBef>
                <a:spcPct val="0"/>
              </a:spcBef>
            </a:pPr>
            <a:r>
              <a:rPr lang="en-US" b="true" sz="4410">
                <a:solidFill>
                  <a:srgbClr val="041E6B"/>
                </a:solidFill>
                <a:latin typeface="Arimo Bold"/>
                <a:ea typeface="Arimo Bold"/>
                <a:cs typeface="Arimo Bold"/>
                <a:sym typeface="Arimo Bold"/>
              </a:rPr>
              <a:t>6.4 LOG BOOK OF PROJECT IMPLEMENTATION </a:t>
            </a:r>
          </a:p>
        </p:txBody>
      </p:sp>
      <p:grpSp>
        <p:nvGrpSpPr>
          <p:cNvPr name="Group 10" id="10"/>
          <p:cNvGrpSpPr/>
          <p:nvPr/>
        </p:nvGrpSpPr>
        <p:grpSpPr>
          <a:xfrm rot="0">
            <a:off x="417567" y="3699953"/>
            <a:ext cx="17452865" cy="4491953"/>
            <a:chOff x="0" y="0"/>
            <a:chExt cx="23270487" cy="5989271"/>
          </a:xfrm>
        </p:grpSpPr>
        <p:sp>
          <p:nvSpPr>
            <p:cNvPr name="AutoShape 11" id="11"/>
            <p:cNvSpPr/>
            <p:nvPr/>
          </p:nvSpPr>
          <p:spPr>
            <a:xfrm flipV="true">
              <a:off x="1767558" y="2921924"/>
              <a:ext cx="0" cy="1000390"/>
            </a:xfrm>
            <a:prstGeom prst="line">
              <a:avLst/>
            </a:prstGeom>
            <a:ln cap="rnd" w="114300">
              <a:solidFill>
                <a:srgbClr val="02327B"/>
              </a:solidFill>
              <a:prstDash val="sysDot"/>
              <a:headEnd type="none" len="sm" w="sm"/>
              <a:tailEnd type="none" len="sm" w="sm"/>
            </a:ln>
          </p:spPr>
        </p:sp>
        <p:sp>
          <p:nvSpPr>
            <p:cNvPr name="AutoShape 12" id="12"/>
            <p:cNvSpPr/>
            <p:nvPr/>
          </p:nvSpPr>
          <p:spPr>
            <a:xfrm flipV="true">
              <a:off x="5892549" y="1787370"/>
              <a:ext cx="0" cy="1101261"/>
            </a:xfrm>
            <a:prstGeom prst="line">
              <a:avLst/>
            </a:prstGeom>
            <a:ln cap="rnd" w="114300">
              <a:solidFill>
                <a:srgbClr val="000000"/>
              </a:solidFill>
              <a:prstDash val="sysDot"/>
              <a:headEnd type="none" len="sm" w="sm"/>
              <a:tailEnd type="none" len="sm" w="sm"/>
            </a:ln>
          </p:spPr>
        </p:sp>
        <p:sp>
          <p:nvSpPr>
            <p:cNvPr name="AutoShape 13" id="13"/>
            <p:cNvSpPr/>
            <p:nvPr/>
          </p:nvSpPr>
          <p:spPr>
            <a:xfrm flipV="true">
              <a:off x="21841965" y="1787370"/>
              <a:ext cx="0" cy="1165570"/>
            </a:xfrm>
            <a:prstGeom prst="line">
              <a:avLst/>
            </a:prstGeom>
            <a:ln cap="rnd" w="114300">
              <a:solidFill>
                <a:srgbClr val="000000"/>
              </a:solidFill>
              <a:prstDash val="sysDot"/>
              <a:headEnd type="none" len="sm" w="sm"/>
              <a:tailEnd type="none" len="sm" w="sm"/>
            </a:ln>
          </p:spPr>
        </p:sp>
        <p:sp>
          <p:nvSpPr>
            <p:cNvPr name="AutoShape 14" id="14"/>
            <p:cNvSpPr/>
            <p:nvPr/>
          </p:nvSpPr>
          <p:spPr>
            <a:xfrm flipV="true">
              <a:off x="9866743" y="2888631"/>
              <a:ext cx="0" cy="1165570"/>
            </a:xfrm>
            <a:prstGeom prst="line">
              <a:avLst/>
            </a:prstGeom>
            <a:ln cap="rnd" w="114300">
              <a:solidFill>
                <a:srgbClr val="00327D"/>
              </a:solidFill>
              <a:prstDash val="sysDot"/>
              <a:headEnd type="none" len="sm" w="sm"/>
              <a:tailEnd type="none" len="sm" w="sm"/>
            </a:ln>
          </p:spPr>
        </p:sp>
        <p:sp>
          <p:nvSpPr>
            <p:cNvPr name="AutoShape 15" id="15"/>
            <p:cNvSpPr/>
            <p:nvPr/>
          </p:nvSpPr>
          <p:spPr>
            <a:xfrm flipV="true">
              <a:off x="13895785" y="2001174"/>
              <a:ext cx="0" cy="1165570"/>
            </a:xfrm>
            <a:prstGeom prst="line">
              <a:avLst/>
            </a:prstGeom>
            <a:ln cap="rnd" w="114300">
              <a:solidFill>
                <a:srgbClr val="000000"/>
              </a:solidFill>
              <a:prstDash val="sysDot"/>
              <a:headEnd type="none" len="sm" w="sm"/>
              <a:tailEnd type="none" len="sm" w="sm"/>
            </a:ln>
          </p:spPr>
        </p:sp>
        <p:sp>
          <p:nvSpPr>
            <p:cNvPr name="AutoShape 16" id="16"/>
            <p:cNvSpPr/>
            <p:nvPr/>
          </p:nvSpPr>
          <p:spPr>
            <a:xfrm flipV="true">
              <a:off x="17883584" y="2850349"/>
              <a:ext cx="0" cy="1165570"/>
            </a:xfrm>
            <a:prstGeom prst="line">
              <a:avLst/>
            </a:prstGeom>
            <a:ln cap="rnd" w="114300">
              <a:solidFill>
                <a:srgbClr val="00327D"/>
              </a:solidFill>
              <a:prstDash val="sysDot"/>
              <a:headEnd type="none" len="sm" w="sm"/>
              <a:tailEnd type="none" len="sm" w="sm"/>
            </a:ln>
          </p:spPr>
        </p:sp>
        <p:sp>
          <p:nvSpPr>
            <p:cNvPr name="AutoShape 17" id="17"/>
            <p:cNvSpPr/>
            <p:nvPr/>
          </p:nvSpPr>
          <p:spPr>
            <a:xfrm flipV="true">
              <a:off x="2641304" y="1119472"/>
              <a:ext cx="2312128" cy="824514"/>
            </a:xfrm>
            <a:prstGeom prst="line">
              <a:avLst/>
            </a:prstGeom>
            <a:ln cap="flat" w="203200">
              <a:solidFill>
                <a:srgbClr val="000000"/>
              </a:solidFill>
              <a:prstDash val="sysDot"/>
              <a:headEnd type="none" len="sm" w="sm"/>
              <a:tailEnd type="none" len="sm" w="sm"/>
            </a:ln>
          </p:spPr>
        </p:sp>
        <p:sp>
          <p:nvSpPr>
            <p:cNvPr name="AutoShape 18" id="18"/>
            <p:cNvSpPr/>
            <p:nvPr/>
          </p:nvSpPr>
          <p:spPr>
            <a:xfrm flipV="true">
              <a:off x="18582736" y="1115126"/>
              <a:ext cx="2312128" cy="824514"/>
            </a:xfrm>
            <a:prstGeom prst="line">
              <a:avLst/>
            </a:prstGeom>
            <a:ln cap="flat" w="203200">
              <a:solidFill>
                <a:srgbClr val="000000"/>
              </a:solidFill>
              <a:prstDash val="sysDot"/>
              <a:headEnd type="none" len="sm" w="sm"/>
              <a:tailEnd type="none" len="sm" w="sm"/>
            </a:ln>
          </p:spPr>
        </p:sp>
        <p:sp>
          <p:nvSpPr>
            <p:cNvPr name="AutoShape 19" id="19"/>
            <p:cNvSpPr/>
            <p:nvPr/>
          </p:nvSpPr>
          <p:spPr>
            <a:xfrm flipV="true">
              <a:off x="10877624" y="1000062"/>
              <a:ext cx="2312128" cy="824514"/>
            </a:xfrm>
            <a:prstGeom prst="line">
              <a:avLst/>
            </a:prstGeom>
            <a:ln cap="flat" w="203200">
              <a:solidFill>
                <a:srgbClr val="000000"/>
              </a:solidFill>
              <a:prstDash val="sysDot"/>
              <a:headEnd type="none" len="sm" w="sm"/>
              <a:tailEnd type="none" len="sm" w="sm"/>
            </a:ln>
          </p:spPr>
        </p:sp>
        <p:sp>
          <p:nvSpPr>
            <p:cNvPr name="AutoShape 20" id="20"/>
            <p:cNvSpPr/>
            <p:nvPr/>
          </p:nvSpPr>
          <p:spPr>
            <a:xfrm>
              <a:off x="6327284" y="1275486"/>
              <a:ext cx="3028848" cy="708992"/>
            </a:xfrm>
            <a:prstGeom prst="line">
              <a:avLst/>
            </a:prstGeom>
            <a:ln cap="flat" w="203200">
              <a:solidFill>
                <a:srgbClr val="000000"/>
              </a:solidFill>
              <a:prstDash val="sysDot"/>
              <a:headEnd type="none" len="sm" w="sm"/>
              <a:tailEnd type="none" len="sm" w="sm"/>
            </a:ln>
          </p:spPr>
        </p:sp>
        <p:sp>
          <p:nvSpPr>
            <p:cNvPr name="AutoShape 21" id="21"/>
            <p:cNvSpPr/>
            <p:nvPr/>
          </p:nvSpPr>
          <p:spPr>
            <a:xfrm>
              <a:off x="14139985" y="1253383"/>
              <a:ext cx="3140487" cy="894871"/>
            </a:xfrm>
            <a:prstGeom prst="line">
              <a:avLst/>
            </a:prstGeom>
            <a:ln cap="flat" w="203200">
              <a:solidFill>
                <a:srgbClr val="000000"/>
              </a:solidFill>
              <a:prstDash val="sysDot"/>
              <a:headEnd type="none" len="sm" w="sm"/>
              <a:tailEnd type="none" len="sm" w="sm"/>
            </a:ln>
          </p:spPr>
        </p:sp>
        <p:grpSp>
          <p:nvGrpSpPr>
            <p:cNvPr name="Group 22" id="22"/>
            <p:cNvGrpSpPr/>
            <p:nvPr/>
          </p:nvGrpSpPr>
          <p:grpSpPr>
            <a:xfrm rot="0">
              <a:off x="682380" y="858808"/>
              <a:ext cx="2170357" cy="217035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D1FC"/>
              </a:soli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2799"/>
                  </a:lnSpc>
                </a:pPr>
              </a:p>
            </p:txBody>
          </p:sp>
        </p:grpSp>
        <p:grpSp>
          <p:nvGrpSpPr>
            <p:cNvPr name="Group 25" id="25"/>
            <p:cNvGrpSpPr/>
            <p:nvPr/>
          </p:nvGrpSpPr>
          <p:grpSpPr>
            <a:xfrm rot="0">
              <a:off x="8835742" y="858808"/>
              <a:ext cx="2170357" cy="217035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D1FC"/>
              </a:solidFill>
            </p:spPr>
          </p:sp>
          <p:sp>
            <p:nvSpPr>
              <p:cNvPr name="TextBox 27" id="27"/>
              <p:cNvSpPr txBox="true"/>
              <p:nvPr/>
            </p:nvSpPr>
            <p:spPr>
              <a:xfrm>
                <a:off x="76200" y="28575"/>
                <a:ext cx="660400" cy="708025"/>
              </a:xfrm>
              <a:prstGeom prst="rect">
                <a:avLst/>
              </a:prstGeom>
            </p:spPr>
            <p:txBody>
              <a:bodyPr anchor="ctr" rtlCol="false" tIns="50800" lIns="50800" bIns="50800" rIns="50800"/>
              <a:lstStyle/>
              <a:p>
                <a:pPr algn="ctr">
                  <a:lnSpc>
                    <a:spcPts val="2799"/>
                  </a:lnSpc>
                </a:pPr>
              </a:p>
            </p:txBody>
          </p:sp>
        </p:grpSp>
        <p:grpSp>
          <p:nvGrpSpPr>
            <p:cNvPr name="Group 28" id="28"/>
            <p:cNvGrpSpPr/>
            <p:nvPr/>
          </p:nvGrpSpPr>
          <p:grpSpPr>
            <a:xfrm rot="0">
              <a:off x="16785471" y="858808"/>
              <a:ext cx="2170357" cy="2170357"/>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CFFD"/>
              </a:solidFill>
            </p:spPr>
          </p:sp>
          <p:sp>
            <p:nvSpPr>
              <p:cNvPr name="TextBox 30" id="30"/>
              <p:cNvSpPr txBox="true"/>
              <p:nvPr/>
            </p:nvSpPr>
            <p:spPr>
              <a:xfrm>
                <a:off x="76200" y="28575"/>
                <a:ext cx="660400" cy="708025"/>
              </a:xfrm>
              <a:prstGeom prst="rect">
                <a:avLst/>
              </a:prstGeom>
            </p:spPr>
            <p:txBody>
              <a:bodyPr anchor="ctr" rtlCol="false" tIns="50800" lIns="50800" bIns="50800" rIns="50800"/>
              <a:lstStyle/>
              <a:p>
                <a:pPr algn="ctr">
                  <a:lnSpc>
                    <a:spcPts val="2799"/>
                  </a:lnSpc>
                </a:pPr>
              </a:p>
            </p:txBody>
          </p:sp>
        </p:grpSp>
        <p:grpSp>
          <p:nvGrpSpPr>
            <p:cNvPr name="Group 31" id="31"/>
            <p:cNvGrpSpPr/>
            <p:nvPr/>
          </p:nvGrpSpPr>
          <p:grpSpPr>
            <a:xfrm rot="0">
              <a:off x="4751774" y="0"/>
              <a:ext cx="2170357" cy="2170357"/>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CFFD"/>
              </a:solidFill>
            </p:spPr>
          </p:sp>
          <p:sp>
            <p:nvSpPr>
              <p:cNvPr name="TextBox 33" id="33"/>
              <p:cNvSpPr txBox="true"/>
              <p:nvPr/>
            </p:nvSpPr>
            <p:spPr>
              <a:xfrm>
                <a:off x="76200" y="28575"/>
                <a:ext cx="660400" cy="708025"/>
              </a:xfrm>
              <a:prstGeom prst="rect">
                <a:avLst/>
              </a:prstGeom>
            </p:spPr>
            <p:txBody>
              <a:bodyPr anchor="ctr" rtlCol="false" tIns="50800" lIns="50800" bIns="50800" rIns="50800"/>
              <a:lstStyle/>
              <a:p>
                <a:pPr algn="ctr">
                  <a:lnSpc>
                    <a:spcPts val="2799"/>
                  </a:lnSpc>
                </a:pPr>
              </a:p>
            </p:txBody>
          </p:sp>
        </p:grpSp>
        <p:grpSp>
          <p:nvGrpSpPr>
            <p:cNvPr name="Group 34" id="34"/>
            <p:cNvGrpSpPr/>
            <p:nvPr/>
          </p:nvGrpSpPr>
          <p:grpSpPr>
            <a:xfrm rot="0">
              <a:off x="12784371" y="0"/>
              <a:ext cx="2170357" cy="2170357"/>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CFFD"/>
              </a:solidFill>
            </p:spPr>
          </p:sp>
          <p:sp>
            <p:nvSpPr>
              <p:cNvPr name="TextBox 36" id="36"/>
              <p:cNvSpPr txBox="true"/>
              <p:nvPr/>
            </p:nvSpPr>
            <p:spPr>
              <a:xfrm>
                <a:off x="76200" y="28575"/>
                <a:ext cx="660400" cy="708025"/>
              </a:xfrm>
              <a:prstGeom prst="rect">
                <a:avLst/>
              </a:prstGeom>
            </p:spPr>
            <p:txBody>
              <a:bodyPr anchor="ctr" rtlCol="false" tIns="50800" lIns="50800" bIns="50800" rIns="50800"/>
              <a:lstStyle/>
              <a:p>
                <a:pPr algn="ctr">
                  <a:lnSpc>
                    <a:spcPts val="2799"/>
                  </a:lnSpc>
                </a:pPr>
              </a:p>
            </p:txBody>
          </p:sp>
        </p:grpSp>
        <p:grpSp>
          <p:nvGrpSpPr>
            <p:cNvPr name="Group 37" id="37"/>
            <p:cNvGrpSpPr/>
            <p:nvPr/>
          </p:nvGrpSpPr>
          <p:grpSpPr>
            <a:xfrm rot="0">
              <a:off x="20756787" y="0"/>
              <a:ext cx="2170357" cy="2170357"/>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CFFD"/>
              </a:solidFill>
            </p:spPr>
          </p:sp>
          <p:sp>
            <p:nvSpPr>
              <p:cNvPr name="TextBox 39" id="39"/>
              <p:cNvSpPr txBox="true"/>
              <p:nvPr/>
            </p:nvSpPr>
            <p:spPr>
              <a:xfrm>
                <a:off x="76200" y="28575"/>
                <a:ext cx="660400" cy="708025"/>
              </a:xfrm>
              <a:prstGeom prst="rect">
                <a:avLst/>
              </a:prstGeom>
            </p:spPr>
            <p:txBody>
              <a:bodyPr anchor="ctr" rtlCol="false" tIns="50800" lIns="50800" bIns="50800" rIns="50800"/>
              <a:lstStyle/>
              <a:p>
                <a:pPr algn="ctr">
                  <a:lnSpc>
                    <a:spcPts val="2799"/>
                  </a:lnSpc>
                </a:pPr>
              </a:p>
            </p:txBody>
          </p:sp>
        </p:grpSp>
        <p:sp>
          <p:nvSpPr>
            <p:cNvPr name="Freeform 40" id="40"/>
            <p:cNvSpPr/>
            <p:nvPr/>
          </p:nvSpPr>
          <p:spPr>
            <a:xfrm flipH="false" flipV="false" rot="0">
              <a:off x="1153073" y="1354989"/>
              <a:ext cx="1228970" cy="1228970"/>
            </a:xfrm>
            <a:custGeom>
              <a:avLst/>
              <a:gdLst/>
              <a:ahLst/>
              <a:cxnLst/>
              <a:rect r="r" b="b" t="t" l="l"/>
              <a:pathLst>
                <a:path h="1228970" w="1228970">
                  <a:moveTo>
                    <a:pt x="0" y="0"/>
                  </a:moveTo>
                  <a:lnTo>
                    <a:pt x="1228970" y="0"/>
                  </a:lnTo>
                  <a:lnTo>
                    <a:pt x="1228970" y="1228970"/>
                  </a:lnTo>
                  <a:lnTo>
                    <a:pt x="0" y="12289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1" id="41"/>
            <p:cNvSpPr/>
            <p:nvPr/>
          </p:nvSpPr>
          <p:spPr>
            <a:xfrm flipH="true">
              <a:off x="1372621" y="5963871"/>
              <a:ext cx="906299" cy="0"/>
            </a:xfrm>
            <a:prstGeom prst="line">
              <a:avLst/>
            </a:prstGeom>
            <a:ln cap="flat" w="50800">
              <a:solidFill>
                <a:srgbClr val="00327D"/>
              </a:solidFill>
              <a:prstDash val="solid"/>
              <a:headEnd type="none" len="sm" w="sm"/>
              <a:tailEnd type="none" len="sm" w="sm"/>
            </a:ln>
          </p:spPr>
        </p:sp>
        <p:sp>
          <p:nvSpPr>
            <p:cNvPr name="AutoShape 42" id="42"/>
            <p:cNvSpPr/>
            <p:nvPr/>
          </p:nvSpPr>
          <p:spPr>
            <a:xfrm flipH="true">
              <a:off x="9467771" y="5787795"/>
              <a:ext cx="906299" cy="0"/>
            </a:xfrm>
            <a:prstGeom prst="line">
              <a:avLst/>
            </a:prstGeom>
            <a:ln cap="flat" w="50800">
              <a:solidFill>
                <a:srgbClr val="00327D"/>
              </a:solidFill>
              <a:prstDash val="solid"/>
              <a:headEnd type="none" len="sm" w="sm"/>
              <a:tailEnd type="none" len="sm" w="sm"/>
            </a:ln>
          </p:spPr>
        </p:sp>
        <p:sp>
          <p:nvSpPr>
            <p:cNvPr name="AutoShape 43" id="43"/>
            <p:cNvSpPr/>
            <p:nvPr/>
          </p:nvSpPr>
          <p:spPr>
            <a:xfrm flipH="true">
              <a:off x="17430435" y="5719436"/>
              <a:ext cx="906299" cy="0"/>
            </a:xfrm>
            <a:prstGeom prst="line">
              <a:avLst/>
            </a:prstGeom>
            <a:ln cap="flat" w="50800">
              <a:solidFill>
                <a:srgbClr val="00327D"/>
              </a:solidFill>
              <a:prstDash val="solid"/>
              <a:headEnd type="none" len="sm" w="sm"/>
              <a:tailEnd type="none" len="sm" w="sm"/>
            </a:ln>
          </p:spPr>
        </p:sp>
        <p:sp>
          <p:nvSpPr>
            <p:cNvPr name="AutoShape 44" id="44"/>
            <p:cNvSpPr/>
            <p:nvPr/>
          </p:nvSpPr>
          <p:spPr>
            <a:xfrm flipH="true">
              <a:off x="13416400" y="5015133"/>
              <a:ext cx="906299" cy="0"/>
            </a:xfrm>
            <a:prstGeom prst="line">
              <a:avLst/>
            </a:prstGeom>
            <a:ln cap="flat" w="50800">
              <a:solidFill>
                <a:srgbClr val="000000"/>
              </a:solidFill>
              <a:prstDash val="solid"/>
              <a:headEnd type="none" len="sm" w="sm"/>
              <a:tailEnd type="none" len="sm" w="sm"/>
            </a:ln>
          </p:spPr>
        </p:sp>
        <p:sp>
          <p:nvSpPr>
            <p:cNvPr name="AutoShape 45" id="45"/>
            <p:cNvSpPr/>
            <p:nvPr/>
          </p:nvSpPr>
          <p:spPr>
            <a:xfrm flipH="true">
              <a:off x="5372999" y="5394373"/>
              <a:ext cx="906299" cy="0"/>
            </a:xfrm>
            <a:prstGeom prst="line">
              <a:avLst/>
            </a:prstGeom>
            <a:ln cap="flat" w="50800">
              <a:solidFill>
                <a:srgbClr val="000000"/>
              </a:solidFill>
              <a:prstDash val="solid"/>
              <a:headEnd type="none" len="sm" w="sm"/>
              <a:tailEnd type="none" len="sm" w="sm"/>
            </a:ln>
          </p:spPr>
        </p:sp>
        <p:sp>
          <p:nvSpPr>
            <p:cNvPr name="AutoShape 46" id="46"/>
            <p:cNvSpPr/>
            <p:nvPr/>
          </p:nvSpPr>
          <p:spPr>
            <a:xfrm flipH="true">
              <a:off x="21455216" y="4629084"/>
              <a:ext cx="906299" cy="0"/>
            </a:xfrm>
            <a:prstGeom prst="line">
              <a:avLst/>
            </a:prstGeom>
            <a:ln cap="flat" w="50800">
              <a:solidFill>
                <a:srgbClr val="000000"/>
              </a:solidFill>
              <a:prstDash val="solid"/>
              <a:headEnd type="none" len="sm" w="sm"/>
              <a:tailEnd type="none" len="sm" w="sm"/>
            </a:ln>
          </p:spPr>
        </p:sp>
        <p:grpSp>
          <p:nvGrpSpPr>
            <p:cNvPr name="Group 47" id="47"/>
            <p:cNvGrpSpPr/>
            <p:nvPr/>
          </p:nvGrpSpPr>
          <p:grpSpPr>
            <a:xfrm rot="0">
              <a:off x="1380809" y="3750016"/>
              <a:ext cx="773498" cy="773498"/>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27D"/>
              </a:solidFill>
            </p:spPr>
          </p:sp>
          <p:sp>
            <p:nvSpPr>
              <p:cNvPr name="TextBox 49" id="49"/>
              <p:cNvSpPr txBox="true"/>
              <p:nvPr/>
            </p:nvSpPr>
            <p:spPr>
              <a:xfrm>
                <a:off x="76200" y="28575"/>
                <a:ext cx="660400" cy="708025"/>
              </a:xfrm>
              <a:prstGeom prst="rect">
                <a:avLst/>
              </a:prstGeom>
            </p:spPr>
            <p:txBody>
              <a:bodyPr anchor="ctr" rtlCol="false" tIns="50800" lIns="50800" bIns="50800" rIns="50800"/>
              <a:lstStyle/>
              <a:p>
                <a:pPr algn="ctr">
                  <a:lnSpc>
                    <a:spcPts val="2799"/>
                  </a:lnSpc>
                </a:pPr>
              </a:p>
            </p:txBody>
          </p:sp>
        </p:grpSp>
        <p:grpSp>
          <p:nvGrpSpPr>
            <p:cNvPr name="Group 50" id="50"/>
            <p:cNvGrpSpPr/>
            <p:nvPr/>
          </p:nvGrpSpPr>
          <p:grpSpPr>
            <a:xfrm rot="0">
              <a:off x="13482800" y="2976518"/>
              <a:ext cx="773498" cy="773498"/>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52" id="52"/>
              <p:cNvSpPr txBox="true"/>
              <p:nvPr/>
            </p:nvSpPr>
            <p:spPr>
              <a:xfrm>
                <a:off x="76200" y="28575"/>
                <a:ext cx="660400" cy="708025"/>
              </a:xfrm>
              <a:prstGeom prst="rect">
                <a:avLst/>
              </a:prstGeom>
            </p:spPr>
            <p:txBody>
              <a:bodyPr anchor="ctr" rtlCol="false" tIns="50800" lIns="50800" bIns="50800" rIns="50800"/>
              <a:lstStyle/>
              <a:p>
                <a:pPr algn="ctr">
                  <a:lnSpc>
                    <a:spcPts val="2799"/>
                  </a:lnSpc>
                </a:pPr>
              </a:p>
            </p:txBody>
          </p:sp>
        </p:grpSp>
        <p:grpSp>
          <p:nvGrpSpPr>
            <p:cNvPr name="Group 53" id="53"/>
            <p:cNvGrpSpPr/>
            <p:nvPr/>
          </p:nvGrpSpPr>
          <p:grpSpPr>
            <a:xfrm rot="0">
              <a:off x="5505799" y="2976518"/>
              <a:ext cx="773498" cy="773498"/>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55" id="55"/>
              <p:cNvSpPr txBox="true"/>
              <p:nvPr/>
            </p:nvSpPr>
            <p:spPr>
              <a:xfrm>
                <a:off x="76200" y="28575"/>
                <a:ext cx="660400" cy="708025"/>
              </a:xfrm>
              <a:prstGeom prst="rect">
                <a:avLst/>
              </a:prstGeom>
            </p:spPr>
            <p:txBody>
              <a:bodyPr anchor="ctr" rtlCol="false" tIns="50800" lIns="50800" bIns="50800" rIns="50800"/>
              <a:lstStyle/>
              <a:p>
                <a:pPr algn="ctr">
                  <a:lnSpc>
                    <a:spcPts val="2799"/>
                  </a:lnSpc>
                </a:pPr>
              </a:p>
            </p:txBody>
          </p:sp>
        </p:grpSp>
        <p:grpSp>
          <p:nvGrpSpPr>
            <p:cNvPr name="Group 56" id="56"/>
            <p:cNvGrpSpPr/>
            <p:nvPr/>
          </p:nvGrpSpPr>
          <p:grpSpPr>
            <a:xfrm rot="0">
              <a:off x="17483901" y="3855586"/>
              <a:ext cx="773498" cy="773498"/>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27D"/>
              </a:solidFill>
            </p:spPr>
          </p:sp>
          <p:sp>
            <p:nvSpPr>
              <p:cNvPr name="TextBox 58" id="58"/>
              <p:cNvSpPr txBox="true"/>
              <p:nvPr/>
            </p:nvSpPr>
            <p:spPr>
              <a:xfrm>
                <a:off x="76200" y="28575"/>
                <a:ext cx="660400" cy="708025"/>
              </a:xfrm>
              <a:prstGeom prst="rect">
                <a:avLst/>
              </a:prstGeom>
            </p:spPr>
            <p:txBody>
              <a:bodyPr anchor="ctr" rtlCol="false" tIns="50800" lIns="50800" bIns="50800" rIns="50800"/>
              <a:lstStyle/>
              <a:p>
                <a:pPr algn="ctr">
                  <a:lnSpc>
                    <a:spcPts val="2799"/>
                  </a:lnSpc>
                </a:pPr>
              </a:p>
            </p:txBody>
          </p:sp>
        </p:grpSp>
        <p:grpSp>
          <p:nvGrpSpPr>
            <p:cNvPr name="Group 59" id="59"/>
            <p:cNvGrpSpPr/>
            <p:nvPr/>
          </p:nvGrpSpPr>
          <p:grpSpPr>
            <a:xfrm rot="0">
              <a:off x="21455216" y="2976518"/>
              <a:ext cx="773498" cy="773498"/>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61" id="61"/>
              <p:cNvSpPr txBox="true"/>
              <p:nvPr/>
            </p:nvSpPr>
            <p:spPr>
              <a:xfrm>
                <a:off x="76200" y="28575"/>
                <a:ext cx="660400" cy="708025"/>
              </a:xfrm>
              <a:prstGeom prst="rect">
                <a:avLst/>
              </a:prstGeom>
            </p:spPr>
            <p:txBody>
              <a:bodyPr anchor="ctr" rtlCol="false" tIns="50800" lIns="50800" bIns="50800" rIns="50800"/>
              <a:lstStyle/>
              <a:p>
                <a:pPr algn="ctr">
                  <a:lnSpc>
                    <a:spcPts val="2799"/>
                  </a:lnSpc>
                </a:pPr>
              </a:p>
            </p:txBody>
          </p:sp>
        </p:grpSp>
        <p:grpSp>
          <p:nvGrpSpPr>
            <p:cNvPr name="Group 62" id="62"/>
            <p:cNvGrpSpPr/>
            <p:nvPr/>
          </p:nvGrpSpPr>
          <p:grpSpPr>
            <a:xfrm rot="0">
              <a:off x="9467771" y="3855586"/>
              <a:ext cx="773498" cy="773498"/>
              <a:chOff x="0" y="0"/>
              <a:chExt cx="812800" cy="812800"/>
            </a:xfrm>
          </p:grpSpPr>
          <p:sp>
            <p:nvSpPr>
              <p:cNvPr name="Freeform 63" id="6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27D"/>
              </a:solidFill>
            </p:spPr>
          </p:sp>
          <p:sp>
            <p:nvSpPr>
              <p:cNvPr name="TextBox 64" id="64"/>
              <p:cNvSpPr txBox="true"/>
              <p:nvPr/>
            </p:nvSpPr>
            <p:spPr>
              <a:xfrm>
                <a:off x="76200" y="28575"/>
                <a:ext cx="660400" cy="708025"/>
              </a:xfrm>
              <a:prstGeom prst="rect">
                <a:avLst/>
              </a:prstGeom>
            </p:spPr>
            <p:txBody>
              <a:bodyPr anchor="ctr" rtlCol="false" tIns="50800" lIns="50800" bIns="50800" rIns="50800"/>
              <a:lstStyle/>
              <a:p>
                <a:pPr algn="ctr">
                  <a:lnSpc>
                    <a:spcPts val="2799"/>
                  </a:lnSpc>
                </a:pPr>
              </a:p>
            </p:txBody>
          </p:sp>
        </p:grpSp>
        <p:sp>
          <p:nvSpPr>
            <p:cNvPr name="Freeform 65" id="65"/>
            <p:cNvSpPr/>
            <p:nvPr/>
          </p:nvSpPr>
          <p:spPr>
            <a:xfrm flipH="false" flipV="false" rot="0">
              <a:off x="13097547" y="228622"/>
              <a:ext cx="1596476" cy="1596476"/>
            </a:xfrm>
            <a:custGeom>
              <a:avLst/>
              <a:gdLst/>
              <a:ahLst/>
              <a:cxnLst/>
              <a:rect r="r" b="b" t="t" l="l"/>
              <a:pathLst>
                <a:path h="1596476" w="1596476">
                  <a:moveTo>
                    <a:pt x="0" y="0"/>
                  </a:moveTo>
                  <a:lnTo>
                    <a:pt x="1596476" y="0"/>
                  </a:lnTo>
                  <a:lnTo>
                    <a:pt x="1596476" y="1596476"/>
                  </a:lnTo>
                  <a:lnTo>
                    <a:pt x="0" y="1596476"/>
                  </a:lnTo>
                  <a:lnTo>
                    <a:pt x="0" y="0"/>
                  </a:lnTo>
                  <a:close/>
                </a:path>
              </a:pathLst>
            </a:custGeom>
            <a:blipFill>
              <a:blip r:embed="rId5"/>
              <a:stretch>
                <a:fillRect l="0" t="0" r="0" b="0"/>
              </a:stretch>
            </a:blipFill>
          </p:spPr>
        </p:sp>
        <p:sp>
          <p:nvSpPr>
            <p:cNvPr name="Freeform 66" id="66"/>
            <p:cNvSpPr/>
            <p:nvPr/>
          </p:nvSpPr>
          <p:spPr>
            <a:xfrm flipH="false" flipV="false" rot="0">
              <a:off x="17280472" y="1223385"/>
              <a:ext cx="1441203" cy="1441203"/>
            </a:xfrm>
            <a:custGeom>
              <a:avLst/>
              <a:gdLst/>
              <a:ahLst/>
              <a:cxnLst/>
              <a:rect r="r" b="b" t="t" l="l"/>
              <a:pathLst>
                <a:path h="1441203" w="1441203">
                  <a:moveTo>
                    <a:pt x="0" y="0"/>
                  </a:moveTo>
                  <a:lnTo>
                    <a:pt x="1441203" y="0"/>
                  </a:lnTo>
                  <a:lnTo>
                    <a:pt x="1441203" y="1441203"/>
                  </a:lnTo>
                  <a:lnTo>
                    <a:pt x="0" y="14412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7" id="67"/>
            <p:cNvSpPr/>
            <p:nvPr/>
          </p:nvSpPr>
          <p:spPr>
            <a:xfrm flipH="false" flipV="false" rot="0">
              <a:off x="21144813" y="393066"/>
              <a:ext cx="1394304" cy="1394304"/>
            </a:xfrm>
            <a:custGeom>
              <a:avLst/>
              <a:gdLst/>
              <a:ahLst/>
              <a:cxnLst/>
              <a:rect r="r" b="b" t="t" l="l"/>
              <a:pathLst>
                <a:path h="1394304" w="1394304">
                  <a:moveTo>
                    <a:pt x="0" y="0"/>
                  </a:moveTo>
                  <a:lnTo>
                    <a:pt x="1394304" y="0"/>
                  </a:lnTo>
                  <a:lnTo>
                    <a:pt x="1394304" y="1394304"/>
                  </a:lnTo>
                  <a:lnTo>
                    <a:pt x="0" y="13943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8" id="68"/>
            <p:cNvSpPr/>
            <p:nvPr/>
          </p:nvSpPr>
          <p:spPr>
            <a:xfrm flipH="false" flipV="false" rot="0">
              <a:off x="9214627" y="1217179"/>
              <a:ext cx="1483501" cy="1388928"/>
            </a:xfrm>
            <a:custGeom>
              <a:avLst/>
              <a:gdLst/>
              <a:ahLst/>
              <a:cxnLst/>
              <a:rect r="r" b="b" t="t" l="l"/>
              <a:pathLst>
                <a:path h="1388928" w="1483501">
                  <a:moveTo>
                    <a:pt x="0" y="0"/>
                  </a:moveTo>
                  <a:lnTo>
                    <a:pt x="1483501" y="0"/>
                  </a:lnTo>
                  <a:lnTo>
                    <a:pt x="1483501" y="1388927"/>
                  </a:lnTo>
                  <a:lnTo>
                    <a:pt x="0" y="1388927"/>
                  </a:lnTo>
                  <a:lnTo>
                    <a:pt x="0" y="0"/>
                  </a:lnTo>
                  <a:close/>
                </a:path>
              </a:pathLst>
            </a:custGeom>
            <a:blipFill>
              <a:blip r:embed="rId10"/>
              <a:stretch>
                <a:fillRect l="0" t="0" r="0" b="0"/>
              </a:stretch>
            </a:blipFill>
          </p:spPr>
        </p:sp>
        <p:sp>
          <p:nvSpPr>
            <p:cNvPr name="Freeform 69" id="69"/>
            <p:cNvSpPr/>
            <p:nvPr/>
          </p:nvSpPr>
          <p:spPr>
            <a:xfrm flipH="false" flipV="false" rot="0">
              <a:off x="4899570" y="540678"/>
              <a:ext cx="1874763" cy="1099080"/>
            </a:xfrm>
            <a:custGeom>
              <a:avLst/>
              <a:gdLst/>
              <a:ahLst/>
              <a:cxnLst/>
              <a:rect r="r" b="b" t="t" l="l"/>
              <a:pathLst>
                <a:path h="1099080" w="1874763">
                  <a:moveTo>
                    <a:pt x="0" y="0"/>
                  </a:moveTo>
                  <a:lnTo>
                    <a:pt x="1874764" y="0"/>
                  </a:lnTo>
                  <a:lnTo>
                    <a:pt x="1874764" y="1099080"/>
                  </a:lnTo>
                  <a:lnTo>
                    <a:pt x="0" y="1099080"/>
                  </a:lnTo>
                  <a:lnTo>
                    <a:pt x="0" y="0"/>
                  </a:lnTo>
                  <a:close/>
                </a:path>
              </a:pathLst>
            </a:custGeom>
            <a:blipFill>
              <a:blip r:embed="rId11"/>
              <a:stretch>
                <a:fillRect l="0" t="0" r="0" b="0"/>
              </a:stretch>
            </a:blipFill>
          </p:spPr>
        </p:sp>
        <p:sp>
          <p:nvSpPr>
            <p:cNvPr name="TextBox 70" id="70"/>
            <p:cNvSpPr txBox="true"/>
            <p:nvPr/>
          </p:nvSpPr>
          <p:spPr>
            <a:xfrm rot="0">
              <a:off x="1485248" y="3874689"/>
              <a:ext cx="564620" cy="476528"/>
            </a:xfrm>
            <a:prstGeom prst="rect">
              <a:avLst/>
            </a:prstGeom>
          </p:spPr>
          <p:txBody>
            <a:bodyPr anchor="t" rtlCol="false" tIns="0" lIns="0" bIns="0" rIns="0">
              <a:spAutoFit/>
            </a:bodyPr>
            <a:lstStyle/>
            <a:p>
              <a:pPr algn="ctr">
                <a:lnSpc>
                  <a:spcPts val="2986"/>
                </a:lnSpc>
                <a:spcBef>
                  <a:spcPct val="0"/>
                </a:spcBef>
              </a:pPr>
              <a:r>
                <a:rPr lang="en-US" b="true" sz="2132">
                  <a:solidFill>
                    <a:srgbClr val="FFFFFF"/>
                  </a:solidFill>
                  <a:latin typeface="Roboto Bold"/>
                  <a:ea typeface="Roboto Bold"/>
                  <a:cs typeface="Roboto Bold"/>
                  <a:sym typeface="Roboto Bold"/>
                </a:rPr>
                <a:t>Q1</a:t>
              </a:r>
            </a:p>
          </p:txBody>
        </p:sp>
        <p:sp>
          <p:nvSpPr>
            <p:cNvPr name="TextBox 71" id="71"/>
            <p:cNvSpPr txBox="true"/>
            <p:nvPr/>
          </p:nvSpPr>
          <p:spPr>
            <a:xfrm rot="0">
              <a:off x="5610239" y="3101191"/>
              <a:ext cx="564620" cy="476528"/>
            </a:xfrm>
            <a:prstGeom prst="rect">
              <a:avLst/>
            </a:prstGeom>
          </p:spPr>
          <p:txBody>
            <a:bodyPr anchor="t" rtlCol="false" tIns="0" lIns="0" bIns="0" rIns="0">
              <a:spAutoFit/>
            </a:bodyPr>
            <a:lstStyle/>
            <a:p>
              <a:pPr algn="ctr">
                <a:lnSpc>
                  <a:spcPts val="2986"/>
                </a:lnSpc>
                <a:spcBef>
                  <a:spcPct val="0"/>
                </a:spcBef>
              </a:pPr>
              <a:r>
                <a:rPr lang="en-US" b="true" sz="2132">
                  <a:solidFill>
                    <a:srgbClr val="FFFFFF"/>
                  </a:solidFill>
                  <a:latin typeface="Roboto Bold"/>
                  <a:ea typeface="Roboto Bold"/>
                  <a:cs typeface="Roboto Bold"/>
                  <a:sym typeface="Roboto Bold"/>
                </a:rPr>
                <a:t>Q2</a:t>
              </a:r>
            </a:p>
          </p:txBody>
        </p:sp>
        <p:sp>
          <p:nvSpPr>
            <p:cNvPr name="TextBox 72" id="72"/>
            <p:cNvSpPr txBox="true"/>
            <p:nvPr/>
          </p:nvSpPr>
          <p:spPr>
            <a:xfrm rot="0">
              <a:off x="9572210" y="3980259"/>
              <a:ext cx="564620" cy="476528"/>
            </a:xfrm>
            <a:prstGeom prst="rect">
              <a:avLst/>
            </a:prstGeom>
          </p:spPr>
          <p:txBody>
            <a:bodyPr anchor="t" rtlCol="false" tIns="0" lIns="0" bIns="0" rIns="0">
              <a:spAutoFit/>
            </a:bodyPr>
            <a:lstStyle/>
            <a:p>
              <a:pPr algn="ctr">
                <a:lnSpc>
                  <a:spcPts val="2986"/>
                </a:lnSpc>
                <a:spcBef>
                  <a:spcPct val="0"/>
                </a:spcBef>
              </a:pPr>
              <a:r>
                <a:rPr lang="en-US" b="true" sz="2132">
                  <a:solidFill>
                    <a:srgbClr val="FFFFFF"/>
                  </a:solidFill>
                  <a:latin typeface="Roboto Bold"/>
                  <a:ea typeface="Roboto Bold"/>
                  <a:cs typeface="Roboto Bold"/>
                  <a:sym typeface="Roboto Bold"/>
                </a:rPr>
                <a:t>Q3</a:t>
              </a:r>
            </a:p>
          </p:txBody>
        </p:sp>
        <p:sp>
          <p:nvSpPr>
            <p:cNvPr name="TextBox 73" id="73"/>
            <p:cNvSpPr txBox="true"/>
            <p:nvPr/>
          </p:nvSpPr>
          <p:spPr>
            <a:xfrm rot="0">
              <a:off x="13587239" y="3101191"/>
              <a:ext cx="564620" cy="476528"/>
            </a:xfrm>
            <a:prstGeom prst="rect">
              <a:avLst/>
            </a:prstGeom>
          </p:spPr>
          <p:txBody>
            <a:bodyPr anchor="t" rtlCol="false" tIns="0" lIns="0" bIns="0" rIns="0">
              <a:spAutoFit/>
            </a:bodyPr>
            <a:lstStyle/>
            <a:p>
              <a:pPr algn="ctr">
                <a:lnSpc>
                  <a:spcPts val="2986"/>
                </a:lnSpc>
                <a:spcBef>
                  <a:spcPct val="0"/>
                </a:spcBef>
              </a:pPr>
              <a:r>
                <a:rPr lang="en-US" b="true" sz="2132">
                  <a:solidFill>
                    <a:srgbClr val="FFFFFF"/>
                  </a:solidFill>
                  <a:latin typeface="Roboto Bold"/>
                  <a:ea typeface="Roboto Bold"/>
                  <a:cs typeface="Roboto Bold"/>
                  <a:sym typeface="Roboto Bold"/>
                </a:rPr>
                <a:t>Q4</a:t>
              </a:r>
            </a:p>
          </p:txBody>
        </p:sp>
        <p:sp>
          <p:nvSpPr>
            <p:cNvPr name="TextBox 74" id="74"/>
            <p:cNvSpPr txBox="true"/>
            <p:nvPr/>
          </p:nvSpPr>
          <p:spPr>
            <a:xfrm rot="0">
              <a:off x="17588340" y="3993840"/>
              <a:ext cx="564620" cy="476528"/>
            </a:xfrm>
            <a:prstGeom prst="rect">
              <a:avLst/>
            </a:prstGeom>
          </p:spPr>
          <p:txBody>
            <a:bodyPr anchor="t" rtlCol="false" tIns="0" lIns="0" bIns="0" rIns="0">
              <a:spAutoFit/>
            </a:bodyPr>
            <a:lstStyle/>
            <a:p>
              <a:pPr algn="ctr">
                <a:lnSpc>
                  <a:spcPts val="2986"/>
                </a:lnSpc>
                <a:spcBef>
                  <a:spcPct val="0"/>
                </a:spcBef>
              </a:pPr>
              <a:r>
                <a:rPr lang="en-US" b="true" sz="2132">
                  <a:solidFill>
                    <a:srgbClr val="FFFFFF"/>
                  </a:solidFill>
                  <a:latin typeface="Roboto Bold"/>
                  <a:ea typeface="Roboto Bold"/>
                  <a:cs typeface="Roboto Bold"/>
                  <a:sym typeface="Roboto Bold"/>
                </a:rPr>
                <a:t>Q5</a:t>
              </a:r>
            </a:p>
          </p:txBody>
        </p:sp>
        <p:sp>
          <p:nvSpPr>
            <p:cNvPr name="TextBox 75" id="75"/>
            <p:cNvSpPr txBox="true"/>
            <p:nvPr/>
          </p:nvSpPr>
          <p:spPr>
            <a:xfrm rot="0">
              <a:off x="21559655" y="3109151"/>
              <a:ext cx="564620" cy="476528"/>
            </a:xfrm>
            <a:prstGeom prst="rect">
              <a:avLst/>
            </a:prstGeom>
          </p:spPr>
          <p:txBody>
            <a:bodyPr anchor="t" rtlCol="false" tIns="0" lIns="0" bIns="0" rIns="0">
              <a:spAutoFit/>
            </a:bodyPr>
            <a:lstStyle/>
            <a:p>
              <a:pPr algn="ctr">
                <a:lnSpc>
                  <a:spcPts val="2986"/>
                </a:lnSpc>
                <a:spcBef>
                  <a:spcPct val="0"/>
                </a:spcBef>
              </a:pPr>
              <a:r>
                <a:rPr lang="en-US" b="true" sz="2132">
                  <a:solidFill>
                    <a:srgbClr val="FFFFFF"/>
                  </a:solidFill>
                  <a:latin typeface="Roboto Bold"/>
                  <a:ea typeface="Roboto Bold"/>
                  <a:cs typeface="Roboto Bold"/>
                  <a:sym typeface="Roboto Bold"/>
                </a:rPr>
                <a:t>Q6</a:t>
              </a:r>
            </a:p>
          </p:txBody>
        </p:sp>
        <p:sp>
          <p:nvSpPr>
            <p:cNvPr name="TextBox 76" id="76"/>
            <p:cNvSpPr txBox="true"/>
            <p:nvPr/>
          </p:nvSpPr>
          <p:spPr>
            <a:xfrm rot="0">
              <a:off x="0" y="4929000"/>
              <a:ext cx="3651540" cy="831707"/>
            </a:xfrm>
            <a:prstGeom prst="rect">
              <a:avLst/>
            </a:prstGeom>
          </p:spPr>
          <p:txBody>
            <a:bodyPr anchor="t" rtlCol="false" tIns="0" lIns="0" bIns="0" rIns="0">
              <a:spAutoFit/>
            </a:bodyPr>
            <a:lstStyle/>
            <a:p>
              <a:pPr algn="ctr">
                <a:lnSpc>
                  <a:spcPts val="2431"/>
                </a:lnSpc>
              </a:pPr>
              <a:r>
                <a:rPr lang="en-US" b="true" sz="2026" spc="162">
                  <a:solidFill>
                    <a:srgbClr val="000000"/>
                  </a:solidFill>
                  <a:latin typeface="Roboto Bold"/>
                  <a:ea typeface="Roboto Bold"/>
                  <a:cs typeface="Roboto Bold"/>
                  <a:sym typeface="Roboto Bold"/>
                </a:rPr>
                <a:t>IDEATION AND RESEARCH</a:t>
              </a:r>
            </a:p>
          </p:txBody>
        </p:sp>
        <p:sp>
          <p:nvSpPr>
            <p:cNvPr name="TextBox 77" id="77"/>
            <p:cNvSpPr txBox="true"/>
            <p:nvPr/>
          </p:nvSpPr>
          <p:spPr>
            <a:xfrm rot="0">
              <a:off x="12043779" y="3980262"/>
              <a:ext cx="3651540" cy="831707"/>
            </a:xfrm>
            <a:prstGeom prst="rect">
              <a:avLst/>
            </a:prstGeom>
          </p:spPr>
          <p:txBody>
            <a:bodyPr anchor="t" rtlCol="false" tIns="0" lIns="0" bIns="0" rIns="0">
              <a:spAutoFit/>
            </a:bodyPr>
            <a:lstStyle/>
            <a:p>
              <a:pPr algn="ctr">
                <a:lnSpc>
                  <a:spcPts val="2431"/>
                </a:lnSpc>
              </a:pPr>
              <a:r>
                <a:rPr lang="en-US" b="true" sz="2026" spc="162">
                  <a:solidFill>
                    <a:srgbClr val="000000"/>
                  </a:solidFill>
                  <a:latin typeface="Roboto Bold"/>
                  <a:ea typeface="Roboto Bold"/>
                  <a:cs typeface="Roboto Bold"/>
                  <a:sym typeface="Roboto Bold"/>
                </a:rPr>
                <a:t>CODING AND DEBUGGING</a:t>
              </a:r>
            </a:p>
          </p:txBody>
        </p:sp>
        <p:sp>
          <p:nvSpPr>
            <p:cNvPr name="TextBox 78" id="78"/>
            <p:cNvSpPr txBox="true"/>
            <p:nvPr/>
          </p:nvSpPr>
          <p:spPr>
            <a:xfrm rot="0">
              <a:off x="4011182" y="3894972"/>
              <a:ext cx="3651540" cy="1238036"/>
            </a:xfrm>
            <a:prstGeom prst="rect">
              <a:avLst/>
            </a:prstGeom>
          </p:spPr>
          <p:txBody>
            <a:bodyPr anchor="t" rtlCol="false" tIns="0" lIns="0" bIns="0" rIns="0">
              <a:spAutoFit/>
            </a:bodyPr>
            <a:lstStyle/>
            <a:p>
              <a:pPr algn="ctr">
                <a:lnSpc>
                  <a:spcPts val="2431"/>
                </a:lnSpc>
              </a:pPr>
              <a:r>
                <a:rPr lang="en-US" b="true" sz="2026" spc="162">
                  <a:solidFill>
                    <a:srgbClr val="000000"/>
                  </a:solidFill>
                  <a:latin typeface="Roboto Bold"/>
                  <a:ea typeface="Roboto Bold"/>
                  <a:cs typeface="Roboto Bold"/>
                  <a:sym typeface="Roboto Bold"/>
                </a:rPr>
                <a:t>COMPONENT SELECTION AND PROCUREMENT</a:t>
              </a:r>
            </a:p>
          </p:txBody>
        </p:sp>
        <p:sp>
          <p:nvSpPr>
            <p:cNvPr name="TextBox 79" id="79"/>
            <p:cNvSpPr txBox="true"/>
            <p:nvPr/>
          </p:nvSpPr>
          <p:spPr>
            <a:xfrm rot="0">
              <a:off x="16442129" y="4996083"/>
              <a:ext cx="3144667" cy="425379"/>
            </a:xfrm>
            <a:prstGeom prst="rect">
              <a:avLst/>
            </a:prstGeom>
          </p:spPr>
          <p:txBody>
            <a:bodyPr anchor="t" rtlCol="false" tIns="0" lIns="0" bIns="0" rIns="0">
              <a:spAutoFit/>
            </a:bodyPr>
            <a:lstStyle/>
            <a:p>
              <a:pPr algn="ctr">
                <a:lnSpc>
                  <a:spcPts val="2431"/>
                </a:lnSpc>
              </a:pPr>
              <a:r>
                <a:rPr lang="en-US" b="true" sz="2026">
                  <a:solidFill>
                    <a:srgbClr val="000000"/>
                  </a:solidFill>
                  <a:latin typeface="Roboto Bold"/>
                  <a:ea typeface="Roboto Bold"/>
                  <a:cs typeface="Roboto Bold"/>
                  <a:sym typeface="Roboto Bold"/>
                </a:rPr>
                <a:t>DOCUMENTATION</a:t>
              </a:r>
            </a:p>
          </p:txBody>
        </p:sp>
        <p:sp>
          <p:nvSpPr>
            <p:cNvPr name="TextBox 80" id="80"/>
            <p:cNvSpPr txBox="true"/>
            <p:nvPr/>
          </p:nvSpPr>
          <p:spPr>
            <a:xfrm rot="0">
              <a:off x="20413444" y="3930078"/>
              <a:ext cx="2857043" cy="425379"/>
            </a:xfrm>
            <a:prstGeom prst="rect">
              <a:avLst/>
            </a:prstGeom>
          </p:spPr>
          <p:txBody>
            <a:bodyPr anchor="t" rtlCol="false" tIns="0" lIns="0" bIns="0" rIns="0">
              <a:spAutoFit/>
            </a:bodyPr>
            <a:lstStyle/>
            <a:p>
              <a:pPr algn="ctr">
                <a:lnSpc>
                  <a:spcPts val="2431"/>
                </a:lnSpc>
              </a:pPr>
              <a:r>
                <a:rPr lang="en-US" b="true" sz="2026">
                  <a:solidFill>
                    <a:srgbClr val="000000"/>
                  </a:solidFill>
                  <a:latin typeface="Roboto Bold"/>
                  <a:ea typeface="Roboto Bold"/>
                  <a:cs typeface="Roboto Bold"/>
                  <a:sym typeface="Roboto Bold"/>
                </a:rPr>
                <a:t>PRESENTATION</a:t>
              </a:r>
            </a:p>
          </p:txBody>
        </p:sp>
        <p:sp>
          <p:nvSpPr>
            <p:cNvPr name="TextBox 81" id="81"/>
            <p:cNvSpPr txBox="true"/>
            <p:nvPr/>
          </p:nvSpPr>
          <p:spPr>
            <a:xfrm rot="0">
              <a:off x="8006009" y="4664867"/>
              <a:ext cx="3651540" cy="831707"/>
            </a:xfrm>
            <a:prstGeom prst="rect">
              <a:avLst/>
            </a:prstGeom>
          </p:spPr>
          <p:txBody>
            <a:bodyPr anchor="t" rtlCol="false" tIns="0" lIns="0" bIns="0" rIns="0">
              <a:spAutoFit/>
            </a:bodyPr>
            <a:lstStyle/>
            <a:p>
              <a:pPr algn="ctr">
                <a:lnSpc>
                  <a:spcPts val="2431"/>
                </a:lnSpc>
              </a:pPr>
              <a:r>
                <a:rPr lang="en-US" b="true" sz="2026" spc="162">
                  <a:solidFill>
                    <a:srgbClr val="000000"/>
                  </a:solidFill>
                  <a:latin typeface="Roboto Bold"/>
                  <a:ea typeface="Roboto Bold"/>
                  <a:cs typeface="Roboto Bold"/>
                  <a:sym typeface="Roboto Bold"/>
                </a:rPr>
                <a:t>HARWARE IMPLEMENTATION</a:t>
              </a:r>
            </a:p>
          </p:txBody>
        </p:sp>
      </p:grpSp>
      <p:sp>
        <p:nvSpPr>
          <p:cNvPr name="TextBox 82" id="8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BDD1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 r="0" b="-5"/>
            </a:stretch>
          </a:blipFill>
        </p:spPr>
      </p:sp>
      <p:grpSp>
        <p:nvGrpSpPr>
          <p:cNvPr name="Group 3" id="3"/>
          <p:cNvGrpSpPr/>
          <p:nvPr/>
        </p:nvGrpSpPr>
        <p:grpSpPr>
          <a:xfrm rot="0">
            <a:off x="11560970" y="8824912"/>
            <a:ext cx="866775" cy="547688"/>
            <a:chOff x="0" y="0"/>
            <a:chExt cx="1155700" cy="730250"/>
          </a:xfrm>
        </p:grpSpPr>
        <p:sp>
          <p:nvSpPr>
            <p:cNvPr name="Freeform 4" id="4"/>
            <p:cNvSpPr/>
            <p:nvPr/>
          </p:nvSpPr>
          <p:spPr>
            <a:xfrm flipH="false" flipV="false" rot="0">
              <a:off x="0" y="0"/>
              <a:ext cx="1155700" cy="730250"/>
            </a:xfrm>
            <a:custGeom>
              <a:avLst/>
              <a:gdLst/>
              <a:ahLst/>
              <a:cxnLst/>
              <a:rect r="r" b="b" t="t" l="l"/>
              <a:pathLst>
                <a:path h="730250" w="1155700">
                  <a:moveTo>
                    <a:pt x="0" y="0"/>
                  </a:moveTo>
                  <a:lnTo>
                    <a:pt x="1155700" y="0"/>
                  </a:lnTo>
                  <a:lnTo>
                    <a:pt x="1155700" y="730250"/>
                  </a:lnTo>
                  <a:lnTo>
                    <a:pt x="0" y="730250"/>
                  </a:lnTo>
                  <a:close/>
                </a:path>
              </a:pathLst>
            </a:custGeom>
            <a:solidFill>
              <a:srgbClr val="000000">
                <a:alpha val="0"/>
              </a:srgbClr>
            </a:solidFill>
          </p:spPr>
        </p:sp>
        <p:sp>
          <p:nvSpPr>
            <p:cNvPr name="TextBox 5" id="5"/>
            <p:cNvSpPr txBox="true"/>
            <p:nvPr/>
          </p:nvSpPr>
          <p:spPr>
            <a:xfrm>
              <a:off x="0" y="-38100"/>
              <a:ext cx="1155700" cy="768350"/>
            </a:xfrm>
            <a:prstGeom prst="rect">
              <a:avLst/>
            </a:prstGeom>
          </p:spPr>
          <p:txBody>
            <a:bodyPr anchor="ctr" rtlCol="false" tIns="0" lIns="0" bIns="0" rIns="0"/>
            <a:lstStyle/>
            <a:p>
              <a:pPr algn="r">
                <a:lnSpc>
                  <a:spcPts val="1800"/>
                </a:lnSpc>
              </a:pPr>
              <a:r>
                <a:rPr lang="en-US" sz="1500">
                  <a:solidFill>
                    <a:srgbClr val="001C68"/>
                  </a:solidFill>
                  <a:latin typeface="Times New Roman"/>
                  <a:ea typeface="Times New Roman"/>
                  <a:cs typeface="Times New Roman"/>
                  <a:sym typeface="Times New Roman"/>
                </a:rPr>
                <a:t>5</a:t>
              </a:r>
            </a:p>
          </p:txBody>
        </p:sp>
      </p:grpSp>
      <p:grpSp>
        <p:nvGrpSpPr>
          <p:cNvPr name="Group 6" id="6"/>
          <p:cNvGrpSpPr/>
          <p:nvPr/>
        </p:nvGrpSpPr>
        <p:grpSpPr>
          <a:xfrm rot="0">
            <a:off x="3672944" y="9799068"/>
            <a:ext cx="7344992" cy="507831"/>
            <a:chOff x="0" y="0"/>
            <a:chExt cx="9793322" cy="677108"/>
          </a:xfrm>
        </p:grpSpPr>
        <p:sp>
          <p:nvSpPr>
            <p:cNvPr name="Freeform 7" id="7"/>
            <p:cNvSpPr/>
            <p:nvPr/>
          </p:nvSpPr>
          <p:spPr>
            <a:xfrm flipH="false" flipV="false" rot="0">
              <a:off x="0" y="0"/>
              <a:ext cx="9793322" cy="677108"/>
            </a:xfrm>
            <a:custGeom>
              <a:avLst/>
              <a:gdLst/>
              <a:ahLst/>
              <a:cxnLst/>
              <a:rect r="r" b="b" t="t" l="l"/>
              <a:pathLst>
                <a:path h="677108" w="9793322">
                  <a:moveTo>
                    <a:pt x="0" y="0"/>
                  </a:moveTo>
                  <a:lnTo>
                    <a:pt x="9793322" y="0"/>
                  </a:lnTo>
                  <a:lnTo>
                    <a:pt x="9793322" y="677108"/>
                  </a:lnTo>
                  <a:lnTo>
                    <a:pt x="0" y="677108"/>
                  </a:lnTo>
                  <a:close/>
                </a:path>
              </a:pathLst>
            </a:custGeom>
            <a:solidFill>
              <a:srgbClr val="000000">
                <a:alpha val="0"/>
              </a:srgbClr>
            </a:solidFill>
          </p:spPr>
        </p:sp>
        <p:sp>
          <p:nvSpPr>
            <p:cNvPr name="TextBox 8" id="8"/>
            <p:cNvSpPr txBox="true"/>
            <p:nvPr/>
          </p:nvSpPr>
          <p:spPr>
            <a:xfrm>
              <a:off x="0" y="-9525"/>
              <a:ext cx="9793322" cy="686633"/>
            </a:xfrm>
            <a:prstGeom prst="rect">
              <a:avLst/>
            </a:prstGeom>
          </p:spPr>
          <p:txBody>
            <a:bodyPr anchor="t" rtlCol="false" tIns="0" lIns="0" bIns="0" rIns="0"/>
            <a:lstStyle/>
            <a:p>
              <a:pPr algn="l">
                <a:lnSpc>
                  <a:spcPts val="2879"/>
                </a:lnSpc>
              </a:pPr>
              <a:r>
                <a:rPr lang="en-US" sz="2400">
                  <a:solidFill>
                    <a:srgbClr val="1121C6"/>
                  </a:solidFill>
                  <a:latin typeface="Arimo"/>
                  <a:ea typeface="Arimo"/>
                  <a:cs typeface="Arimo"/>
                  <a:sym typeface="Arimo"/>
                </a:rPr>
                <a:t>Creating Global Citizens Rooted with Islamic Values</a:t>
              </a:r>
            </a:p>
          </p:txBody>
        </p:sp>
      </p:grpSp>
      <p:sp>
        <p:nvSpPr>
          <p:cNvPr name="TextBox 9" id="9"/>
          <p:cNvSpPr txBox="true"/>
          <p:nvPr/>
        </p:nvSpPr>
        <p:spPr>
          <a:xfrm rot="0">
            <a:off x="2372362" y="4052413"/>
            <a:ext cx="13543277" cy="2134548"/>
          </a:xfrm>
          <a:prstGeom prst="rect">
            <a:avLst/>
          </a:prstGeom>
        </p:spPr>
        <p:txBody>
          <a:bodyPr anchor="t" rtlCol="false" tIns="0" lIns="0" bIns="0" rIns="0">
            <a:spAutoFit/>
          </a:bodyPr>
          <a:lstStyle/>
          <a:p>
            <a:pPr algn="ctr">
              <a:lnSpc>
                <a:spcPts val="16471"/>
              </a:lnSpc>
              <a:spcBef>
                <a:spcPct val="0"/>
              </a:spcBef>
            </a:pPr>
            <a:r>
              <a:rPr lang="en-US" b="true" sz="13726">
                <a:solidFill>
                  <a:srgbClr val="001C68"/>
                </a:solidFill>
                <a:latin typeface="Arimo Bold"/>
                <a:ea typeface="Arimo Bold"/>
                <a:cs typeface="Arimo Bold"/>
                <a:sym typeface="Arimo Bold"/>
              </a:rPr>
              <a:t>THANK YOU</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1C68"/>
                </a:solidFill>
                <a:latin typeface="Canva Sans"/>
                <a:ea typeface="Canva Sans"/>
                <a:cs typeface="Canva Sans"/>
                <a:sym typeface="Canva Sans"/>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DAGgs-8AsOc</dc:identifier>
  <dcterms:modified xsi:type="dcterms:W3CDTF">2011-08-01T06:04:30Z</dcterms:modified>
  <cp:revision>1</cp:revision>
  <dc:title>IUT_Template.pptx</dc:title>
</cp:coreProperties>
</file>